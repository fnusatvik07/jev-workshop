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is about a genuinely different kind of model. Not a better chatbot: a model that returns decisions instead of text. Everything shown today ran live against the real API; the notebooks in the repo reproduce every number.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hours total. The deck carries concepts; notebooks carry proof. Attendees need Python 3.10+ and a TypeSafe API key from console.typesafe.ai.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story, not the technology. Read the ticket out loud, pause, and ask what their brain just did. Collect two or three answers; they will name routing, urgency, and tone without prompting. Then land the thesis: the workshop is about turning that two-second human read into a programmable, measurable primitive. This ticket returns on later slides, so the room keeps one running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pain before the product. Everyone in the room has written the code on the right. The quote sets up TypeSafe's bet: automation is blocked not by model intelligence but by the interface: text.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model on one slide. Emphasize: questions are independent and parallel, answers come back under your IDs, and the model cannot return a value outside your schema. Impossible-to-parse output is impossible by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vocabulary lesson for the whole class. Kahneman's System 1 is fast pattern recognition, System 2 is slow deliberation. TypeSafe named the category after the former: Jev makes the gut-check judgments, and your code or a reasoning model does the deliberating. The two kinds of model are complements, not competitors: most production systems will use both.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official diagram contrasts the three shapes. The pitch is not anti-agent; it is that unattended, high-volume automation needs the third shape: a normal software workflow that inserts System One only where a judgment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buzz is recent: the company is weeks out of stealth and the 1.14 release landed three days before this workshop. Series A numbers are press-reported, not company-confirmed; flagged as such. The RLHF-co-inventor pedigree matters: the founder helped create the training method he is now arguing against for automation.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credibility slide: show you know both columns. The left column is why we are in this room; the right column is what responsible adoption looks like. The security finding directly motivates the guardrails design in notebook 05: never let Jev alone gate adversarial traffic; combine thresholds, review bands, and testing on real attacks.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assumes nothing. Vocabulary established: parameters/weights/knobs, tokens, gradient descent as 'nudge all knobs to be less wrong', pretraining as next-token prediction, base model as raw material. The dark box is the bridge to the next three slides: RLHF, RLVR, and RLCD are the SAME loop with three different definitions of wrong.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cards slowly; this is the full RLHF mechanism: preference data, reward model, PPO loop. Fun fact for the room: TypeSafe's founder co-invented this recipe (InstructGPT/ChatGPT lineage), which is why his critique of it carries weight. End on the catch: step 3 optimizes for human approval, and approval is not accuracy.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one brisk: the audience has used reasoning models. The point to land is the cost structure: RLVR quality rides on generated thinking tokens, so you pay in both seconds and dollars. That sets up the question RLCD answers: what if the judgment does not need any text at all?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the RLHF slide deliberately: same loop, different definition of wrong. RLHF's judge is human taste; RLVR's judge is a verifier; RLCD's judge is reality plus a proper scoring rule. If someone asks what 'proper scoring rule' means: a payout scheme where your expected reward is maximized by reporting your true belief, like the Brier score; overconfidence is punished quadratically. Then the dark box: no text anywhere in the loop, which is why Jev cannot be a chatbot and does not hallucinate prose; it can still be wrong, but it is honestly wrong, with the uncertainty attached.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RLHF was co-invented by the founder, used for InstructGPT and ChatGPT. RLVR gave us reasoning models. RLCD is the third branch: reinforcement learning for calibrated decisions. The point is not that RLHF is bad; it is that human preference and machine trustworthiness are different optimization targets.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figures come straight from TypeSafe's AI primer. Left: the three post-training branches. Right: mode dropping, the milder cousin of GAN mode collapse; RLHF rewards a style, which suppresses honest spread. If attendees want depth, the primer is a 10-minute read: docs.typesafe.ai/introduction/machine-learning-primer.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slow down on. Calibration is WHY thresholds in the rest of the workshop mean anything. Exercise 3 in notebook 03 shows how to test calibration on your own labeled data.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question IDs are chosen by you and never sent to the model, so instructions must contain the full question. The response model field is the versioned ID that actually answered: log it. Python SDK: pip install typesafe-sdk, then client.system_one(state=..., questions=...) with typed Choice/Score/Noul objects.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 to 255 options per Choice, 2 to 10 levels per Score, Noul criteria optional, Box needs jev-preview plus the images header. No limit on question count per request; the bound is context size.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of the opening story: same ticket, same three judgments, now as an API call. Point at the chips left to right: a Choice for routing, a Score for tone, a Noul for urgency. Then the economics line: at $0.000018 per ticket, nobody will ever ration this. Notebook 01 runs this exact call.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is a real documented response: wrong size AND double charge belongs to two teams, and the split says so. Confidence 0.42 is the model being honest, not failing. Notebook 02 reproduces this live.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Safari bug is the teaching example: a workaround exists for most users but not all, so the model splits 0.57/0.43 and the fractional score ranks it between levels. Python SDK keys score probabilities and legend by 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ladder is recorded jev-1.13.0 output from the docs, reproduced live in notebook 02. The middle band is the design feature: 'Are you a bot?' hints without asking and lands at 0.40; production code sends that band to a person. Threshold placement follows cost of error: raise it when false yes is expensive.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anatomy diagram is from docs.typesafe.ai/images: door.jpg is the state, badge.jpg lives inside a Noul's instructions, thumb.jpg defines a Choice option. References are plain strings matched anywhere in request text, so use UUIDs in production. Jev 1.13 and 1.14 both accept images; Box questions need 1.14.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moment: notebook 02 generates the scene with PIL, calls jev-preview, and draws the returned box. The loose horizontal edges plus 0.24 confidence are the honest-preview story: the model knows when it is unsure, and the docs give three concrete remedies. Edge-check benchmark from the docs: on 36 test crops, per-edge Nouls caught 30 of 36 cut-offs.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image twin of the ticket scenario. Walk the rows as the product behavior they become: no person, so no 3am ping; package at 0.97, so send the delivery notification; door closed, so nothing to flag; Box at 0.85 confidence, so crop the thumbnail. Ask the room: what threshold would YOU demand on 'person at door' before waking someone at 3am? There is no right answer; there is only the cost of a false ping vs a missed visitor. That is next section's topic. Reminder: images need the danger-zone header and jev-preview for Box; notebook 02 has the runnable version.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it as a show of hands per card before revealing the answer line. A and B go fast. C is the one people get wrong (many say Noul: 'is it complete?'); use it to re-land 'Noul is probability of yes, not a dial'. D tests whether the Box-has-no-not-found gotcha stuck. Two minutes, big retention payoff.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distinction for Scores: probability split across ADJACENT levels keeps more confidence than the same split across opposite ends; a Choice treats all options as unordered. Alternatives worth trying: top probability, and top-to-second ratio. Anti-pattern from TypeSafe's own guide: if you only ever take the best option, you do not need a confidence threshold at all.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transferable pattern of the workshop. Notebook 03 runs this router over live utterances including 'approve it I guess? actually wait' which lands in the confirm band exactly as designed.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Poll the room on the three cards first; you will get a spread, which is the point. The reveal is that stakes, not confidence, choose the behavior; confidence only says how sure the model is, never whether that is sure ENOUGH. The second round (check_balance at the same 0.55) cements it: same number, opposite decision, because the downside is trivial.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economics slide told as a morning. The grid-to-lanes picture is the whole architecture: a loop in code, one call per item, lanes decided by thresholds, and the honest 38 that go to a person. Numbers are illustrative but the arithmetic is real and runs in notebook 04. Segue: so what do speed and price actually look like against LLMs? Next slide, the chart.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economics ARE the product. At these prices the question flips from 'can we afford an AI check here' to 'why would we not check'. That reframing drives every pattern in part 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was generated from a real run during preparation. Invite the room to re-run notebook 04 and watch their own numbers land in the same ballpark. If questions do not all fit in context, reuse the same state across a few requests.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Coding agents fall into one-question-per-call more than people do; TypeSafe ships an agent skill that teaches them to batch. The full decision tree resolves from one call.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 04 ranks three resumes under both weight profiles live. When the ranking disagrees with your team's intuition, you adjust a coefficient and rerun: fast, auditable iteration.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run live in notebooks 03 and 04. The combined shape, classify cheaply, gate on confidence, spend money only where deterministic code cannot go, is the canonical production architecture for Jev.</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use-case map at docs.typesafe.ai/concepts/use-case-map has a worked accordion per industry. For this audience: universal verification and harness engineering are the ones adjacent to our agent-platform work, guardrails on every tool call become affordable.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TypeSafe's published numbers, not ours; we reproduced the batching claim ourselves (previous slide) and got the same shape. The re-ranking rows are the strongest third-party-verifiable claims: public dataset, published methodology.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TypeSafe publishes this list themselves and dates the review (last reviewed Oct 2, 2026). Teach the smell test: if code can compute it exactly, the model has nothing to add. Notebook 05 demos counting and the ambiguous-date trap live, including the confidence gate catching 11/05/2026 splitting between May and November.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'coding agents' page exists because people kept asking. Worth repeating the division of labor out loud: deterministic rules in code, judgment in Jev, generation in LLMs. Most production systems will use all three.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one to hand to the platform team. The danger-zone headers (images, long context) are per-request opt-ins, which is a nice API design detail: experimental surface is impossible to enable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Send attendees to the Playground during the break; it is the fastest way to internalize the state-plus-questions model. The agent skill matters for teams: it is how their coding agents stop writing one-question-per-call integrations.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division of labor, then open Q&amp;A. Common first questions: pricing at scale (slide 17), security posture (slide 6 and 24), and when NOT to use it (slide 25).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822960"/>
            <a:ext cx="7315200" cy="365760"/>
          </a:xfrm>
          <a:prstGeom prst="rect">
            <a:avLst/>
          </a:prstGeom>
          <a:noFill/>
        </p:spPr>
        <p:txBody>
          <a:bodyPr wrap="square" anchor="t" lIns="0" rIns="0" tIns="0" bIns="0">
            <a:spAutoFit/>
          </a:bodyPr>
          <a:lstStyle/>
          <a:p>
            <a:pPr algn="l">
              <a:lnSpc>
                <a:spcPct val="100000"/>
              </a:lnSpc>
            </a:pPr>
            <a:r>
              <a:rPr sz="1300" b="1" i="0">
                <a:solidFill>
                  <a:srgbClr val="BD5D3A"/>
                </a:solidFill>
                <a:latin typeface="Helvetica Neue"/>
              </a:rPr>
              <a:t>WORKSHOP  |  OCTOBER 2026</a:t>
            </a:r>
          </a:p>
        </p:txBody>
      </p:sp>
      <p:sp>
        <p:nvSpPr>
          <p:cNvPr id="4" name="TextBox 3"/>
          <p:cNvSpPr txBox="1"/>
          <p:nvPr/>
        </p:nvSpPr>
        <p:spPr>
          <a:xfrm>
            <a:off x="786384" y="1554480"/>
            <a:ext cx="10058400" cy="1645920"/>
          </a:xfrm>
          <a:prstGeom prst="rect">
            <a:avLst/>
          </a:prstGeom>
          <a:noFill/>
        </p:spPr>
        <p:txBody>
          <a:bodyPr wrap="square" anchor="t" lIns="0" rIns="0" tIns="0" bIns="0">
            <a:spAutoFit/>
          </a:bodyPr>
          <a:lstStyle/>
          <a:p>
            <a:pPr algn="l">
              <a:lnSpc>
                <a:spcPct val="100000"/>
              </a:lnSpc>
            </a:pPr>
            <a:r>
              <a:rPr sz="11200" b="0" i="0">
                <a:solidFill>
                  <a:srgbClr val="1F1E1D"/>
                </a:solidFill>
                <a:latin typeface="Georgia"/>
              </a:rPr>
              <a:t>Jev</a:t>
            </a:r>
          </a:p>
        </p:txBody>
      </p:sp>
      <p:sp>
        <p:nvSpPr>
          <p:cNvPr id="5" name="TextBox 4"/>
          <p:cNvSpPr txBox="1"/>
          <p:nvPr/>
        </p:nvSpPr>
        <p:spPr>
          <a:xfrm>
            <a:off x="822960" y="3429000"/>
            <a:ext cx="10058400" cy="640080"/>
          </a:xfrm>
          <a:prstGeom prst="rect">
            <a:avLst/>
          </a:prstGeom>
          <a:noFill/>
        </p:spPr>
        <p:txBody>
          <a:bodyPr wrap="square" anchor="t" lIns="0" rIns="0" tIns="0" bIns="0">
            <a:spAutoFit/>
          </a:bodyPr>
          <a:lstStyle/>
          <a:p>
            <a:pPr algn="l">
              <a:lnSpc>
                <a:spcPct val="100000"/>
              </a:lnSpc>
            </a:pPr>
            <a:r>
              <a:rPr sz="3000" b="0" i="1">
                <a:solidFill>
                  <a:srgbClr val="1F1E1D"/>
                </a:solidFill>
                <a:latin typeface="Georgia"/>
              </a:rPr>
              <a:t>The first System One model</a:t>
            </a:r>
          </a:p>
        </p:txBody>
      </p:sp>
      <p:cxnSp>
        <p:nvCxnSpPr>
          <p:cNvPr id="6" name="Connector 5"/>
          <p:cNvCxnSpPr/>
          <p:nvPr/>
        </p:nvCxnSpPr>
        <p:spPr>
          <a:xfrm>
            <a:off x="841248" y="4343400"/>
            <a:ext cx="4937760" cy="0"/>
          </a:xfrm>
          <a:prstGeom prst="line">
            <a:avLst/>
          </a:prstGeom>
          <a:ln w="31750">
            <a:solidFill>
              <a:srgbClr val="D97757"/>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4572000"/>
            <a:ext cx="8778240" cy="914400"/>
          </a:xfrm>
          <a:prstGeom prst="rect">
            <a:avLst/>
          </a:prstGeom>
          <a:noFill/>
        </p:spPr>
        <p:txBody>
          <a:bodyPr wrap="square" anchor="t" lIns="0" rIns="0" tIns="0" bIns="0">
            <a:spAutoFit/>
          </a:bodyPr>
          <a:lstStyle/>
          <a:p>
            <a:pPr algn="l">
              <a:lnSpc>
                <a:spcPct val="125000"/>
              </a:lnSpc>
            </a:pPr>
            <a:r>
              <a:rPr sz="1600" b="0" i="0">
                <a:solidFill>
                  <a:srgbClr val="5E6B7A"/>
                </a:solidFill>
                <a:latin typeface="Helvetica Neue"/>
              </a:rPr>
              <a:t>Typed questions in, calibrated decisions out: an AI primitive for software, not chat.</a:t>
            </a:r>
          </a:p>
          <a:p>
            <a:pPr algn="l">
              <a:lnSpc>
                <a:spcPct val="125000"/>
              </a:lnSpc>
            </a:pPr>
            <a:r>
              <a:rPr sz="1600" b="0" i="0">
                <a:solidFill>
                  <a:srgbClr val="5E6B7A"/>
                </a:solidFill>
                <a:latin typeface="Helvetica Neue"/>
              </a:rPr>
              <a:t>What it is, how it works, its properties, and how to build with it.</a:t>
            </a:r>
          </a:p>
        </p:txBody>
      </p:sp>
      <p:sp>
        <p:nvSpPr>
          <p:cNvPr id="8" name="TextBox 7"/>
          <p:cNvSpPr txBox="1"/>
          <p:nvPr/>
        </p:nvSpPr>
        <p:spPr>
          <a:xfrm>
            <a:off x="822960" y="6035040"/>
            <a:ext cx="9601200" cy="365760"/>
          </a:xfrm>
          <a:prstGeom prst="rect">
            <a:avLst/>
          </a:prstGeom>
          <a:noFill/>
        </p:spPr>
        <p:txBody>
          <a:bodyPr wrap="square" anchor="t" lIns="0" rIns="0" tIns="0" bIns="0">
            <a:spAutoFit/>
          </a:bodyPr>
          <a:lstStyle/>
          <a:p>
            <a:pPr algn="l">
              <a:lnSpc>
                <a:spcPct val="100000"/>
              </a:lnSpc>
            </a:pPr>
            <a:r>
              <a:rPr sz="1150" b="0" i="1">
                <a:solidFill>
                  <a:srgbClr val="8A8780"/>
                </a:solidFill>
                <a:latin typeface="Helvetica Neue"/>
              </a:rPr>
              <a:t>Every number and code sample in this deck was verified live against api.typesafe.ai while preparing this workshop.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2</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AGENDA</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Five segments, five notebooks</a:t>
            </a:r>
          </a:p>
        </p:txBody>
      </p:sp>
      <p:graphicFrame>
        <p:nvGraphicFramePr>
          <p:cNvPr id="7" name="Table 6"/>
          <p:cNvGraphicFramePr>
            <a:graphicFrameLocks noGrp="1"/>
          </p:cNvGraphicFramePr>
          <p:nvPr/>
        </p:nvGraphicFramePr>
        <p:xfrm>
          <a:off x="502920" y="1600200"/>
          <a:ext cx="11155680" cy="3950208"/>
        </p:xfrm>
        <a:graphic>
          <a:graphicData uri="http://schemas.openxmlformats.org/drawingml/2006/table">
            <a:tbl>
              <a:tblPr>
                <a:tableStyleId>{5C22544A-7EE6-4342-B048-85BDC9FD1C3A}</a:tableStyleId>
              </a:tblPr>
              <a:tblGrid>
                <a:gridCol w="822960"/>
                <a:gridCol w="6949440"/>
                <a:gridCol w="3383280"/>
              </a:tblGrid>
              <a:tr h="658368">
                <a:tc>
                  <a:txBody>
                    <a:bodyPr wrap="square"/>
                    <a:lstStyle/>
                    <a:p>
                      <a:r>
                        <a:rPr sz="1600" b="1">
                          <a:solidFill>
                            <a:srgbClr val="F0EEE6"/>
                          </a:solidFill>
                          <a:latin typeface="Helvetica Neue"/>
                        </a:rPr>
                        <a:t/>
                      </a:r>
                    </a:p>
                  </a:txBody>
                  <a:tcPr marL="73152" marR="73152" marT="27432" marB="27432" anchor="ctr">
                    <a:solidFill>
                      <a:srgbClr val="1F1E1D"/>
                    </a:solidFill>
                  </a:tcPr>
                </a:tc>
                <a:tc>
                  <a:txBody>
                    <a:bodyPr wrap="square"/>
                    <a:lstStyle/>
                    <a:p>
                      <a:r>
                        <a:rPr sz="1600" b="1">
                          <a:solidFill>
                            <a:srgbClr val="F0EEE6"/>
                          </a:solidFill>
                          <a:latin typeface="Helvetica Neue"/>
                        </a:rPr>
                        <a:t>Segment</a:t>
                      </a:r>
                    </a:p>
                  </a:txBody>
                  <a:tcPr marL="73152" marR="73152" marT="27432" marB="27432" anchor="ctr">
                    <a:solidFill>
                      <a:srgbClr val="1F1E1D"/>
                    </a:solidFill>
                  </a:tcPr>
                </a:tc>
                <a:tc>
                  <a:txBody>
                    <a:bodyPr wrap="square"/>
                    <a:lstStyle/>
                    <a:p>
                      <a:r>
                        <a:rPr sz="1600" b="1">
                          <a:solidFill>
                            <a:srgbClr val="F0EEE6"/>
                          </a:solidFill>
                          <a:latin typeface="Helvetica Neue"/>
                        </a:rPr>
                        <a:t>Hands-on companion</a:t>
                      </a:r>
                    </a:p>
                  </a:txBody>
                  <a:tcPr marL="73152" marR="73152" marT="27432" marB="27432" anchor="ctr">
                    <a:solidFill>
                      <a:srgbClr val="1F1E1D"/>
                    </a:solidFill>
                  </a:tcPr>
                </a:tc>
              </a:tr>
              <a:tr h="658368">
                <a:tc>
                  <a:txBody>
                    <a:bodyPr wrap="square"/>
                    <a:lstStyle/>
                    <a:p>
                      <a:r>
                        <a:rPr sz="1600" b="0">
                          <a:solidFill>
                            <a:srgbClr val="1F1E1D"/>
                          </a:solidFill>
                          <a:latin typeface="Helvetica Neue"/>
                        </a:rPr>
                        <a:t>01</a:t>
                      </a:r>
                    </a:p>
                  </a:txBody>
                  <a:tcPr marL="73152" marR="73152" marT="27432" marB="27432" anchor="ctr">
                    <a:solidFill>
                      <a:srgbClr val="FAF9F5"/>
                    </a:solidFill>
                  </a:tcPr>
                </a:tc>
                <a:tc>
                  <a:txBody>
                    <a:bodyPr wrap="square"/>
                    <a:lstStyle/>
                    <a:p>
                      <a:r>
                        <a:rPr sz="1600" b="0">
                          <a:solidFill>
                            <a:srgbClr val="1F1E1D"/>
                          </a:solidFill>
                          <a:latin typeface="Helvetica Neue"/>
                        </a:rPr>
                        <a:t>Why another kind of model, and what Jev is</a:t>
                      </a:r>
                    </a:p>
                  </a:txBody>
                  <a:tcPr marL="73152" marR="73152" marT="27432" marB="27432" anchor="ctr">
                    <a:solidFill>
                      <a:srgbClr val="FAF9F5"/>
                    </a:solidFill>
                  </a:tcPr>
                </a:tc>
                <a:tc>
                  <a:txBody>
                    <a:bodyPr wrap="square"/>
                    <a:lstStyle/>
                    <a:p>
                      <a:r>
                        <a:rPr sz="1600" b="0">
                          <a:solidFill>
                            <a:srgbClr val="1F1E1D"/>
                          </a:solidFill>
                          <a:latin typeface="Helvetica Neue"/>
                        </a:rPr>
                        <a:t>01_hello_jev.ipynb</a:t>
                      </a:r>
                    </a:p>
                  </a:txBody>
                  <a:tcPr marL="73152" marR="73152" marT="27432" marB="27432" anchor="ctr">
                    <a:solidFill>
                      <a:srgbClr val="FAF9F5"/>
                    </a:solidFill>
                  </a:tcPr>
                </a:tc>
              </a:tr>
              <a:tr h="658368">
                <a:tc>
                  <a:txBody>
                    <a:bodyPr wrap="square"/>
                    <a:lstStyle/>
                    <a:p>
                      <a:r>
                        <a:rPr sz="1600" b="0">
                          <a:solidFill>
                            <a:srgbClr val="1F1E1D"/>
                          </a:solidFill>
                          <a:latin typeface="Helvetica Neue"/>
                        </a:rPr>
                        <a:t>02</a:t>
                      </a:r>
                    </a:p>
                  </a:txBody>
                  <a:tcPr marL="73152" marR="73152" marT="27432" marB="27432" anchor="ctr">
                    <a:solidFill>
                      <a:srgbClr val="E9E6DC"/>
                    </a:solidFill>
                  </a:tcPr>
                </a:tc>
                <a:tc>
                  <a:txBody>
                    <a:bodyPr wrap="square"/>
                    <a:lstStyle/>
                    <a:p>
                      <a:r>
                        <a:rPr sz="1600" b="0">
                          <a:solidFill>
                            <a:srgbClr val="1F1E1D"/>
                          </a:solidFill>
                          <a:latin typeface="Helvetica Neue"/>
                        </a:rPr>
                        <a:t>The four primitives: Choice, Score, Noul, Box</a:t>
                      </a:r>
                    </a:p>
                  </a:txBody>
                  <a:tcPr marL="73152" marR="73152" marT="27432" marB="27432" anchor="ctr">
                    <a:solidFill>
                      <a:srgbClr val="E9E6DC"/>
                    </a:solidFill>
                  </a:tcPr>
                </a:tc>
                <a:tc>
                  <a:txBody>
                    <a:bodyPr wrap="square"/>
                    <a:lstStyle/>
                    <a:p>
                      <a:r>
                        <a:rPr sz="1600" b="0">
                          <a:solidFill>
                            <a:srgbClr val="1F1E1D"/>
                          </a:solidFill>
                          <a:latin typeface="Helvetica Neue"/>
                        </a:rPr>
                        <a:t>02_primitives.ipynb</a:t>
                      </a:r>
                    </a:p>
                  </a:txBody>
                  <a:tcPr marL="73152" marR="73152" marT="27432" marB="27432" anchor="ctr">
                    <a:solidFill>
                      <a:srgbClr val="E9E6DC"/>
                    </a:solidFill>
                  </a:tcPr>
                </a:tc>
              </a:tr>
              <a:tr h="658368">
                <a:tc>
                  <a:txBody>
                    <a:bodyPr wrap="square"/>
                    <a:lstStyle/>
                    <a:p>
                      <a:r>
                        <a:rPr sz="1600" b="0">
                          <a:solidFill>
                            <a:srgbClr val="1F1E1D"/>
                          </a:solidFill>
                          <a:latin typeface="Helvetica Neue"/>
                        </a:rPr>
                        <a:t>03</a:t>
                      </a:r>
                    </a:p>
                  </a:txBody>
                  <a:tcPr marL="73152" marR="73152" marT="27432" marB="27432" anchor="ctr">
                    <a:solidFill>
                      <a:srgbClr val="FAF9F5"/>
                    </a:solidFill>
                  </a:tcPr>
                </a:tc>
                <a:tc>
                  <a:txBody>
                    <a:bodyPr wrap="square"/>
                    <a:lstStyle/>
                    <a:p>
                      <a:r>
                        <a:rPr sz="1600" b="0">
                          <a:solidFill>
                            <a:srgbClr val="1F1E1D"/>
                          </a:solidFill>
                          <a:latin typeface="Helvetica Neue"/>
                        </a:rPr>
                        <a:t>Probability vs confidence, routing on uncertainty</a:t>
                      </a:r>
                    </a:p>
                  </a:txBody>
                  <a:tcPr marL="73152" marR="73152" marT="27432" marB="27432" anchor="ctr">
                    <a:solidFill>
                      <a:srgbClr val="FAF9F5"/>
                    </a:solidFill>
                  </a:tcPr>
                </a:tc>
                <a:tc>
                  <a:txBody>
                    <a:bodyPr wrap="square"/>
                    <a:lstStyle/>
                    <a:p>
                      <a:r>
                        <a:rPr sz="1600" b="0">
                          <a:solidFill>
                            <a:srgbClr val="1F1E1D"/>
                          </a:solidFill>
                          <a:latin typeface="Helvetica Neue"/>
                        </a:rPr>
                        <a:t>03_confidence.ipynb</a:t>
                      </a:r>
                    </a:p>
                  </a:txBody>
                  <a:tcPr marL="73152" marR="73152" marT="27432" marB="27432" anchor="ctr">
                    <a:solidFill>
                      <a:srgbClr val="FAF9F5"/>
                    </a:solidFill>
                  </a:tcPr>
                </a:tc>
              </a:tr>
              <a:tr h="658368">
                <a:tc>
                  <a:txBody>
                    <a:bodyPr wrap="square"/>
                    <a:lstStyle/>
                    <a:p>
                      <a:r>
                        <a:rPr sz="1600" b="0">
                          <a:solidFill>
                            <a:srgbClr val="1F1E1D"/>
                          </a:solidFill>
                          <a:latin typeface="Helvetica Neue"/>
                        </a:rPr>
                        <a:t>04</a:t>
                      </a:r>
                    </a:p>
                  </a:txBody>
                  <a:tcPr marL="73152" marR="73152" marT="27432" marB="27432" anchor="ctr">
                    <a:solidFill>
                      <a:srgbClr val="E9E6DC"/>
                    </a:solidFill>
                  </a:tcPr>
                </a:tc>
                <a:tc>
                  <a:txBody>
                    <a:bodyPr wrap="square"/>
                    <a:lstStyle/>
                    <a:p>
                      <a:r>
                        <a:rPr sz="1600" b="0">
                          <a:solidFill>
                            <a:srgbClr val="1F1E1D"/>
                          </a:solidFill>
                          <a:latin typeface="Helvetica Neue"/>
                        </a:rPr>
                        <a:t>Architectural patterns, and the economics, measured</a:t>
                      </a:r>
                    </a:p>
                  </a:txBody>
                  <a:tcPr marL="73152" marR="73152" marT="27432" marB="27432" anchor="ctr">
                    <a:solidFill>
                      <a:srgbClr val="E9E6DC"/>
                    </a:solidFill>
                  </a:tcPr>
                </a:tc>
                <a:tc>
                  <a:txBody>
                    <a:bodyPr wrap="square"/>
                    <a:lstStyle/>
                    <a:p>
                      <a:r>
                        <a:rPr sz="1600" b="0">
                          <a:solidFill>
                            <a:srgbClr val="1F1E1D"/>
                          </a:solidFill>
                          <a:latin typeface="Helvetica Neue"/>
                        </a:rPr>
                        <a:t>04_patterns.ipynb</a:t>
                      </a:r>
                    </a:p>
                  </a:txBody>
                  <a:tcPr marL="73152" marR="73152" marT="27432" marB="27432" anchor="ctr">
                    <a:solidFill>
                      <a:srgbClr val="E9E6DC"/>
                    </a:solidFill>
                  </a:tcPr>
                </a:tc>
              </a:tr>
              <a:tr h="658368">
                <a:tc>
                  <a:txBody>
                    <a:bodyPr wrap="square"/>
                    <a:lstStyle/>
                    <a:p>
                      <a:r>
                        <a:rPr sz="1600" b="0">
                          <a:solidFill>
                            <a:srgbClr val="1F1E1D"/>
                          </a:solidFill>
                          <a:latin typeface="Helvetica Neue"/>
                        </a:rPr>
                        <a:t>05</a:t>
                      </a:r>
                    </a:p>
                  </a:txBody>
                  <a:tcPr marL="73152" marR="73152" marT="27432" marB="27432" anchor="ctr">
                    <a:solidFill>
                      <a:srgbClr val="FAF9F5"/>
                    </a:solidFill>
                  </a:tcPr>
                </a:tc>
                <a:tc>
                  <a:txBody>
                    <a:bodyPr wrap="square"/>
                    <a:lstStyle/>
                    <a:p>
                      <a:r>
                        <a:rPr sz="1600" b="0">
                          <a:solidFill>
                            <a:srgbClr val="1F1E1D"/>
                          </a:solidFill>
                          <a:latin typeface="Helvetica Neue"/>
                        </a:rPr>
                        <a:t>Real builds, sharp edges, properties reference</a:t>
                      </a:r>
                    </a:p>
                  </a:txBody>
                  <a:tcPr marL="73152" marR="73152" marT="27432" marB="27432" anchor="ctr">
                    <a:solidFill>
                      <a:srgbClr val="FAF9F5"/>
                    </a:solidFill>
                  </a:tcPr>
                </a:tc>
                <a:tc>
                  <a:txBody>
                    <a:bodyPr wrap="square"/>
                    <a:lstStyle/>
                    <a:p>
                      <a:r>
                        <a:rPr sz="1600" b="0">
                          <a:solidFill>
                            <a:srgbClr val="1F1E1D"/>
                          </a:solidFill>
                          <a:latin typeface="Helvetica Neue"/>
                        </a:rPr>
                        <a:t>05_real_world.ipynb</a:t>
                      </a:r>
                    </a:p>
                  </a:txBody>
                  <a:tcPr marL="73152" marR="73152" marT="27432" marB="27432" anchor="ctr">
                    <a:solidFill>
                      <a:srgbClr val="FAF9F5"/>
                    </a:solidFill>
                  </a:tcPr>
                </a:tc>
              </a:tr>
            </a:tbl>
          </a:graphicData>
        </a:graphic>
      </p:graphicFrame>
      <p:sp>
        <p:nvSpPr>
          <p:cNvPr id="8" name="TextBox 7"/>
          <p:cNvSpPr txBox="1"/>
          <p:nvPr/>
        </p:nvSpPr>
        <p:spPr>
          <a:xfrm>
            <a:off x="502920" y="5806440"/>
            <a:ext cx="10515600" cy="365760"/>
          </a:xfrm>
          <a:prstGeom prst="rect">
            <a:avLst/>
          </a:prstGeom>
          <a:noFill/>
        </p:spPr>
        <p:txBody>
          <a:bodyPr wrap="square" anchor="t" lIns="0" rIns="0" tIns="0" bIns="0">
            <a:spAutoFit/>
          </a:bodyPr>
          <a:lstStyle/>
          <a:p>
            <a:pPr algn="l">
              <a:lnSpc>
                <a:spcPct val="100000"/>
              </a:lnSpc>
            </a:pPr>
            <a:r>
              <a:rPr sz="1300" b="0" i="1">
                <a:solidFill>
                  <a:srgbClr val="8A8780"/>
                </a:solidFill>
                <a:latin typeface="Helvetica Neue"/>
              </a:rPr>
              <a:t>Format: each segment is slides for the ideas, then a notebook to run the ideas against the live API.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3</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THE STORY WE WILL FOLLOW</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9:04 am. A ticket arrives.</a:t>
            </a:r>
          </a:p>
        </p:txBody>
      </p:sp>
      <p:sp>
        <p:nvSpPr>
          <p:cNvPr id="7" name="Rounded Rectangle 6"/>
          <p:cNvSpPr/>
          <p:nvPr/>
        </p:nvSpPr>
        <p:spPr>
          <a:xfrm>
            <a:off x="502920" y="1600200"/>
            <a:ext cx="6035040" cy="246888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5486400" cy="274320"/>
          </a:xfrm>
          <a:prstGeom prst="rect">
            <a:avLst/>
          </a:prstGeom>
          <a:noFill/>
        </p:spPr>
        <p:txBody>
          <a:bodyPr wrap="square" anchor="t" lIns="0" rIns="0" tIns="0" bIns="0">
            <a:spAutoFit/>
          </a:bodyPr>
          <a:lstStyle/>
          <a:p>
            <a:pPr algn="l">
              <a:lnSpc>
                <a:spcPct val="100000"/>
              </a:lnSpc>
            </a:pPr>
            <a:r>
              <a:rPr sz="1100" b="0" i="0">
                <a:solidFill>
                  <a:srgbClr val="8A8780"/>
                </a:solidFill>
                <a:latin typeface="Helvetica Neue"/>
              </a:rPr>
              <a:t>support@yourcompany  |  ticket #18,402</a:t>
            </a:r>
          </a:p>
        </p:txBody>
      </p:sp>
      <p:sp>
        <p:nvSpPr>
          <p:cNvPr id="9" name="TextBox 8"/>
          <p:cNvSpPr txBox="1"/>
          <p:nvPr/>
        </p:nvSpPr>
        <p:spPr>
          <a:xfrm>
            <a:off x="777240" y="2148840"/>
            <a:ext cx="5486400" cy="1737360"/>
          </a:xfrm>
          <a:prstGeom prst="rect">
            <a:avLst/>
          </a:prstGeom>
          <a:noFill/>
        </p:spPr>
        <p:txBody>
          <a:bodyPr wrap="square" anchor="t" lIns="0" rIns="0" tIns="0" bIns="0">
            <a:spAutoFit/>
          </a:bodyPr>
          <a:lstStyle/>
          <a:p>
            <a:pPr algn="l">
              <a:lnSpc>
                <a:spcPct val="130000"/>
              </a:lnSpc>
            </a:pPr>
            <a:r>
              <a:rPr sz="1650" b="0" i="1">
                <a:solidFill>
                  <a:srgbClr val="1F1E1D"/>
                </a:solidFill>
                <a:latin typeface="Georgia"/>
              </a:rPr>
              <a:t>“Our API integration started returning 500 errors on every request about 20 minutes ago, and we can't process any customer orders until this is fixed.”</a:t>
            </a:r>
          </a:p>
        </p:txBody>
      </p:sp>
      <p:sp>
        <p:nvSpPr>
          <p:cNvPr id="10" name="TextBox 9"/>
          <p:cNvSpPr txBox="1"/>
          <p:nvPr/>
        </p:nvSpPr>
        <p:spPr>
          <a:xfrm>
            <a:off x="6858000" y="1691640"/>
            <a:ext cx="4846320" cy="640080"/>
          </a:xfrm>
          <a:prstGeom prst="rect">
            <a:avLst/>
          </a:prstGeom>
          <a:noFill/>
        </p:spPr>
        <p:txBody>
          <a:bodyPr wrap="square" anchor="t" lIns="0" rIns="0" tIns="0" bIns="0">
            <a:spAutoFit/>
          </a:bodyPr>
          <a:lstStyle/>
          <a:p>
            <a:pPr algn="l">
              <a:lnSpc>
                <a:spcPct val="120000"/>
              </a:lnSpc>
            </a:pPr>
            <a:r>
              <a:rPr sz="1450" b="0" i="0">
                <a:solidFill>
                  <a:srgbClr val="1F1E1D"/>
                </a:solidFill>
                <a:latin typeface="Helvetica Neue"/>
              </a:rPr>
              <a:t>A good support lead reads this and, in about two seconds, knows three things:</a:t>
            </a:r>
          </a:p>
        </p:txBody>
      </p:sp>
      <p:sp>
        <p:nvSpPr>
          <p:cNvPr id="11" name="Rounded Rectangle 10"/>
          <p:cNvSpPr/>
          <p:nvPr/>
        </p:nvSpPr>
        <p:spPr>
          <a:xfrm>
            <a:off x="6858000" y="2377440"/>
            <a:ext cx="1600200" cy="310896"/>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0EEE6"/>
                </a:solidFill>
                <a:latin typeface="Helvetica Neue"/>
              </a:rPr>
              <a:t>Which team?</a:t>
            </a:r>
          </a:p>
        </p:txBody>
      </p:sp>
      <p:sp>
        <p:nvSpPr>
          <p:cNvPr id="12" name="TextBox 11"/>
          <p:cNvSpPr txBox="1"/>
          <p:nvPr/>
        </p:nvSpPr>
        <p:spPr>
          <a:xfrm>
            <a:off x="8641080" y="2404872"/>
            <a:ext cx="3017520" cy="320040"/>
          </a:xfrm>
          <a:prstGeom prst="rect">
            <a:avLst/>
          </a:prstGeom>
          <a:noFill/>
        </p:spPr>
        <p:txBody>
          <a:bodyPr wrap="square" anchor="t" lIns="0" rIns="0" tIns="0" bIns="0">
            <a:spAutoFit/>
          </a:bodyPr>
          <a:lstStyle/>
          <a:p>
            <a:pPr algn="l">
              <a:lnSpc>
                <a:spcPct val="100000"/>
              </a:lnSpc>
            </a:pPr>
            <a:r>
              <a:rPr sz="1300" b="0" i="1">
                <a:solidFill>
                  <a:srgbClr val="5E6B7A"/>
                </a:solidFill>
                <a:latin typeface="Helvetica Neue"/>
              </a:rPr>
              <a:t>technical, obviously</a:t>
            </a:r>
          </a:p>
        </p:txBody>
      </p:sp>
      <p:sp>
        <p:nvSpPr>
          <p:cNvPr id="13" name="Rounded Rectangle 12"/>
          <p:cNvSpPr/>
          <p:nvPr/>
        </p:nvSpPr>
        <p:spPr>
          <a:xfrm>
            <a:off x="6858000" y="2944368"/>
            <a:ext cx="1600200" cy="310896"/>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0EEE6"/>
                </a:solidFill>
                <a:latin typeface="Helvetica Neue"/>
              </a:rPr>
              <a:t>How urgent?</a:t>
            </a:r>
          </a:p>
        </p:txBody>
      </p:sp>
      <p:sp>
        <p:nvSpPr>
          <p:cNvPr id="14" name="TextBox 13"/>
          <p:cNvSpPr txBox="1"/>
          <p:nvPr/>
        </p:nvSpPr>
        <p:spPr>
          <a:xfrm>
            <a:off x="8641080" y="2971800"/>
            <a:ext cx="3017520" cy="320040"/>
          </a:xfrm>
          <a:prstGeom prst="rect">
            <a:avLst/>
          </a:prstGeom>
          <a:noFill/>
        </p:spPr>
        <p:txBody>
          <a:bodyPr wrap="square" anchor="t" lIns="0" rIns="0" tIns="0" bIns="0">
            <a:spAutoFit/>
          </a:bodyPr>
          <a:lstStyle/>
          <a:p>
            <a:pPr algn="l">
              <a:lnSpc>
                <a:spcPct val="100000"/>
              </a:lnSpc>
            </a:pPr>
            <a:r>
              <a:rPr sz="1300" b="0" i="1">
                <a:solidFill>
                  <a:srgbClr val="5E6B7A"/>
                </a:solidFill>
                <a:latin typeface="Helvetica Neue"/>
              </a:rPr>
              <a:t>very: revenue is stopped</a:t>
            </a:r>
          </a:p>
        </p:txBody>
      </p:sp>
      <p:sp>
        <p:nvSpPr>
          <p:cNvPr id="15" name="Rounded Rectangle 14"/>
          <p:cNvSpPr/>
          <p:nvPr/>
        </p:nvSpPr>
        <p:spPr>
          <a:xfrm>
            <a:off x="6858000" y="3511296"/>
            <a:ext cx="1600200" cy="310896"/>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0EEE6"/>
                </a:solidFill>
                <a:latin typeface="Helvetica Neue"/>
              </a:rPr>
              <a:t>How angry?</a:t>
            </a:r>
          </a:p>
        </p:txBody>
      </p:sp>
      <p:sp>
        <p:nvSpPr>
          <p:cNvPr id="16" name="TextBox 15"/>
          <p:cNvSpPr txBox="1"/>
          <p:nvPr/>
        </p:nvSpPr>
        <p:spPr>
          <a:xfrm>
            <a:off x="8641080" y="3538727"/>
            <a:ext cx="3017520" cy="320040"/>
          </a:xfrm>
          <a:prstGeom prst="rect">
            <a:avLst/>
          </a:prstGeom>
          <a:noFill/>
        </p:spPr>
        <p:txBody>
          <a:bodyPr wrap="square" anchor="t" lIns="0" rIns="0" tIns="0" bIns="0">
            <a:spAutoFit/>
          </a:bodyPr>
          <a:lstStyle/>
          <a:p>
            <a:pPr algn="l">
              <a:lnSpc>
                <a:spcPct val="100000"/>
              </a:lnSpc>
            </a:pPr>
            <a:r>
              <a:rPr sz="1300" b="0" i="1">
                <a:solidFill>
                  <a:srgbClr val="5E6B7A"/>
                </a:solidFill>
                <a:latin typeface="Helvetica Neue"/>
              </a:rPr>
              <a:t>tense, still civil</a:t>
            </a:r>
          </a:p>
        </p:txBody>
      </p:sp>
      <p:sp>
        <p:nvSpPr>
          <p:cNvPr id="17" name="TextBox 16"/>
          <p:cNvSpPr txBox="1"/>
          <p:nvPr/>
        </p:nvSpPr>
        <p:spPr>
          <a:xfrm>
            <a:off x="502920" y="4434840"/>
            <a:ext cx="11155680" cy="1005840"/>
          </a:xfrm>
          <a:prstGeom prst="rect">
            <a:avLst/>
          </a:prstGeom>
          <a:noFill/>
        </p:spPr>
        <p:txBody>
          <a:bodyPr wrap="square" anchor="t" lIns="0" rIns="0" tIns="0" bIns="0">
            <a:spAutoFit/>
          </a:bodyPr>
          <a:lstStyle/>
          <a:p>
            <a:pPr algn="l">
              <a:lnSpc>
                <a:spcPct val="125000"/>
              </a:lnSpc>
            </a:pPr>
            <a:r>
              <a:rPr sz="1550" b="1" i="0">
                <a:solidFill>
                  <a:srgbClr val="1F1E1D"/>
                </a:solidFill>
                <a:latin typeface="Helvetica Neue"/>
              </a:rPr>
              <a:t>No deliberation happened. </a:t>
            </a:r>
            <a:r>
              <a:rPr sz="1550" b="0" i="0">
                <a:solidFill>
                  <a:srgbClr val="1F1E1D"/>
                </a:solidFill>
                <a:latin typeface="Helvetica Neue"/>
              </a:rPr>
              <a:t>Nobody multiplied anything or wrote a paragraph. That instant, effortless read is what psychologists call System 1 thinking, and it is exactly the reflex your software lacks. Today's question: how do we give code that reflex, with an honest measure of how sure it is?</a:t>
            </a:r>
          </a:p>
        </p:txBody>
      </p:sp>
      <p:sp>
        <p:nvSpPr>
          <p:cNvPr id="18" name="TextBox 17"/>
          <p:cNvSpPr txBox="1"/>
          <p:nvPr/>
        </p:nvSpPr>
        <p:spPr>
          <a:xfrm>
            <a:off x="502920" y="5623560"/>
            <a:ext cx="11155680" cy="548640"/>
          </a:xfrm>
          <a:prstGeom prst="rect">
            <a:avLst/>
          </a:prstGeom>
          <a:noFill/>
        </p:spPr>
        <p:txBody>
          <a:bodyPr wrap="square" anchor="t" lIns="0" rIns="0" tIns="0" bIns="0">
            <a:spAutoFit/>
          </a:bodyPr>
          <a:lstStyle/>
          <a:p>
            <a:pPr algn="l">
              <a:lnSpc>
                <a:spcPct val="100000"/>
              </a:lnSpc>
            </a:pPr>
            <a:r>
              <a:rPr sz="1300" b="0" i="1">
                <a:solidFill>
                  <a:srgbClr val="BD5D3A"/>
                </a:solidFill>
                <a:latin typeface="Helvetica Neue"/>
              </a:rPr>
              <a:t>Ask the room: what did your own brain do in the two seconds after reading the ticket? That introspection IS the API we are about to learn.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4</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1  |  WHY</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LLMs produce text for people. Your code needs decisions.</a:t>
            </a:r>
          </a:p>
        </p:txBody>
      </p:sp>
      <p:sp>
        <p:nvSpPr>
          <p:cNvPr id="7" name="TextBox 6"/>
          <p:cNvSpPr txBox="1"/>
          <p:nvPr/>
        </p:nvSpPr>
        <p:spPr>
          <a:xfrm>
            <a:off x="502920" y="1645920"/>
            <a:ext cx="5852160" cy="5486400"/>
          </a:xfrm>
          <a:prstGeom prst="rect">
            <a:avLst/>
          </a:prstGeom>
          <a:noFill/>
        </p:spPr>
        <p:txBody>
          <a:bodyPr wrap="square" anchor="t" lIns="0" rIns="0" tIns="0" bIns="0">
            <a:spAutoFit/>
          </a:bodyPr>
          <a:lstStyle/>
          <a:p>
            <a:pPr algn="l">
              <a:lnSpc>
                <a:spcPct val="108000"/>
              </a:lnSpc>
              <a:spcAft>
                <a:spcPts val="1400"/>
              </a:spcAft>
            </a:pPr>
            <a:r>
              <a:rPr sz="1650" b="1" i="0">
                <a:solidFill>
                  <a:srgbClr val="D97757"/>
                </a:solidFill>
                <a:latin typeface="Helvetica Neue"/>
              </a:rPr>
              <a:t>–  </a:t>
            </a:r>
            <a:r>
              <a:rPr sz="1650" b="1" i="0">
                <a:solidFill>
                  <a:srgbClr val="1F1E1D"/>
                </a:solidFill>
                <a:latin typeface="Helvetica Neue"/>
              </a:rPr>
              <a:t>The mismatch. </a:t>
            </a:r>
            <a:r>
              <a:rPr sz="1650" b="0" i="0">
                <a:solidFill>
                  <a:srgbClr val="1F1E1D"/>
                </a:solidFill>
                <a:latin typeface="Helvetica Neue"/>
              </a:rPr>
              <a:t>LLMs are trained to write prose a person likes reading. Software needs a value it can branch on: a category, a score, a boolean.</a:t>
            </a:r>
          </a:p>
          <a:p>
            <a:pPr algn="l">
              <a:lnSpc>
                <a:spcPct val="108000"/>
              </a:lnSpc>
              <a:spcAft>
                <a:spcPts val="1400"/>
              </a:spcAft>
            </a:pPr>
            <a:r>
              <a:rPr sz="1650" b="1" i="0">
                <a:solidFill>
                  <a:srgbClr val="D97757"/>
                </a:solidFill>
                <a:latin typeface="Helvetica Neue"/>
              </a:rPr>
              <a:t>–  </a:t>
            </a:r>
            <a:r>
              <a:rPr sz="1650" b="1" i="0">
                <a:solidFill>
                  <a:srgbClr val="1F1E1D"/>
                </a:solidFill>
                <a:latin typeface="Helvetica Neue"/>
              </a:rPr>
              <a:t>The workaround we all ship. </a:t>
            </a:r>
            <a:r>
              <a:rPr sz="1650" b="0" i="0">
                <a:solidFill>
                  <a:srgbClr val="1F1E1D"/>
                </a:solidFill>
                <a:latin typeface="Helvetica Neue"/>
              </a:rPr>
              <a:t>Prompt a text generator to "respond ONLY with JSON", then parse, validate, retry, and hope the schema holds under load.</a:t>
            </a:r>
          </a:p>
          <a:p>
            <a:pPr algn="l">
              <a:lnSpc>
                <a:spcPct val="108000"/>
              </a:lnSpc>
              <a:spcAft>
                <a:spcPts val="1400"/>
              </a:spcAft>
            </a:pPr>
            <a:r>
              <a:rPr sz="1650" b="1" i="0">
                <a:solidFill>
                  <a:srgbClr val="D97757"/>
                </a:solidFill>
                <a:latin typeface="Helvetica Neue"/>
              </a:rPr>
              <a:t>–  </a:t>
            </a:r>
            <a:r>
              <a:rPr sz="1650" b="1" i="0">
                <a:solidFill>
                  <a:srgbClr val="1F1E1D"/>
                </a:solidFill>
                <a:latin typeface="Helvetica Neue"/>
              </a:rPr>
              <a:t>The tax. </a:t>
            </a:r>
            <a:r>
              <a:rPr sz="1650" b="0" i="0">
                <a:solidFill>
                  <a:srgbClr val="1F1E1D"/>
                </a:solidFill>
                <a:latin typeface="Helvetica Neue"/>
              </a:rPr>
              <a:t>Seconds of latency and dollars per thousand calls, for what is often a one-word judgment.</a:t>
            </a:r>
          </a:p>
          <a:p>
            <a:pPr algn="l">
              <a:lnSpc>
                <a:spcPct val="108000"/>
              </a:lnSpc>
              <a:spcAft>
                <a:spcPts val="1400"/>
              </a:spcAft>
            </a:pPr>
            <a:r>
              <a:rPr sz="1650" b="1" i="0">
                <a:solidFill>
                  <a:srgbClr val="D97757"/>
                </a:solidFill>
                <a:latin typeface="Helvetica Neue"/>
              </a:rPr>
              <a:t>–  </a:t>
            </a:r>
            <a:r>
              <a:rPr sz="1650" b="1" i="0">
                <a:solidFill>
                  <a:srgbClr val="1F1E1D"/>
                </a:solidFill>
                <a:latin typeface="Helvetica Neue"/>
              </a:rPr>
              <a:t>The risk. </a:t>
            </a:r>
            <a:r>
              <a:rPr sz="1650" b="0" i="0">
                <a:solidFill>
                  <a:srgbClr val="1F1E1D"/>
                </a:solidFill>
                <a:latin typeface="Helvetica Neue"/>
              </a:rPr>
              <a:t>Confident-sounding text is not a measure of certainty. There is no principled number to threshold on.</a:t>
            </a:r>
          </a:p>
        </p:txBody>
      </p:sp>
      <p:sp>
        <p:nvSpPr>
          <p:cNvPr id="8" name="Rounded Rectangle 7"/>
          <p:cNvSpPr/>
          <p:nvPr/>
        </p:nvSpPr>
        <p:spPr>
          <a:xfrm>
            <a:off x="6675120" y="1691640"/>
            <a:ext cx="5029200" cy="2926080"/>
          </a:xfrm>
          <a:prstGeom prst="roundRect">
            <a:avLst>
              <a:gd name="adj" fmla="val 5500"/>
            </a:avLst>
          </a:prstGeom>
          <a:solidFill>
            <a:srgbClr val="2A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1801368"/>
            <a:ext cx="4626864" cy="256032"/>
          </a:xfrm>
          <a:prstGeom prst="rect">
            <a:avLst/>
          </a:prstGeom>
          <a:noFill/>
        </p:spPr>
        <p:txBody>
          <a:bodyPr wrap="square" anchor="t" lIns="0" rIns="0" tIns="0" bIns="0">
            <a:spAutoFit/>
          </a:bodyPr>
          <a:lstStyle/>
          <a:p>
            <a:pPr algn="l">
              <a:lnSpc>
                <a:spcPct val="100000"/>
              </a:lnSpc>
            </a:pPr>
            <a:r>
              <a:rPr sz="1050" b="0" i="0">
                <a:solidFill>
                  <a:srgbClr val="8A8780"/>
                </a:solidFill>
                <a:latin typeface="Menlo"/>
              </a:rPr>
              <a:t>the parse-and-hope pattern</a:t>
            </a:r>
          </a:p>
        </p:txBody>
      </p:sp>
      <p:sp>
        <p:nvSpPr>
          <p:cNvPr id="10" name="TextBox 9"/>
          <p:cNvSpPr txBox="1"/>
          <p:nvPr/>
        </p:nvSpPr>
        <p:spPr>
          <a:xfrm>
            <a:off x="6876288" y="2093976"/>
            <a:ext cx="4626864" cy="2322576"/>
          </a:xfrm>
          <a:prstGeom prst="rect">
            <a:avLst/>
          </a:prstGeom>
          <a:noFill/>
        </p:spPr>
        <p:txBody>
          <a:bodyPr wrap="square" anchor="t" lIns="0" rIns="0" tIns="0" bIns="0">
            <a:spAutoFit/>
          </a:bodyPr>
          <a:lstStyle/>
          <a:p>
            <a:pPr algn="l">
              <a:lnSpc>
                <a:spcPct val="112000"/>
              </a:lnSpc>
            </a:pPr>
            <a:r>
              <a:rPr sz="1250" b="0" i="0">
                <a:solidFill>
                  <a:srgbClr val="EDEAE3"/>
                </a:solidFill>
                <a:latin typeface="Menlo"/>
              </a:rPr>
              <a:t>prompt = """Classify this ticket.</a:t>
            </a:r>
          </a:p>
          <a:p>
            <a:pPr algn="l">
              <a:lnSpc>
                <a:spcPct val="112000"/>
              </a:lnSpc>
            </a:pPr>
            <a:r>
              <a:rPr sz="1250" b="0" i="0">
                <a:solidFill>
                  <a:srgbClr val="EDEAE3"/>
                </a:solidFill>
                <a:latin typeface="Menlo"/>
              </a:rPr>
              <a:t>Respond ONLY with valid JSON:</a:t>
            </a:r>
          </a:p>
          <a:p>
            <a:pPr algn="l">
              <a:lnSpc>
                <a:spcPct val="112000"/>
              </a:lnSpc>
            </a:pPr>
            <a:r>
              <a:rPr sz="1250" b="0" i="0">
                <a:solidFill>
                  <a:srgbClr val="EDEAE3"/>
                </a:solidFill>
                <a:latin typeface="Menlo"/>
              </a:rPr>
              <a:t>{"team": ..., "urgent": ...}"""</a:t>
            </a:r>
          </a:p>
          <a:p>
            <a:pPr algn="l">
              <a:lnSpc>
                <a:spcPct val="112000"/>
              </a:lnSpc>
            </a:pPr>
            <a:r>
              <a:rPr sz="1250" b="0" i="0">
                <a:solidFill>
                  <a:srgbClr val="EDEAE3"/>
                </a:solidFill>
                <a:latin typeface="Menlo"/>
              </a:rPr>
              <a:t/>
            </a:r>
          </a:p>
          <a:p>
            <a:pPr algn="l">
              <a:lnSpc>
                <a:spcPct val="112000"/>
              </a:lnSpc>
            </a:pPr>
            <a:r>
              <a:rPr sz="1250" b="0" i="0">
                <a:solidFill>
                  <a:srgbClr val="EDEAE3"/>
                </a:solidFill>
                <a:latin typeface="Menlo"/>
              </a:rPr>
              <a:t>reply = llm(prompt + ticket)      # 2-8 s</a:t>
            </a:r>
          </a:p>
          <a:p>
            <a:pPr algn="l">
              <a:lnSpc>
                <a:spcPct val="112000"/>
              </a:lnSpc>
            </a:pPr>
            <a:r>
              <a:rPr sz="1250" b="0" i="0">
                <a:solidFill>
                  <a:srgbClr val="EDEAE3"/>
                </a:solidFill>
                <a:latin typeface="Menlo"/>
              </a:rPr>
              <a:t>data = json.loads(reply)          # pray</a:t>
            </a:r>
          </a:p>
          <a:p>
            <a:pPr algn="l">
              <a:lnSpc>
                <a:spcPct val="112000"/>
              </a:lnSpc>
            </a:pPr>
            <a:r>
              <a:rPr sz="1250" b="0" i="0">
                <a:solidFill>
                  <a:srgbClr val="EDEAE3"/>
                </a:solidFill>
                <a:latin typeface="Menlo"/>
              </a:rPr>
              <a:t>team = data.get("team")           # maybe?</a:t>
            </a:r>
          </a:p>
          <a:p>
            <a:pPr algn="l">
              <a:lnSpc>
                <a:spcPct val="112000"/>
              </a:lnSpc>
            </a:pPr>
            <a:r>
              <a:rPr sz="1250" b="0" i="0">
                <a:solidFill>
                  <a:srgbClr val="EDEAE3"/>
                </a:solidFill>
                <a:latin typeface="Menlo"/>
              </a:rPr>
              <a:t># retries, regex repair, schema drift...</a:t>
            </a:r>
          </a:p>
        </p:txBody>
      </p:sp>
      <p:sp>
        <p:nvSpPr>
          <p:cNvPr id="11" name="TextBox 10"/>
          <p:cNvSpPr txBox="1"/>
          <p:nvPr/>
        </p:nvSpPr>
        <p:spPr>
          <a:xfrm>
            <a:off x="6675120" y="4983480"/>
            <a:ext cx="5029200" cy="731520"/>
          </a:xfrm>
          <a:prstGeom prst="rect">
            <a:avLst/>
          </a:prstGeom>
          <a:noFill/>
        </p:spPr>
        <p:txBody>
          <a:bodyPr wrap="square" anchor="t" lIns="0" rIns="0" tIns="0" bIns="0">
            <a:spAutoFit/>
          </a:bodyPr>
          <a:lstStyle/>
          <a:p>
            <a:pPr algn="l">
              <a:lnSpc>
                <a:spcPct val="100000"/>
              </a:lnSpc>
            </a:pPr>
            <a:r>
              <a:rPr sz="1500" b="0" i="1">
                <a:solidFill>
                  <a:srgbClr val="BD5D3A"/>
                </a:solidFill>
                <a:latin typeface="Georgia"/>
              </a:rPr>
              <a:t>“Models have been superhuman at chat for years, so where is all the automation?”</a:t>
            </a:r>
          </a:p>
        </p:txBody>
      </p:sp>
      <p:sp>
        <p:nvSpPr>
          <p:cNvPr id="12" name="TextBox 11"/>
          <p:cNvSpPr txBox="1"/>
          <p:nvPr/>
        </p:nvSpPr>
        <p:spPr>
          <a:xfrm>
            <a:off x="6675120" y="5760720"/>
            <a:ext cx="5029200" cy="274320"/>
          </a:xfrm>
          <a:prstGeom prst="rect">
            <a:avLst/>
          </a:prstGeom>
          <a:noFill/>
        </p:spPr>
        <p:txBody>
          <a:bodyPr wrap="square" anchor="t" lIns="0" rIns="0" tIns="0" bIns="0">
            <a:spAutoFit/>
          </a:bodyPr>
          <a:lstStyle/>
          <a:p>
            <a:pPr algn="l">
              <a:lnSpc>
                <a:spcPct val="100000"/>
              </a:lnSpc>
            </a:pPr>
            <a:r>
              <a:rPr sz="1100" b="0" i="0">
                <a:solidFill>
                  <a:srgbClr val="8A8780"/>
                </a:solidFill>
                <a:latin typeface="Helvetica Neue"/>
              </a:rPr>
              <a:t>Diogo Almeida, TypeSafe AI founder (launch post, Sept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5</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1  |  WHAT</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Jev: typed questions in, calibrated decisions out</a:t>
            </a:r>
          </a:p>
        </p:txBody>
      </p:sp>
      <p:sp>
        <p:nvSpPr>
          <p:cNvPr id="7" name="Rounded Rectangle 6"/>
          <p:cNvSpPr/>
          <p:nvPr/>
        </p:nvSpPr>
        <p:spPr>
          <a:xfrm>
            <a:off x="502920" y="1600200"/>
            <a:ext cx="2834640" cy="13716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709928"/>
            <a:ext cx="2505456" cy="320040"/>
          </a:xfrm>
          <a:prstGeom prst="rect">
            <a:avLst/>
          </a:prstGeom>
          <a:noFill/>
        </p:spPr>
        <p:txBody>
          <a:bodyPr wrap="square" anchor="t" lIns="0" rIns="0" tIns="0" bIns="0">
            <a:spAutoFit/>
          </a:bodyPr>
          <a:lstStyle/>
          <a:p>
            <a:pPr algn="l">
              <a:lnSpc>
                <a:spcPct val="100000"/>
              </a:lnSpc>
            </a:pPr>
            <a:r>
              <a:rPr sz="1450" b="1" i="0">
                <a:solidFill>
                  <a:srgbClr val="1F1E1D"/>
                </a:solidFill>
                <a:latin typeface="Helvetica Neue"/>
              </a:rPr>
              <a:t>state</a:t>
            </a:r>
          </a:p>
        </p:txBody>
      </p:sp>
      <p:sp>
        <p:nvSpPr>
          <p:cNvPr id="9" name="TextBox 8"/>
          <p:cNvSpPr txBox="1"/>
          <p:nvPr/>
        </p:nvSpPr>
        <p:spPr>
          <a:xfrm>
            <a:off x="667512" y="2075688"/>
            <a:ext cx="2505456" cy="822960"/>
          </a:xfrm>
          <a:prstGeom prst="rect">
            <a:avLst/>
          </a:prstGeom>
          <a:noFill/>
        </p:spPr>
        <p:txBody>
          <a:bodyPr wrap="square" anchor="t" lIns="0" rIns="0" tIns="0" bIns="0">
            <a:spAutoFit/>
          </a:bodyPr>
          <a:lstStyle/>
          <a:p>
            <a:pPr algn="l">
              <a:lnSpc>
                <a:spcPct val="112000"/>
              </a:lnSpc>
            </a:pPr>
            <a:r>
              <a:rPr sz="1150" b="0" i="0">
                <a:solidFill>
                  <a:srgbClr val="5E6B7A"/>
                </a:solidFill>
                <a:latin typeface="Helvetica Neue"/>
              </a:rPr>
              <a:t>your data: a string or any</a:t>
            </a:r>
          </a:p>
          <a:p>
            <a:pPr algn="l">
              <a:lnSpc>
                <a:spcPct val="112000"/>
              </a:lnSpc>
            </a:pPr>
            <a:r>
              <a:rPr sz="1150" b="0" i="0">
                <a:solidFill>
                  <a:srgbClr val="5E6B7A"/>
                </a:solidFill>
                <a:latin typeface="Helvetica Neue"/>
              </a:rPr>
              <a:t>JSON structure (ticket,</a:t>
            </a:r>
          </a:p>
          <a:p>
            <a:pPr algn="l">
              <a:lnSpc>
                <a:spcPct val="112000"/>
              </a:lnSpc>
            </a:pPr>
            <a:r>
              <a:rPr sz="1150" b="0" i="0">
                <a:solidFill>
                  <a:srgbClr val="5E6B7A"/>
                </a:solidFill>
                <a:latin typeface="Helvetica Neue"/>
              </a:rPr>
              <a:t>record, transcript, policy)</a:t>
            </a:r>
          </a:p>
        </p:txBody>
      </p:sp>
      <p:sp>
        <p:nvSpPr>
          <p:cNvPr id="10" name="Rounded Rectangle 9"/>
          <p:cNvSpPr/>
          <p:nvPr/>
        </p:nvSpPr>
        <p:spPr>
          <a:xfrm>
            <a:off x="502920" y="3154680"/>
            <a:ext cx="2834640" cy="13716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264408"/>
            <a:ext cx="2505456" cy="320040"/>
          </a:xfrm>
          <a:prstGeom prst="rect">
            <a:avLst/>
          </a:prstGeom>
          <a:noFill/>
        </p:spPr>
        <p:txBody>
          <a:bodyPr wrap="square" anchor="t" lIns="0" rIns="0" tIns="0" bIns="0">
            <a:spAutoFit/>
          </a:bodyPr>
          <a:lstStyle/>
          <a:p>
            <a:pPr algn="l">
              <a:lnSpc>
                <a:spcPct val="100000"/>
              </a:lnSpc>
            </a:pPr>
            <a:r>
              <a:rPr sz="1450" b="1" i="0">
                <a:solidFill>
                  <a:srgbClr val="1F1E1D"/>
                </a:solidFill>
                <a:latin typeface="Helvetica Neue"/>
              </a:rPr>
              <a:t>questions</a:t>
            </a:r>
          </a:p>
        </p:txBody>
      </p:sp>
      <p:sp>
        <p:nvSpPr>
          <p:cNvPr id="12" name="TextBox 11"/>
          <p:cNvSpPr txBox="1"/>
          <p:nvPr/>
        </p:nvSpPr>
        <p:spPr>
          <a:xfrm>
            <a:off x="667512" y="3630168"/>
            <a:ext cx="2505456" cy="822960"/>
          </a:xfrm>
          <a:prstGeom prst="rect">
            <a:avLst/>
          </a:prstGeom>
          <a:noFill/>
        </p:spPr>
        <p:txBody>
          <a:bodyPr wrap="square" anchor="t" lIns="0" rIns="0" tIns="0" bIns="0">
            <a:spAutoFit/>
          </a:bodyPr>
          <a:lstStyle/>
          <a:p>
            <a:pPr algn="l">
              <a:lnSpc>
                <a:spcPct val="112000"/>
              </a:lnSpc>
            </a:pPr>
            <a:r>
              <a:rPr sz="1150" b="0" i="0">
                <a:solidFill>
                  <a:srgbClr val="5E6B7A"/>
                </a:solidFill>
                <a:latin typeface="Helvetica Neue"/>
              </a:rPr>
              <a:t>typed: Choice, Score,</a:t>
            </a:r>
          </a:p>
          <a:p>
            <a:pPr algn="l">
              <a:lnSpc>
                <a:spcPct val="112000"/>
              </a:lnSpc>
            </a:pPr>
            <a:r>
              <a:rPr sz="1150" b="0" i="0">
                <a:solidFill>
                  <a:srgbClr val="5E6B7A"/>
                </a:solidFill>
                <a:latin typeface="Helvetica Neue"/>
              </a:rPr>
              <a:t>Noul, Box. You define</a:t>
            </a:r>
          </a:p>
          <a:p>
            <a:pPr algn="l">
              <a:lnSpc>
                <a:spcPct val="112000"/>
              </a:lnSpc>
            </a:pPr>
            <a:r>
              <a:rPr sz="1150" b="0" i="0">
                <a:solidFill>
                  <a:srgbClr val="5E6B7A"/>
                </a:solidFill>
                <a:latin typeface="Helvetica Neue"/>
              </a:rPr>
              <a:t>the answer space.</a:t>
            </a:r>
          </a:p>
        </p:txBody>
      </p:sp>
      <p:sp>
        <p:nvSpPr>
          <p:cNvPr id="13" name="Rounded Rectangle 12"/>
          <p:cNvSpPr/>
          <p:nvPr/>
        </p:nvSpPr>
        <p:spPr>
          <a:xfrm>
            <a:off x="3977639" y="2331720"/>
            <a:ext cx="3108960" cy="1554480"/>
          </a:xfrm>
          <a:prstGeom prst="roundRect">
            <a:avLst>
              <a:gd name="adj" fmla="val 5500"/>
            </a:avLst>
          </a:prstGeom>
          <a:solidFill>
            <a:srgbClr val="1F1E1D"/>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42231" y="2441448"/>
            <a:ext cx="2779776" cy="320040"/>
          </a:xfrm>
          <a:prstGeom prst="rect">
            <a:avLst/>
          </a:prstGeom>
          <a:noFill/>
        </p:spPr>
        <p:txBody>
          <a:bodyPr wrap="square" anchor="t" lIns="0" rIns="0" tIns="0" bIns="0">
            <a:spAutoFit/>
          </a:bodyPr>
          <a:lstStyle/>
          <a:p>
            <a:pPr algn="l">
              <a:lnSpc>
                <a:spcPct val="100000"/>
              </a:lnSpc>
            </a:pPr>
            <a:r>
              <a:rPr sz="1450" b="1" i="0">
                <a:solidFill>
                  <a:srgbClr val="F0EEE6"/>
                </a:solidFill>
                <a:latin typeface="Helvetica Neue"/>
              </a:rPr>
              <a:t>Jev</a:t>
            </a:r>
          </a:p>
        </p:txBody>
      </p:sp>
      <p:sp>
        <p:nvSpPr>
          <p:cNvPr id="15" name="TextBox 14"/>
          <p:cNvSpPr txBox="1"/>
          <p:nvPr/>
        </p:nvSpPr>
        <p:spPr>
          <a:xfrm>
            <a:off x="4142231" y="2807208"/>
            <a:ext cx="2779776" cy="1005840"/>
          </a:xfrm>
          <a:prstGeom prst="rect">
            <a:avLst/>
          </a:prstGeom>
          <a:noFill/>
        </p:spPr>
        <p:txBody>
          <a:bodyPr wrap="square" anchor="t" lIns="0" rIns="0" tIns="0" bIns="0">
            <a:spAutoFit/>
          </a:bodyPr>
          <a:lstStyle/>
          <a:p>
            <a:pPr algn="l">
              <a:lnSpc>
                <a:spcPct val="112000"/>
              </a:lnSpc>
            </a:pPr>
            <a:r>
              <a:rPr sz="1150" b="0" i="0">
                <a:solidFill>
                  <a:srgbClr val="5E6B7A"/>
                </a:solidFill>
                <a:latin typeface="Helvetica Neue"/>
              </a:rPr>
              <a:t>evaluates every question</a:t>
            </a:r>
          </a:p>
          <a:p>
            <a:pPr algn="l">
              <a:lnSpc>
                <a:spcPct val="112000"/>
              </a:lnSpc>
            </a:pPr>
            <a:r>
              <a:rPr sz="1150" b="0" i="0">
                <a:solidFill>
                  <a:srgbClr val="5E6B7A"/>
                </a:solidFill>
                <a:latin typeface="Helvetica Neue"/>
              </a:rPr>
              <a:t>against the state,</a:t>
            </a:r>
          </a:p>
          <a:p>
            <a:pPr algn="l">
              <a:lnSpc>
                <a:spcPct val="112000"/>
              </a:lnSpc>
            </a:pPr>
            <a:r>
              <a:rPr sz="1150" b="0" i="0">
                <a:solidFill>
                  <a:srgbClr val="5E6B7A"/>
                </a:solidFill>
                <a:latin typeface="Helvetica Neue"/>
              </a:rPr>
              <a:t>in parallel, independently</a:t>
            </a:r>
          </a:p>
        </p:txBody>
      </p:sp>
      <p:sp>
        <p:nvSpPr>
          <p:cNvPr id="16" name="Rectangle 15"/>
          <p:cNvSpPr/>
          <p:nvPr/>
        </p:nvSpPr>
        <p:spPr>
          <a:xfrm>
            <a:off x="3401568" y="2267712"/>
            <a:ext cx="51206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3822191"/>
            <a:ext cx="51206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50608" y="3081528"/>
            <a:ext cx="51206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26679" y="2103120"/>
            <a:ext cx="3931920" cy="201168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91271" y="2212848"/>
            <a:ext cx="3602736" cy="320040"/>
          </a:xfrm>
          <a:prstGeom prst="rect">
            <a:avLst/>
          </a:prstGeom>
          <a:noFill/>
        </p:spPr>
        <p:txBody>
          <a:bodyPr wrap="square" anchor="t" lIns="0" rIns="0" tIns="0" bIns="0">
            <a:spAutoFit/>
          </a:bodyPr>
          <a:lstStyle/>
          <a:p>
            <a:pPr algn="l">
              <a:lnSpc>
                <a:spcPct val="100000"/>
              </a:lnSpc>
            </a:pPr>
            <a:r>
              <a:rPr sz="1450" b="1" i="0">
                <a:solidFill>
                  <a:srgbClr val="1F1E1D"/>
                </a:solidFill>
                <a:latin typeface="Helvetica Neue"/>
              </a:rPr>
              <a:t>typed answers</a:t>
            </a:r>
          </a:p>
        </p:txBody>
      </p:sp>
      <p:sp>
        <p:nvSpPr>
          <p:cNvPr id="21" name="TextBox 20"/>
          <p:cNvSpPr txBox="1"/>
          <p:nvPr/>
        </p:nvSpPr>
        <p:spPr>
          <a:xfrm>
            <a:off x="7891271" y="2578608"/>
            <a:ext cx="3602736" cy="1463040"/>
          </a:xfrm>
          <a:prstGeom prst="rect">
            <a:avLst/>
          </a:prstGeom>
          <a:noFill/>
        </p:spPr>
        <p:txBody>
          <a:bodyPr wrap="square" anchor="t" lIns="0" rIns="0" tIns="0" bIns="0">
            <a:spAutoFit/>
          </a:bodyPr>
          <a:lstStyle/>
          <a:p>
            <a:pPr algn="l">
              <a:lnSpc>
                <a:spcPct val="112000"/>
              </a:lnSpc>
            </a:pPr>
            <a:r>
              <a:rPr sz="1150" b="0" i="0">
                <a:solidFill>
                  <a:srgbClr val="5E6B7A"/>
                </a:solidFill>
                <a:latin typeface="Helvetica Neue"/>
              </a:rPr>
              <a:t>one per question ID:</a:t>
            </a:r>
          </a:p>
          <a:p>
            <a:pPr algn="l">
              <a:lnSpc>
                <a:spcPct val="112000"/>
              </a:lnSpc>
            </a:pPr>
            <a:r>
              <a:rPr sz="1150" b="0" i="0">
                <a:solidFill>
                  <a:srgbClr val="5E6B7A"/>
                </a:solidFill>
                <a:latin typeface="Helvetica Neue"/>
              </a:rPr>
              <a:t>choice + probability per option</a:t>
            </a:r>
          </a:p>
          <a:p>
            <a:pPr algn="l">
              <a:lnSpc>
                <a:spcPct val="112000"/>
              </a:lnSpc>
            </a:pPr>
            <a:r>
              <a:rPr sz="1150" b="0" i="0">
                <a:solidFill>
                  <a:srgbClr val="5E6B7A"/>
                </a:solidFill>
                <a:latin typeface="Helvetica Neue"/>
              </a:rPr>
              <a:t>score on your rubric + confidence</a:t>
            </a:r>
          </a:p>
          <a:p>
            <a:pPr algn="l">
              <a:lnSpc>
                <a:spcPct val="112000"/>
              </a:lnSpc>
            </a:pPr>
            <a:r>
              <a:rPr sz="1150" b="0" i="0">
                <a:solidFill>
                  <a:srgbClr val="5E6B7A"/>
                </a:solidFill>
                <a:latin typeface="Helvetica Neue"/>
              </a:rPr>
              <a:t>noul: probability a statement is true</a:t>
            </a:r>
          </a:p>
          <a:p>
            <a:pPr algn="l">
              <a:lnSpc>
                <a:spcPct val="112000"/>
              </a:lnSpc>
            </a:pPr>
            <a:r>
              <a:rPr sz="1150" b="0" i="0">
                <a:solidFill>
                  <a:srgbClr val="5E6B7A"/>
                </a:solidFill>
                <a:latin typeface="Helvetica Neue"/>
              </a:rPr>
              <a:t>box: where something is in an image</a:t>
            </a:r>
          </a:p>
        </p:txBody>
      </p:sp>
      <p:sp>
        <p:nvSpPr>
          <p:cNvPr id="22" name="TextBox 21"/>
          <p:cNvSpPr txBox="1"/>
          <p:nvPr/>
        </p:nvSpPr>
        <p:spPr>
          <a:xfrm>
            <a:off x="502920" y="4663440"/>
            <a:ext cx="11155680" cy="731520"/>
          </a:xfrm>
          <a:prstGeom prst="rect">
            <a:avLst/>
          </a:prstGeom>
          <a:noFill/>
        </p:spPr>
        <p:txBody>
          <a:bodyPr wrap="square" anchor="t" lIns="0" rIns="0" tIns="0" bIns="0">
            <a:spAutoFit/>
          </a:bodyPr>
          <a:lstStyle/>
          <a:p>
            <a:pPr algn="l">
              <a:lnSpc>
                <a:spcPct val="100000"/>
              </a:lnSpc>
            </a:pPr>
            <a:r>
              <a:rPr sz="1550" b="1" i="0">
                <a:solidFill>
                  <a:srgbClr val="1F1E1D"/>
                </a:solidFill>
                <a:latin typeface="Helvetica Neue"/>
              </a:rPr>
              <a:t>your code </a:t>
            </a:r>
            <a:r>
              <a:rPr sz="1550" b="0" i="0">
                <a:solidFill>
                  <a:srgbClr val="1F1E1D"/>
                </a:solidFill>
                <a:latin typeface="Helvetica Neue"/>
              </a:rPr>
              <a:t>branches, sorts, thresholds, routes. No parsing, by construction: answers are constrained to the options you supplied.</a:t>
            </a:r>
          </a:p>
        </p:txBody>
      </p:sp>
      <p:sp>
        <p:nvSpPr>
          <p:cNvPr id="23" name="TextBox 22"/>
          <p:cNvSpPr txBox="1"/>
          <p:nvPr/>
        </p:nvSpPr>
        <p:spPr>
          <a:xfrm>
            <a:off x="502920" y="5440680"/>
            <a:ext cx="11155680" cy="822960"/>
          </a:xfrm>
          <a:prstGeom prst="rect">
            <a:avLst/>
          </a:prstGeom>
          <a:noFill/>
        </p:spPr>
        <p:txBody>
          <a:bodyPr wrap="square" anchor="t" lIns="0" rIns="0" tIns="0" bIns="0">
            <a:spAutoFit/>
          </a:bodyPr>
          <a:lstStyle/>
          <a:p>
            <a:pPr algn="l">
              <a:lnSpc>
                <a:spcPct val="100000"/>
              </a:lnSpc>
            </a:pPr>
            <a:r>
              <a:rPr sz="1400" b="1" i="0">
                <a:solidFill>
                  <a:srgbClr val="BD5D3A"/>
                </a:solidFill>
                <a:latin typeface="Helvetica Neue"/>
              </a:rPr>
              <a:t>Why “System One”: </a:t>
            </a:r>
            <a:r>
              <a:rPr sz="1400" b="0" i="0">
                <a:solidFill>
                  <a:srgbClr val="1F1E1D"/>
                </a:solidFill>
                <a:latin typeface="Helvetica Neue"/>
              </a:rPr>
              <a:t>Kahneman's fast, intuitive judgment, as opposed to slow System 2 reasoning. Ask what a knowledgeable person could answer in a second with the right context in front of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6</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1  |  THE IDEA BEHIND THE NAME</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System 1 and System 2: two kinds of thinking, two kinds of model</a:t>
            </a:r>
          </a:p>
        </p:txBody>
      </p:sp>
      <p:sp>
        <p:nvSpPr>
          <p:cNvPr id="7" name="Rounded Rectangle 6"/>
          <p:cNvSpPr/>
          <p:nvPr/>
        </p:nvSpPr>
        <p:spPr>
          <a:xfrm>
            <a:off x="502920" y="1481328"/>
            <a:ext cx="5486400" cy="2103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5029200" cy="320040"/>
          </a:xfrm>
          <a:prstGeom prst="rect">
            <a:avLst/>
          </a:prstGeom>
          <a:noFill/>
        </p:spPr>
        <p:txBody>
          <a:bodyPr wrap="square" anchor="t" lIns="0" rIns="0" tIns="0" bIns="0">
            <a:spAutoFit/>
          </a:bodyPr>
          <a:lstStyle/>
          <a:p>
            <a:pPr algn="l">
              <a:lnSpc>
                <a:spcPct val="100000"/>
              </a:lnSpc>
            </a:pPr>
            <a:r>
              <a:rPr sz="1300" b="1" i="0">
                <a:solidFill>
                  <a:srgbClr val="1F1E1D"/>
                </a:solidFill>
                <a:latin typeface="Georgia"/>
              </a:rPr>
              <a:t>In psychology (Kahneman, Thinking, Fast and Slow)</a:t>
            </a:r>
          </a:p>
        </p:txBody>
      </p:sp>
      <p:sp>
        <p:nvSpPr>
          <p:cNvPr id="9" name="TextBox 8"/>
          <p:cNvSpPr txBox="1"/>
          <p:nvPr/>
        </p:nvSpPr>
        <p:spPr>
          <a:xfrm>
            <a:off x="731520" y="2011680"/>
            <a:ext cx="5029200" cy="5486400"/>
          </a:xfrm>
          <a:prstGeom prst="rect">
            <a:avLst/>
          </a:prstGeom>
          <a:noFill/>
        </p:spPr>
        <p:txBody>
          <a:bodyPr wrap="square" anchor="t" lIns="0" rIns="0" tIns="0" bIns="0">
            <a:spAutoFit/>
          </a:bodyPr>
          <a:lstStyle/>
          <a:p>
            <a:pPr algn="l">
              <a:lnSpc>
                <a:spcPct val="108000"/>
              </a:lnSpc>
              <a:spcAft>
                <a:spcPts val="700"/>
              </a:spcAft>
            </a:pPr>
            <a:r>
              <a:rPr sz="1200" b="1" i="0">
                <a:solidFill>
                  <a:srgbClr val="D97757"/>
                </a:solidFill>
                <a:latin typeface="Helvetica Neue"/>
              </a:rPr>
              <a:t>–  </a:t>
            </a:r>
            <a:r>
              <a:rPr sz="1200" b="1" i="0">
                <a:solidFill>
                  <a:srgbClr val="1F1E1D"/>
                </a:solidFill>
                <a:latin typeface="Helvetica Neue"/>
              </a:rPr>
              <a:t>System 1: </a:t>
            </a:r>
            <a:r>
              <a:rPr sz="1200" b="0" i="0">
                <a:solidFill>
                  <a:srgbClr val="1F1E1D"/>
                </a:solidFill>
                <a:latin typeface="Helvetica Neue"/>
              </a:rPr>
              <a:t>fast, automatic, intuitive, near-zero effort. Reading the tone of an email, spotting the odd item on a shelf.</a:t>
            </a:r>
          </a:p>
          <a:p>
            <a:pPr algn="l">
              <a:lnSpc>
                <a:spcPct val="108000"/>
              </a:lnSpc>
              <a:spcAft>
                <a:spcPts val="700"/>
              </a:spcAft>
            </a:pPr>
            <a:r>
              <a:rPr sz="1200" b="1" i="0">
                <a:solidFill>
                  <a:srgbClr val="D97757"/>
                </a:solidFill>
                <a:latin typeface="Helvetica Neue"/>
              </a:rPr>
              <a:t>–  </a:t>
            </a:r>
            <a:r>
              <a:rPr sz="1200" b="1" i="0">
                <a:solidFill>
                  <a:srgbClr val="1F1E1D"/>
                </a:solidFill>
                <a:latin typeface="Helvetica Neue"/>
              </a:rPr>
              <a:t>System 2: </a:t>
            </a:r>
            <a:r>
              <a:rPr sz="1200" b="0" i="0">
                <a:solidFill>
                  <a:srgbClr val="1F1E1D"/>
                </a:solidFill>
                <a:latin typeface="Helvetica Neue"/>
              </a:rPr>
              <a:t>slow, deliberate, effortful. Multiplying 17 x 24, planning an itinerary, writing a document.</a:t>
            </a:r>
          </a:p>
        </p:txBody>
      </p:sp>
      <p:sp>
        <p:nvSpPr>
          <p:cNvPr id="10" name="Rounded Rectangle 9"/>
          <p:cNvSpPr/>
          <p:nvPr/>
        </p:nvSpPr>
        <p:spPr>
          <a:xfrm>
            <a:off x="6263640" y="1481328"/>
            <a:ext cx="5486400" cy="2103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27632"/>
            <a:ext cx="5029200" cy="320040"/>
          </a:xfrm>
          <a:prstGeom prst="rect">
            <a:avLst/>
          </a:prstGeom>
          <a:noFill/>
        </p:spPr>
        <p:txBody>
          <a:bodyPr wrap="square" anchor="t" lIns="0" rIns="0" tIns="0" bIns="0">
            <a:spAutoFit/>
          </a:bodyPr>
          <a:lstStyle/>
          <a:p>
            <a:pPr algn="l">
              <a:lnSpc>
                <a:spcPct val="100000"/>
              </a:lnSpc>
            </a:pPr>
            <a:r>
              <a:rPr sz="1300" b="1" i="0">
                <a:solidFill>
                  <a:srgbClr val="1F1E1D"/>
                </a:solidFill>
                <a:latin typeface="Georgia"/>
              </a:rPr>
              <a:t>In AI, the analogy maps cleanly</a:t>
            </a:r>
          </a:p>
        </p:txBody>
      </p:sp>
      <p:sp>
        <p:nvSpPr>
          <p:cNvPr id="12" name="TextBox 11"/>
          <p:cNvSpPr txBox="1"/>
          <p:nvPr/>
        </p:nvSpPr>
        <p:spPr>
          <a:xfrm>
            <a:off x="6492240" y="2011680"/>
            <a:ext cx="5029200" cy="5486400"/>
          </a:xfrm>
          <a:prstGeom prst="rect">
            <a:avLst/>
          </a:prstGeom>
          <a:noFill/>
        </p:spPr>
        <p:txBody>
          <a:bodyPr wrap="square" anchor="t" lIns="0" rIns="0" tIns="0" bIns="0">
            <a:spAutoFit/>
          </a:bodyPr>
          <a:lstStyle/>
          <a:p>
            <a:pPr algn="l">
              <a:lnSpc>
                <a:spcPct val="108000"/>
              </a:lnSpc>
              <a:spcAft>
                <a:spcPts val="700"/>
              </a:spcAft>
            </a:pPr>
            <a:r>
              <a:rPr sz="1200" b="1" i="0">
                <a:solidFill>
                  <a:srgbClr val="D97757"/>
                </a:solidFill>
                <a:latin typeface="Helvetica Neue"/>
              </a:rPr>
              <a:t>–  </a:t>
            </a:r>
            <a:r>
              <a:rPr sz="1200" b="1" i="0">
                <a:solidFill>
                  <a:srgbClr val="1F1E1D"/>
                </a:solidFill>
                <a:latin typeface="Helvetica Neue"/>
              </a:rPr>
              <a:t>System 2 models: </a:t>
            </a:r>
            <a:r>
              <a:rPr sz="1200" b="0" i="0">
                <a:solidFill>
                  <a:srgbClr val="1F1E1D"/>
                </a:solidFill>
                <a:latin typeface="Helvetica Neue"/>
              </a:rPr>
              <a:t>chat LLMs and reasoning models. Chains of thought, seconds of latency, dollars per Mtok. Built to deliberate and generate.</a:t>
            </a:r>
          </a:p>
          <a:p>
            <a:pPr algn="l">
              <a:lnSpc>
                <a:spcPct val="108000"/>
              </a:lnSpc>
              <a:spcAft>
                <a:spcPts val="700"/>
              </a:spcAft>
            </a:pPr>
            <a:r>
              <a:rPr sz="1200" b="1" i="0">
                <a:solidFill>
                  <a:srgbClr val="D97757"/>
                </a:solidFill>
                <a:latin typeface="Helvetica Neue"/>
              </a:rPr>
              <a:t>–  </a:t>
            </a:r>
            <a:r>
              <a:rPr sz="1200" b="1" i="0">
                <a:solidFill>
                  <a:srgbClr val="1F1E1D"/>
                </a:solidFill>
                <a:latin typeface="Helvetica Neue"/>
              </a:rPr>
              <a:t>System One models (Jev): </a:t>
            </a:r>
            <a:r>
              <a:rPr sz="1200" b="0" i="0">
                <a:solidFill>
                  <a:srgbClr val="1F1E1D"/>
                </a:solidFill>
                <a:latin typeface="Helvetica Neue"/>
              </a:rPr>
              <a:t>snap judgments over the context in front of them. Typed answers, calibrated probabilities, ~100 ms. Built to decide, never to generate.</a:t>
            </a:r>
          </a:p>
        </p:txBody>
      </p:sp>
      <p:graphicFrame>
        <p:nvGraphicFramePr>
          <p:cNvPr id="13" name="Table 12"/>
          <p:cNvGraphicFramePr>
            <a:graphicFrameLocks noGrp="1"/>
          </p:cNvGraphicFramePr>
          <p:nvPr/>
        </p:nvGraphicFramePr>
        <p:xfrm>
          <a:off x="502920" y="3767328"/>
          <a:ext cx="11155680" cy="2194560"/>
        </p:xfrm>
        <a:graphic>
          <a:graphicData uri="http://schemas.openxmlformats.org/drawingml/2006/table">
            <a:tbl>
              <a:tblPr>
                <a:tableStyleId>{5C22544A-7EE6-4342-B048-85BDC9FD1C3A}</a:tableStyleId>
              </a:tblPr>
              <a:tblGrid>
                <a:gridCol w="1371600"/>
                <a:gridCol w="4480560"/>
                <a:gridCol w="5303520"/>
              </a:tblGrid>
              <a:tr h="365760">
                <a:tc>
                  <a:txBody>
                    <a:bodyPr wrap="square"/>
                    <a:lstStyle/>
                    <a:p>
                      <a:r>
                        <a:rPr sz="1150" b="1">
                          <a:solidFill>
                            <a:srgbClr val="F0EEE6"/>
                          </a:solidFill>
                          <a:latin typeface="Helvetica Neue"/>
                        </a:rPr>
                        <a:t/>
                      </a:r>
                    </a:p>
                  </a:txBody>
                  <a:tcPr marL="73152" marR="73152" marT="27432" marB="27432" anchor="ctr">
                    <a:solidFill>
                      <a:srgbClr val="1F1E1D"/>
                    </a:solidFill>
                  </a:tcPr>
                </a:tc>
                <a:tc>
                  <a:txBody>
                    <a:bodyPr wrap="square"/>
                    <a:lstStyle/>
                    <a:p>
                      <a:r>
                        <a:rPr sz="1150" b="1">
                          <a:solidFill>
                            <a:srgbClr val="F0EEE6"/>
                          </a:solidFill>
                          <a:latin typeface="Helvetica Neue"/>
                        </a:rPr>
                        <a:t>System One model (Jev)</a:t>
                      </a:r>
                    </a:p>
                  </a:txBody>
                  <a:tcPr marL="73152" marR="73152" marT="27432" marB="27432" anchor="ctr">
                    <a:solidFill>
                      <a:srgbClr val="1F1E1D"/>
                    </a:solidFill>
                  </a:tcPr>
                </a:tc>
                <a:tc>
                  <a:txBody>
                    <a:bodyPr wrap="square"/>
                    <a:lstStyle/>
                    <a:p>
                      <a:r>
                        <a:rPr sz="1150" b="1">
                          <a:solidFill>
                            <a:srgbClr val="F0EEE6"/>
                          </a:solidFill>
                          <a:latin typeface="Helvetica Neue"/>
                        </a:rPr>
                        <a:t>System 2 models (chat and reasoning LLMs)</a:t>
                      </a:r>
                    </a:p>
                  </a:txBody>
                  <a:tcPr marL="73152" marR="73152" marT="27432" marB="27432" anchor="ctr">
                    <a:solidFill>
                      <a:srgbClr val="1F1E1D"/>
                    </a:solidFill>
                  </a:tcPr>
                </a:tc>
              </a:tr>
              <a:tr h="365760">
                <a:tc>
                  <a:txBody>
                    <a:bodyPr wrap="square"/>
                    <a:lstStyle/>
                    <a:p>
                      <a:r>
                        <a:rPr sz="1150" b="0">
                          <a:solidFill>
                            <a:srgbClr val="1F1E1D"/>
                          </a:solidFill>
                          <a:latin typeface="Helvetica Neue"/>
                        </a:rPr>
                        <a:t>Latency</a:t>
                      </a:r>
                    </a:p>
                  </a:txBody>
                  <a:tcPr marL="73152" marR="73152" marT="27432" marB="27432" anchor="ctr">
                    <a:solidFill>
                      <a:srgbClr val="FAF9F5"/>
                    </a:solidFill>
                  </a:tcPr>
                </a:tc>
                <a:tc>
                  <a:txBody>
                    <a:bodyPr wrap="square"/>
                    <a:lstStyle/>
                    <a:p>
                      <a:r>
                        <a:rPr sz="1150" b="0">
                          <a:solidFill>
                            <a:srgbClr val="1F1E1D"/>
                          </a:solidFill>
                          <a:latin typeface="Helvetica Neue"/>
                        </a:rPr>
                        <a:t>~0.1 to 0.5 s</a:t>
                      </a:r>
                    </a:p>
                  </a:txBody>
                  <a:tcPr marL="73152" marR="73152" marT="27432" marB="27432" anchor="ctr">
                    <a:solidFill>
                      <a:srgbClr val="FAF9F5"/>
                    </a:solidFill>
                  </a:tcPr>
                </a:tc>
                <a:tc>
                  <a:txBody>
                    <a:bodyPr wrap="square"/>
                    <a:lstStyle/>
                    <a:p>
                      <a:r>
                        <a:rPr sz="1150" b="0">
                          <a:solidFill>
                            <a:srgbClr val="1F1E1D"/>
                          </a:solidFill>
                          <a:latin typeface="Helvetica Neue"/>
                        </a:rPr>
                        <a:t>seconds to minutes</a:t>
                      </a:r>
                    </a:p>
                  </a:txBody>
                  <a:tcPr marL="73152" marR="73152" marT="27432" marB="27432" anchor="ctr">
                    <a:solidFill>
                      <a:srgbClr val="FAF9F5"/>
                    </a:solidFill>
                  </a:tcPr>
                </a:tc>
              </a:tr>
              <a:tr h="365760">
                <a:tc>
                  <a:txBody>
                    <a:bodyPr wrap="square"/>
                    <a:lstStyle/>
                    <a:p>
                      <a:r>
                        <a:rPr sz="1150" b="0">
                          <a:solidFill>
                            <a:srgbClr val="1F1E1D"/>
                          </a:solidFill>
                          <a:latin typeface="Helvetica Neue"/>
                        </a:rPr>
                        <a:t>Output</a:t>
                      </a:r>
                    </a:p>
                  </a:txBody>
                  <a:tcPr marL="73152" marR="73152" marT="27432" marB="27432" anchor="ctr">
                    <a:solidFill>
                      <a:srgbClr val="E9E6DC"/>
                    </a:solidFill>
                  </a:tcPr>
                </a:tc>
                <a:tc>
                  <a:txBody>
                    <a:bodyPr wrap="square"/>
                    <a:lstStyle/>
                    <a:p>
                      <a:r>
                        <a:rPr sz="1150" b="0">
                          <a:solidFill>
                            <a:srgbClr val="1F1E1D"/>
                          </a:solidFill>
                          <a:latin typeface="Helvetica Neue"/>
                        </a:rPr>
                        <a:t>typed decision + calibrated probabilities</a:t>
                      </a:r>
                    </a:p>
                  </a:txBody>
                  <a:tcPr marL="73152" marR="73152" marT="27432" marB="27432" anchor="ctr">
                    <a:solidFill>
                      <a:srgbClr val="E9E6DC"/>
                    </a:solidFill>
                  </a:tcPr>
                </a:tc>
                <a:tc>
                  <a:txBody>
                    <a:bodyPr wrap="square"/>
                    <a:lstStyle/>
                    <a:p>
                      <a:r>
                        <a:rPr sz="1150" b="0">
                          <a:solidFill>
                            <a:srgbClr val="1F1E1D"/>
                          </a:solidFill>
                          <a:latin typeface="Helvetica Neue"/>
                        </a:rPr>
                        <a:t>free-form text, code, chains of thought</a:t>
                      </a:r>
                    </a:p>
                  </a:txBody>
                  <a:tcPr marL="73152" marR="73152" marT="27432" marB="27432" anchor="ctr">
                    <a:solidFill>
                      <a:srgbClr val="E9E6DC"/>
                    </a:solidFill>
                  </a:tcPr>
                </a:tc>
              </a:tr>
              <a:tr h="365760">
                <a:tc>
                  <a:txBody>
                    <a:bodyPr wrap="square"/>
                    <a:lstStyle/>
                    <a:p>
                      <a:r>
                        <a:rPr sz="1150" b="0">
                          <a:solidFill>
                            <a:srgbClr val="1F1E1D"/>
                          </a:solidFill>
                          <a:latin typeface="Helvetica Neue"/>
                        </a:rPr>
                        <a:t>Cost</a:t>
                      </a:r>
                    </a:p>
                  </a:txBody>
                  <a:tcPr marL="73152" marR="73152" marT="27432" marB="27432" anchor="ctr">
                    <a:solidFill>
                      <a:srgbClr val="FAF9F5"/>
                    </a:solidFill>
                  </a:tcPr>
                </a:tc>
                <a:tc>
                  <a:txBody>
                    <a:bodyPr wrap="square"/>
                    <a:lstStyle/>
                    <a:p>
                      <a:r>
                        <a:rPr sz="1150" b="0">
                          <a:solidFill>
                            <a:srgbClr val="1F1E1D"/>
                          </a:solidFill>
                          <a:latin typeface="Helvetica Neue"/>
                        </a:rPr>
                        <a:t>$0.042 / Mtok in, output free</a:t>
                      </a:r>
                    </a:p>
                  </a:txBody>
                  <a:tcPr marL="73152" marR="73152" marT="27432" marB="27432" anchor="ctr">
                    <a:solidFill>
                      <a:srgbClr val="FAF9F5"/>
                    </a:solidFill>
                  </a:tcPr>
                </a:tc>
                <a:tc>
                  <a:txBody>
                    <a:bodyPr wrap="square"/>
                    <a:lstStyle/>
                    <a:p>
                      <a:r>
                        <a:rPr sz="1150" b="0">
                          <a:solidFill>
                            <a:srgbClr val="1F1E1D"/>
                          </a:solidFill>
                          <a:latin typeface="Helvetica Neue"/>
                        </a:rPr>
                        <a:t>dollars per Mtok, output billed</a:t>
                      </a:r>
                    </a:p>
                  </a:txBody>
                  <a:tcPr marL="73152" marR="73152" marT="27432" marB="27432" anchor="ctr">
                    <a:solidFill>
                      <a:srgbClr val="FAF9F5"/>
                    </a:solidFill>
                  </a:tcPr>
                </a:tc>
              </a:tr>
              <a:tr h="365760">
                <a:tc>
                  <a:txBody>
                    <a:bodyPr wrap="square"/>
                    <a:lstStyle/>
                    <a:p>
                      <a:r>
                        <a:rPr sz="1150" b="0">
                          <a:solidFill>
                            <a:srgbClr val="1F1E1D"/>
                          </a:solidFill>
                          <a:latin typeface="Helvetica Neue"/>
                        </a:rPr>
                        <a:t>Best at</a:t>
                      </a:r>
                    </a:p>
                  </a:txBody>
                  <a:tcPr marL="73152" marR="73152" marT="27432" marB="27432" anchor="ctr">
                    <a:solidFill>
                      <a:srgbClr val="E9E6DC"/>
                    </a:solidFill>
                  </a:tcPr>
                </a:tc>
                <a:tc>
                  <a:txBody>
                    <a:bodyPr wrap="square"/>
                    <a:lstStyle/>
                    <a:p>
                      <a:r>
                        <a:rPr sz="1150" b="0">
                          <a:solidFill>
                            <a:srgbClr val="1F1E1D"/>
                          </a:solidFill>
                          <a:latin typeface="Helvetica Neue"/>
                        </a:rPr>
                        <a:t>atomic judgments: classify, score, verify, detect</a:t>
                      </a:r>
                    </a:p>
                  </a:txBody>
                  <a:tcPr marL="73152" marR="73152" marT="27432" marB="27432" anchor="ctr">
                    <a:solidFill>
                      <a:srgbClr val="E9E6DC"/>
                    </a:solidFill>
                  </a:tcPr>
                </a:tc>
                <a:tc>
                  <a:txBody>
                    <a:bodyPr wrap="square"/>
                    <a:lstStyle/>
                    <a:p>
                      <a:r>
                        <a:rPr sz="1150" b="0">
                          <a:solidFill>
                            <a:srgbClr val="1F1E1D"/>
                          </a:solidFill>
                          <a:latin typeface="Helvetica Neue"/>
                        </a:rPr>
                        <a:t>generation, multi-step reasoning, dialogue</a:t>
                      </a:r>
                    </a:p>
                  </a:txBody>
                  <a:tcPr marL="73152" marR="73152" marT="27432" marB="27432" anchor="ctr">
                    <a:solidFill>
                      <a:srgbClr val="E9E6DC"/>
                    </a:solidFill>
                  </a:tcPr>
                </a:tc>
              </a:tr>
              <a:tr h="365760">
                <a:tc>
                  <a:txBody>
                    <a:bodyPr wrap="square"/>
                    <a:lstStyle/>
                    <a:p>
                      <a:r>
                        <a:rPr sz="1150" b="0">
                          <a:solidFill>
                            <a:srgbClr val="1F1E1D"/>
                          </a:solidFill>
                          <a:latin typeface="Helvetica Neue"/>
                        </a:rPr>
                        <a:t>Fails when</a:t>
                      </a:r>
                    </a:p>
                  </a:txBody>
                  <a:tcPr marL="73152" marR="73152" marT="27432" marB="27432" anchor="ctr">
                    <a:solidFill>
                      <a:srgbClr val="FAF9F5"/>
                    </a:solidFill>
                  </a:tcPr>
                </a:tc>
                <a:tc>
                  <a:txBody>
                    <a:bodyPr wrap="square"/>
                    <a:lstStyle/>
                    <a:p>
                      <a:r>
                        <a:rPr sz="1150" b="0">
                          <a:solidFill>
                            <a:srgbClr val="1F1E1D"/>
                          </a:solidFill>
                          <a:latin typeface="Helvetica Neue"/>
                        </a:rPr>
                        <a:t>the question needs deliberation or arithmetic</a:t>
                      </a:r>
                    </a:p>
                  </a:txBody>
                  <a:tcPr marL="73152" marR="73152" marT="27432" marB="27432" anchor="ctr">
                    <a:solidFill>
                      <a:srgbClr val="FAF9F5"/>
                    </a:solidFill>
                  </a:tcPr>
                </a:tc>
                <a:tc>
                  <a:txBody>
                    <a:bodyPr wrap="square"/>
                    <a:lstStyle/>
                    <a:p>
                      <a:r>
                        <a:rPr sz="1150" b="0">
                          <a:solidFill>
                            <a:srgbClr val="1F1E1D"/>
                          </a:solidFill>
                          <a:latin typeface="Helvetica Neue"/>
                        </a:rPr>
                        <a:t>you need speed, calibration, or structured output</a:t>
                      </a:r>
                    </a:p>
                  </a:txBody>
                  <a:tcPr marL="73152" marR="73152" marT="27432" marB="27432" anchor="ctr">
                    <a:solidFill>
                      <a:srgbClr val="FAF9F5"/>
                    </a:solidFill>
                  </a:tcPr>
                </a:tc>
              </a:tr>
            </a:tbl>
          </a:graphicData>
        </a:graphic>
      </p:graphicFrame>
      <p:sp>
        <p:nvSpPr>
          <p:cNvPr id="14" name="TextBox 13"/>
          <p:cNvSpPr txBox="1"/>
          <p:nvPr/>
        </p:nvSpPr>
        <p:spPr>
          <a:xfrm>
            <a:off x="502920" y="6053328"/>
            <a:ext cx="11155680" cy="411480"/>
          </a:xfrm>
          <a:prstGeom prst="rect">
            <a:avLst/>
          </a:prstGeom>
          <a:noFill/>
        </p:spPr>
        <p:txBody>
          <a:bodyPr wrap="square" anchor="t" lIns="0" rIns="0" tIns="0" bIns="0">
            <a:spAutoFit/>
          </a:bodyPr>
          <a:lstStyle/>
          <a:p>
            <a:pPr algn="l">
              <a:lnSpc>
                <a:spcPct val="100000"/>
              </a:lnSpc>
            </a:pPr>
            <a:r>
              <a:rPr sz="1150" b="0" i="1">
                <a:solidFill>
                  <a:srgbClr val="BD5D3A"/>
                </a:solidFill>
                <a:latin typeface="Helvetica Neue"/>
              </a:rPr>
              <a:t>Rule of thumb: if a knowledgeable person answers it in a second, it is a Jev question. If they reach for a whiteboard, decompose it into Jev questions composed in code, or hand it to a System 2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7</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1  |  WHERE IT SITS</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Three software architectures (TypeSafe's framing)</a:t>
            </a:r>
          </a:p>
        </p:txBody>
      </p:sp>
      <p:pic>
        <p:nvPicPr>
          <p:cNvPr id="7" name="Picture 6" descr="docs_software_architectures.png"/>
          <p:cNvPicPr>
            <a:picLocks noChangeAspect="1"/>
          </p:cNvPicPr>
          <p:nvPr/>
        </p:nvPicPr>
        <p:blipFill>
          <a:blip r:embed="rId2"/>
          <a:stretch>
            <a:fillRect/>
          </a:stretch>
        </p:blipFill>
        <p:spPr>
          <a:xfrm>
            <a:off x="822960" y="1600200"/>
            <a:ext cx="7498079" cy="4089528"/>
          </a:xfrm>
          <a:prstGeom prst="rect">
            <a:avLst/>
          </a:prstGeom>
        </p:spPr>
      </p:pic>
      <p:sp>
        <p:nvSpPr>
          <p:cNvPr id="8" name="TextBox 7"/>
          <p:cNvSpPr txBox="1"/>
          <p:nvPr/>
        </p:nvSpPr>
        <p:spPr>
          <a:xfrm>
            <a:off x="8549640" y="1737360"/>
            <a:ext cx="3200400" cy="5486400"/>
          </a:xfrm>
          <a:prstGeom prst="rect">
            <a:avLst/>
          </a:prstGeom>
          <a:noFill/>
        </p:spPr>
        <p:txBody>
          <a:bodyPr wrap="square" anchor="t" lIns="0" rIns="0" tIns="0" bIns="0">
            <a:spAutoFit/>
          </a:bodyPr>
          <a:lstStyle/>
          <a:p>
            <a:pPr algn="l">
              <a:lnSpc>
                <a:spcPct val="108000"/>
              </a:lnSpc>
              <a:spcAft>
                <a:spcPts val="1000"/>
              </a:spcAft>
            </a:pPr>
            <a:r>
              <a:rPr sz="1200" b="1" i="0">
                <a:solidFill>
                  <a:srgbClr val="D97757"/>
                </a:solidFill>
                <a:latin typeface="Helvetica Neue"/>
              </a:rPr>
              <a:t>–  </a:t>
            </a:r>
            <a:r>
              <a:rPr sz="1200" b="1" i="0">
                <a:solidFill>
                  <a:srgbClr val="1F1E1D"/>
                </a:solidFill>
                <a:latin typeface="Helvetica Neue"/>
              </a:rPr>
              <a:t>Traditional software: </a:t>
            </a:r>
            <a:r>
              <a:rPr sz="1200" b="0" i="0">
                <a:solidFill>
                  <a:srgbClr val="1F1E1D"/>
                </a:solidFill>
                <a:latin typeface="Helvetica Neue"/>
              </a:rPr>
              <a:t>reliable primitives composed into decision trees. Deterministic, but blind to unstructured data.</a:t>
            </a:r>
          </a:p>
          <a:p>
            <a:pPr algn="l">
              <a:lnSpc>
                <a:spcPct val="108000"/>
              </a:lnSpc>
              <a:spcAft>
                <a:spcPts val="1000"/>
              </a:spcAft>
            </a:pPr>
            <a:r>
              <a:rPr sz="1200" b="1" i="0">
                <a:solidFill>
                  <a:srgbClr val="D97757"/>
                </a:solidFill>
                <a:latin typeface="Helvetica Neue"/>
              </a:rPr>
              <a:t>–  </a:t>
            </a:r>
            <a:r>
              <a:rPr sz="1200" b="1" i="0">
                <a:solidFill>
                  <a:srgbClr val="1F1E1D"/>
                </a:solidFill>
                <a:latin typeface="Helvetica Neue"/>
              </a:rPr>
              <a:t>LLM agents: </a:t>
            </a:r>
            <a:r>
              <a:rPr sz="1200" b="0" i="0">
                <a:solidFill>
                  <a:srgbClr val="1F1E1D"/>
                </a:solidFill>
                <a:latin typeface="Helvetica Neue"/>
              </a:rPr>
              <a:t>the model chooses its next step in a loop. Powerful with a human watching; every loop is another chance to go off the rails.</a:t>
            </a:r>
          </a:p>
          <a:p>
            <a:pPr algn="l">
              <a:lnSpc>
                <a:spcPct val="108000"/>
              </a:lnSpc>
              <a:spcAft>
                <a:spcPts val="1000"/>
              </a:spcAft>
            </a:pPr>
            <a:r>
              <a:rPr sz="1200" b="1" i="0">
                <a:solidFill>
                  <a:srgbClr val="D97757"/>
                </a:solidFill>
                <a:latin typeface="Helvetica Neue"/>
              </a:rPr>
              <a:t>–  </a:t>
            </a:r>
            <a:r>
              <a:rPr sz="1200" b="1" i="0">
                <a:solidFill>
                  <a:srgbClr val="1F1E1D"/>
                </a:solidFill>
                <a:latin typeface="Helvetica Neue"/>
              </a:rPr>
              <a:t>AI-powered software: </a:t>
            </a:r>
            <a:r>
              <a:rPr sz="1200" b="0" i="0">
                <a:solidFill>
                  <a:srgbClr val="1F1E1D"/>
                </a:solidFill>
                <a:latin typeface="Helvetica Neue"/>
              </a:rPr>
              <a:t>code owns control flow; the model appears only where the system needs programmable common sense. Each AI task atomic and constrained. This is the slot Jev is built for.</a:t>
            </a:r>
          </a:p>
        </p:txBody>
      </p:sp>
      <p:sp>
        <p:nvSpPr>
          <p:cNvPr id="9" name="TextBox 8"/>
          <p:cNvSpPr txBox="1"/>
          <p:nvPr/>
        </p:nvSpPr>
        <p:spPr>
          <a:xfrm>
            <a:off x="822960" y="5989320"/>
            <a:ext cx="7315200" cy="274320"/>
          </a:xfrm>
          <a:prstGeom prst="rect">
            <a:avLst/>
          </a:prstGeom>
          <a:noFill/>
        </p:spPr>
        <p:txBody>
          <a:bodyPr wrap="square" anchor="t" lIns="0" rIns="0" tIns="0" bIns="0">
            <a:spAutoFit/>
          </a:bodyPr>
          <a:lstStyle/>
          <a:p>
            <a:pPr algn="l">
              <a:lnSpc>
                <a:spcPct val="100000"/>
              </a:lnSpc>
            </a:pPr>
            <a:r>
              <a:rPr sz="1050" b="0" i="1">
                <a:solidFill>
                  <a:srgbClr val="8A8780"/>
                </a:solidFill>
                <a:latin typeface="Helvetica Neue"/>
              </a:rPr>
              <a:t>Diagram: docs.typesafe.ai, How to build with TypeSafe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8</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1  |  WHO</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TypeSafe AI, the lab behind Jev</a:t>
            </a:r>
          </a:p>
        </p:txBody>
      </p:sp>
      <p:sp>
        <p:nvSpPr>
          <p:cNvPr id="7" name="TextBox 6"/>
          <p:cNvSpPr txBox="1"/>
          <p:nvPr/>
        </p:nvSpPr>
        <p:spPr>
          <a:xfrm>
            <a:off x="502920" y="1645920"/>
            <a:ext cx="6492240" cy="5486400"/>
          </a:xfrm>
          <a:prstGeom prst="rect">
            <a:avLst/>
          </a:prstGeom>
          <a:noFill/>
        </p:spPr>
        <p:txBody>
          <a:bodyPr wrap="square" anchor="t" lIns="0" rIns="0" tIns="0" bIns="0">
            <a:spAutoFit/>
          </a:bodyPr>
          <a:lstStyle/>
          <a:p>
            <a:pPr algn="l">
              <a:lnSpc>
                <a:spcPct val="108000"/>
              </a:lnSpc>
              <a:spcAft>
                <a:spcPts val="1300"/>
              </a:spcAft>
            </a:pPr>
            <a:r>
              <a:rPr sz="1550" b="1" i="0">
                <a:solidFill>
                  <a:srgbClr val="D97757"/>
                </a:solidFill>
                <a:latin typeface="Helvetica Neue"/>
              </a:rPr>
              <a:t>–  </a:t>
            </a:r>
            <a:r>
              <a:rPr sz="1550" b="1" i="0">
                <a:solidFill>
                  <a:srgbClr val="1F1E1D"/>
                </a:solidFill>
                <a:latin typeface="Helvetica Neue"/>
              </a:rPr>
              <a:t>Founded 2024, San Francisco. </a:t>
            </a:r>
            <a:r>
              <a:rPr sz="1550" b="0" i="0">
                <a:solidFill>
                  <a:srgbClr val="1F1E1D"/>
                </a:solidFill>
                <a:latin typeface="Helvetica Neue"/>
              </a:rPr>
              <a:t>CEO Diogo Almeida (ex-OpenAI, Google Brain; a co-inventor of RLHF), COO Sasha Sheng, CTO Erik Gafni.</a:t>
            </a:r>
          </a:p>
          <a:p>
            <a:pPr algn="l">
              <a:lnSpc>
                <a:spcPct val="108000"/>
              </a:lnSpc>
              <a:spcAft>
                <a:spcPts val="1300"/>
              </a:spcAft>
            </a:pPr>
            <a:r>
              <a:rPr sz="1550" b="1" i="0">
                <a:solidFill>
                  <a:srgbClr val="D97757"/>
                </a:solidFill>
                <a:latin typeface="Helvetica Neue"/>
              </a:rPr>
              <a:t>–  </a:t>
            </a:r>
            <a:r>
              <a:rPr sz="1550" b="1" i="0">
                <a:solidFill>
                  <a:srgbClr val="1F1E1D"/>
                </a:solidFill>
                <a:latin typeface="Helvetica Neue"/>
              </a:rPr>
              <a:t>The thesis: “Machine Native Intelligence”. </a:t>
            </a:r>
            <a:r>
              <a:rPr sz="1550" b="0" i="0">
                <a:solidFill>
                  <a:srgbClr val="1F1E1D"/>
                </a:solidFill>
                <a:latin typeface="Helvetica Neue"/>
              </a:rPr>
              <a:t>Large-scale automation will be ~99% machine-to-machine. Build AI with software properties: structure, reliability, testability, speed, low cost. “Building prod, not God.”</a:t>
            </a:r>
          </a:p>
          <a:p>
            <a:pPr algn="l">
              <a:lnSpc>
                <a:spcPct val="108000"/>
              </a:lnSpc>
              <a:spcAft>
                <a:spcPts val="1300"/>
              </a:spcAft>
            </a:pPr>
            <a:r>
              <a:rPr sz="1550" b="1" i="0">
                <a:solidFill>
                  <a:srgbClr val="D97757"/>
                </a:solidFill>
                <a:latin typeface="Helvetica Neue"/>
              </a:rPr>
              <a:t>–  </a:t>
            </a:r>
            <a:r>
              <a:rPr sz="1550" b="1" i="0">
                <a:solidFill>
                  <a:srgbClr val="1F1E1D"/>
                </a:solidFill>
                <a:latin typeface="Helvetica Neue"/>
              </a:rPr>
              <a:t>The product. </a:t>
            </a:r>
            <a:r>
              <a:rPr sz="1550" b="0" i="0">
                <a:solidFill>
                  <a:srgbClr val="1F1E1D"/>
                </a:solidFill>
                <a:latin typeface="Helvetica Neue"/>
              </a:rPr>
              <a:t>Hosted API only (closed weights, waitlist). One endpoint: POST /v1/systemone. One pricing axis: input tokens.</a:t>
            </a:r>
          </a:p>
          <a:p>
            <a:pPr algn="l">
              <a:lnSpc>
                <a:spcPct val="108000"/>
              </a:lnSpc>
              <a:spcAft>
                <a:spcPts val="1300"/>
              </a:spcAft>
            </a:pPr>
            <a:r>
              <a:rPr sz="1550" b="1" i="0">
                <a:solidFill>
                  <a:srgbClr val="D97757"/>
                </a:solidFill>
                <a:latin typeface="Helvetica Neue"/>
              </a:rPr>
              <a:t>–  </a:t>
            </a:r>
            <a:r>
              <a:rPr sz="1550" b="1" i="0">
                <a:solidFill>
                  <a:srgbClr val="1F1E1D"/>
                </a:solidFill>
                <a:latin typeface="Helvetica Neue"/>
              </a:rPr>
              <a:t>No per-customer fine-tuning. </a:t>
            </a:r>
            <a:r>
              <a:rPr sz="1550" b="0" i="0">
                <a:solidFill>
                  <a:srgbClr val="1F1E1D"/>
                </a:solidFill>
                <a:latin typeface="Helvetica Neue"/>
              </a:rPr>
              <a:t>Same weights for every account; you adapt it through state, instructions, and criteria.</a:t>
            </a:r>
          </a:p>
        </p:txBody>
      </p:sp>
      <p:sp>
        <p:nvSpPr>
          <p:cNvPr id="8" name="Rounded Rectangle 7"/>
          <p:cNvSpPr/>
          <p:nvPr/>
        </p:nvSpPr>
        <p:spPr>
          <a:xfrm>
            <a:off x="7315200" y="1645920"/>
            <a:ext cx="4389120" cy="448056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43800" y="1828800"/>
            <a:ext cx="3931920" cy="320040"/>
          </a:xfrm>
          <a:prstGeom prst="rect">
            <a:avLst/>
          </a:prstGeom>
          <a:noFill/>
        </p:spPr>
        <p:txBody>
          <a:bodyPr wrap="square" anchor="t" lIns="0" rIns="0" tIns="0" bIns="0">
            <a:spAutoFit/>
          </a:bodyPr>
          <a:lstStyle/>
          <a:p>
            <a:pPr algn="l">
              <a:lnSpc>
                <a:spcPct val="100000"/>
              </a:lnSpc>
            </a:pPr>
            <a:r>
              <a:rPr sz="1500" b="1" i="0">
                <a:solidFill>
                  <a:srgbClr val="1F1E1D"/>
                </a:solidFill>
                <a:latin typeface="Georgia"/>
              </a:rPr>
              <a:t>Timeline</a:t>
            </a:r>
          </a:p>
        </p:txBody>
      </p:sp>
      <p:sp>
        <p:nvSpPr>
          <p:cNvPr id="10" name="TextBox 9"/>
          <p:cNvSpPr txBox="1"/>
          <p:nvPr/>
        </p:nvSpPr>
        <p:spPr>
          <a:xfrm>
            <a:off x="7543800" y="2286000"/>
            <a:ext cx="1417320" cy="548640"/>
          </a:xfrm>
          <a:prstGeom prst="rect">
            <a:avLst/>
          </a:prstGeom>
          <a:noFill/>
        </p:spPr>
        <p:txBody>
          <a:bodyPr wrap="square" anchor="t" lIns="0" rIns="0" tIns="0" bIns="0">
            <a:spAutoFit/>
          </a:bodyPr>
          <a:lstStyle/>
          <a:p>
            <a:pPr algn="l">
              <a:lnSpc>
                <a:spcPct val="100000"/>
              </a:lnSpc>
            </a:pPr>
            <a:r>
              <a:rPr sz="1100" b="1" i="0">
                <a:solidFill>
                  <a:srgbClr val="BD5D3A"/>
                </a:solidFill>
                <a:latin typeface="Helvetica Neue"/>
              </a:rPr>
              <a:t>Sep 15, 2026</a:t>
            </a:r>
          </a:p>
        </p:txBody>
      </p:sp>
      <p:sp>
        <p:nvSpPr>
          <p:cNvPr id="11" name="TextBox 10"/>
          <p:cNvSpPr txBox="1"/>
          <p:nvPr/>
        </p:nvSpPr>
        <p:spPr>
          <a:xfrm>
            <a:off x="9006840" y="2286000"/>
            <a:ext cx="2606040" cy="731520"/>
          </a:xfrm>
          <a:prstGeom prst="rect">
            <a:avLst/>
          </a:prstGeom>
          <a:noFill/>
        </p:spPr>
        <p:txBody>
          <a:bodyPr wrap="square" anchor="t" lIns="0" rIns="0" tIns="0" bIns="0">
            <a:spAutoFit/>
          </a:bodyPr>
          <a:lstStyle/>
          <a:p>
            <a:pPr algn="l">
              <a:lnSpc>
                <a:spcPct val="110000"/>
              </a:lnSpc>
            </a:pPr>
            <a:r>
              <a:rPr sz="1100" b="0" i="0">
                <a:solidFill>
                  <a:srgbClr val="1F1E1D"/>
                </a:solidFill>
                <a:latin typeface="Helvetica Neue"/>
              </a:rPr>
              <a:t>Jev launches (jev-1.13.0), “first System One model”</a:t>
            </a:r>
          </a:p>
        </p:txBody>
      </p:sp>
      <p:sp>
        <p:nvSpPr>
          <p:cNvPr id="12" name="TextBox 11"/>
          <p:cNvSpPr txBox="1"/>
          <p:nvPr/>
        </p:nvSpPr>
        <p:spPr>
          <a:xfrm>
            <a:off x="7543800" y="3054096"/>
            <a:ext cx="1417320" cy="548640"/>
          </a:xfrm>
          <a:prstGeom prst="rect">
            <a:avLst/>
          </a:prstGeom>
          <a:noFill/>
        </p:spPr>
        <p:txBody>
          <a:bodyPr wrap="square" anchor="t" lIns="0" rIns="0" tIns="0" bIns="0">
            <a:spAutoFit/>
          </a:bodyPr>
          <a:lstStyle/>
          <a:p>
            <a:pPr algn="l">
              <a:lnSpc>
                <a:spcPct val="100000"/>
              </a:lnSpc>
            </a:pPr>
            <a:r>
              <a:rPr sz="1100" b="1" i="0">
                <a:solidFill>
                  <a:srgbClr val="BD5D3A"/>
                </a:solidFill>
                <a:latin typeface="Helvetica Neue"/>
              </a:rPr>
              <a:t>Sep 16, 2026</a:t>
            </a:r>
          </a:p>
        </p:txBody>
      </p:sp>
      <p:sp>
        <p:nvSpPr>
          <p:cNvPr id="13" name="TextBox 12"/>
          <p:cNvSpPr txBox="1"/>
          <p:nvPr/>
        </p:nvSpPr>
        <p:spPr>
          <a:xfrm>
            <a:off x="9006840" y="3054096"/>
            <a:ext cx="2606040" cy="731520"/>
          </a:xfrm>
          <a:prstGeom prst="rect">
            <a:avLst/>
          </a:prstGeom>
          <a:noFill/>
        </p:spPr>
        <p:txBody>
          <a:bodyPr wrap="square" anchor="t" lIns="0" rIns="0" tIns="0" bIns="0">
            <a:spAutoFit/>
          </a:bodyPr>
          <a:lstStyle/>
          <a:p>
            <a:pPr algn="l">
              <a:lnSpc>
                <a:spcPct val="110000"/>
              </a:lnSpc>
            </a:pPr>
            <a:r>
              <a:rPr sz="1100" b="0" i="0">
                <a:solidFill>
                  <a:srgbClr val="1F1E1D"/>
                </a:solidFill>
                <a:latin typeface="Helvetica Neue"/>
              </a:rPr>
              <a:t>Out of stealth: $40M seed led by DCVC</a:t>
            </a:r>
          </a:p>
        </p:txBody>
      </p:sp>
      <p:sp>
        <p:nvSpPr>
          <p:cNvPr id="14" name="TextBox 13"/>
          <p:cNvSpPr txBox="1"/>
          <p:nvPr/>
        </p:nvSpPr>
        <p:spPr>
          <a:xfrm>
            <a:off x="7543800" y="3822191"/>
            <a:ext cx="1417320" cy="548640"/>
          </a:xfrm>
          <a:prstGeom prst="rect">
            <a:avLst/>
          </a:prstGeom>
          <a:noFill/>
        </p:spPr>
        <p:txBody>
          <a:bodyPr wrap="square" anchor="t" lIns="0" rIns="0" tIns="0" bIns="0">
            <a:spAutoFit/>
          </a:bodyPr>
          <a:lstStyle/>
          <a:p>
            <a:pPr algn="l">
              <a:lnSpc>
                <a:spcPct val="100000"/>
              </a:lnSpc>
            </a:pPr>
            <a:r>
              <a:rPr sz="1100" b="1" i="0">
                <a:solidFill>
                  <a:srgbClr val="BD5D3A"/>
                </a:solidFill>
                <a:latin typeface="Helvetica Neue"/>
              </a:rPr>
              <a:t>Oct 9, 2026</a:t>
            </a:r>
          </a:p>
        </p:txBody>
      </p:sp>
      <p:sp>
        <p:nvSpPr>
          <p:cNvPr id="15" name="TextBox 14"/>
          <p:cNvSpPr txBox="1"/>
          <p:nvPr/>
        </p:nvSpPr>
        <p:spPr>
          <a:xfrm>
            <a:off x="9006840" y="3822191"/>
            <a:ext cx="2606040" cy="731520"/>
          </a:xfrm>
          <a:prstGeom prst="rect">
            <a:avLst/>
          </a:prstGeom>
          <a:noFill/>
        </p:spPr>
        <p:txBody>
          <a:bodyPr wrap="square" anchor="t" lIns="0" rIns="0" tIns="0" bIns="0">
            <a:spAutoFit/>
          </a:bodyPr>
          <a:lstStyle/>
          <a:p>
            <a:pPr algn="l">
              <a:lnSpc>
                <a:spcPct val="110000"/>
              </a:lnSpc>
            </a:pPr>
            <a:r>
              <a:rPr sz="1100" b="0" i="0">
                <a:solidFill>
                  <a:srgbClr val="1F1E1D"/>
                </a:solidFill>
                <a:latin typeface="Helvetica Neue"/>
              </a:rPr>
              <a:t>Reported: $870M Series A at $7.5B valuation led by a16z (Bloomberg)</a:t>
            </a:r>
          </a:p>
        </p:txBody>
      </p:sp>
      <p:sp>
        <p:nvSpPr>
          <p:cNvPr id="16" name="TextBox 15"/>
          <p:cNvSpPr txBox="1"/>
          <p:nvPr/>
        </p:nvSpPr>
        <p:spPr>
          <a:xfrm>
            <a:off x="7543800" y="4590288"/>
            <a:ext cx="1417320" cy="548640"/>
          </a:xfrm>
          <a:prstGeom prst="rect">
            <a:avLst/>
          </a:prstGeom>
          <a:noFill/>
        </p:spPr>
        <p:txBody>
          <a:bodyPr wrap="square" anchor="t" lIns="0" rIns="0" tIns="0" bIns="0">
            <a:spAutoFit/>
          </a:bodyPr>
          <a:lstStyle/>
          <a:p>
            <a:pPr algn="l">
              <a:lnSpc>
                <a:spcPct val="100000"/>
              </a:lnSpc>
            </a:pPr>
            <a:r>
              <a:rPr sz="1100" b="1" i="0">
                <a:solidFill>
                  <a:srgbClr val="BD5D3A"/>
                </a:solidFill>
                <a:latin typeface="Helvetica Neue"/>
              </a:rPr>
              <a:t>Oct 14, 2026</a:t>
            </a:r>
          </a:p>
        </p:txBody>
      </p:sp>
      <p:sp>
        <p:nvSpPr>
          <p:cNvPr id="17" name="TextBox 16"/>
          <p:cNvSpPr txBox="1"/>
          <p:nvPr/>
        </p:nvSpPr>
        <p:spPr>
          <a:xfrm>
            <a:off x="9006840" y="4590288"/>
            <a:ext cx="2606040" cy="731520"/>
          </a:xfrm>
          <a:prstGeom prst="rect">
            <a:avLst/>
          </a:prstGeom>
          <a:noFill/>
        </p:spPr>
        <p:txBody>
          <a:bodyPr wrap="square" anchor="t" lIns="0" rIns="0" tIns="0" bIns="0">
            <a:spAutoFit/>
          </a:bodyPr>
          <a:lstStyle/>
          <a:p>
            <a:pPr algn="l">
              <a:lnSpc>
                <a:spcPct val="110000"/>
              </a:lnSpc>
            </a:pPr>
            <a:r>
              <a:rPr sz="1100" b="0" i="0">
                <a:solidFill>
                  <a:srgbClr val="1F1E1D"/>
                </a:solidFill>
                <a:latin typeface="Helvetica Neue"/>
              </a:rPr>
              <a:t>Jev 1.14 ships as jev-preview: images, Box, 262k long context</a:t>
            </a:r>
          </a:p>
        </p:txBody>
      </p:sp>
      <p:sp>
        <p:nvSpPr>
          <p:cNvPr id="18" name="TextBox 17"/>
          <p:cNvSpPr txBox="1"/>
          <p:nvPr/>
        </p:nvSpPr>
        <p:spPr>
          <a:xfrm>
            <a:off x="7543800" y="5358383"/>
            <a:ext cx="1417320" cy="548640"/>
          </a:xfrm>
          <a:prstGeom prst="rect">
            <a:avLst/>
          </a:prstGeom>
          <a:noFill/>
        </p:spPr>
        <p:txBody>
          <a:bodyPr wrap="square" anchor="t" lIns="0" rIns="0" tIns="0" bIns="0">
            <a:spAutoFit/>
          </a:bodyPr>
          <a:lstStyle/>
          <a:p>
            <a:pPr algn="l">
              <a:lnSpc>
                <a:spcPct val="100000"/>
              </a:lnSpc>
            </a:pPr>
            <a:r>
              <a:rPr sz="1100" b="1" i="0">
                <a:solidFill>
                  <a:srgbClr val="BD5D3A"/>
                </a:solidFill>
                <a:latin typeface="Helvetica Neue"/>
              </a:rPr>
              <a:t>~Oct 21, 2026</a:t>
            </a:r>
          </a:p>
        </p:txBody>
      </p:sp>
      <p:sp>
        <p:nvSpPr>
          <p:cNvPr id="19" name="TextBox 18"/>
          <p:cNvSpPr txBox="1"/>
          <p:nvPr/>
        </p:nvSpPr>
        <p:spPr>
          <a:xfrm>
            <a:off x="9006840" y="5358383"/>
            <a:ext cx="2606040" cy="731520"/>
          </a:xfrm>
          <a:prstGeom prst="rect">
            <a:avLst/>
          </a:prstGeom>
          <a:noFill/>
        </p:spPr>
        <p:txBody>
          <a:bodyPr wrap="square" anchor="t" lIns="0" rIns="0" tIns="0" bIns="0">
            <a:spAutoFit/>
          </a:bodyPr>
          <a:lstStyle/>
          <a:p>
            <a:pPr algn="l">
              <a:lnSpc>
                <a:spcPct val="110000"/>
              </a:lnSpc>
            </a:pPr>
            <a:r>
              <a:rPr sz="1100" b="0" i="0">
                <a:solidFill>
                  <a:srgbClr val="1F1E1D"/>
                </a:solidFill>
                <a:latin typeface="Helvetica Neue"/>
              </a:rPr>
              <a:t>jev-latest alias scheduled to move to 1.14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9</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1  |  THE BUZZ, BOTH SIDES</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Traction is real. So are the caveats.</a:t>
            </a:r>
          </a:p>
        </p:txBody>
      </p:sp>
      <p:sp>
        <p:nvSpPr>
          <p:cNvPr id="7" name="Rounded Rectangle 6"/>
          <p:cNvSpPr/>
          <p:nvPr/>
        </p:nvSpPr>
        <p:spPr>
          <a:xfrm>
            <a:off x="502920" y="1554480"/>
            <a:ext cx="5486400" cy="448056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37360"/>
            <a:ext cx="4572000" cy="365760"/>
          </a:xfrm>
          <a:prstGeom prst="rect">
            <a:avLst/>
          </a:prstGeom>
          <a:noFill/>
        </p:spPr>
        <p:txBody>
          <a:bodyPr wrap="square" anchor="t" lIns="0" rIns="0" tIns="0" bIns="0">
            <a:spAutoFit/>
          </a:bodyPr>
          <a:lstStyle/>
          <a:p>
            <a:pPr algn="l">
              <a:lnSpc>
                <a:spcPct val="100000"/>
              </a:lnSpc>
            </a:pPr>
            <a:r>
              <a:rPr sz="1600" b="1" i="0">
                <a:solidFill>
                  <a:srgbClr val="7D8B6A"/>
                </a:solidFill>
                <a:latin typeface="Georgia"/>
              </a:rPr>
              <a:t>Signal</a:t>
            </a:r>
          </a:p>
        </p:txBody>
      </p:sp>
      <p:sp>
        <p:nvSpPr>
          <p:cNvPr id="9" name="TextBox 8"/>
          <p:cNvSpPr txBox="1"/>
          <p:nvPr/>
        </p:nvSpPr>
        <p:spPr>
          <a:xfrm>
            <a:off x="731520" y="2194560"/>
            <a:ext cx="5029200" cy="5486400"/>
          </a:xfrm>
          <a:prstGeom prst="rect">
            <a:avLst/>
          </a:prstGeom>
          <a:noFill/>
        </p:spPr>
        <p:txBody>
          <a:bodyPr wrap="square" anchor="t" lIns="0" rIns="0" tIns="0" bIns="0">
            <a:spAutoFit/>
          </a:bodyPr>
          <a:lstStyle/>
          <a:p>
            <a:pPr algn="l">
              <a:lnSpc>
                <a:spcPct val="108000"/>
              </a:lnSpc>
              <a:spcAft>
                <a:spcPts val="1000"/>
              </a:spcAft>
            </a:pPr>
            <a:r>
              <a:rPr sz="1350" b="1" i="0">
                <a:solidFill>
                  <a:srgbClr val="7D8B6A"/>
                </a:solidFill>
                <a:latin typeface="Helvetica Neue"/>
              </a:rPr>
              <a:t>–  </a:t>
            </a:r>
            <a:r>
              <a:rPr sz="1350" b="1" i="0">
                <a:solidFill>
                  <a:srgbClr val="1F1E1D"/>
                </a:solidFill>
                <a:latin typeface="Helvetica Neue"/>
              </a:rPr>
              <a:t>Adoption: </a:t>
            </a:r>
            <a:r>
              <a:rPr sz="1350" b="0" i="0">
                <a:solidFill>
                  <a:srgbClr val="1F1E1D"/>
                </a:solidFill>
                <a:latin typeface="Helvetica Neue"/>
              </a:rPr>
              <a:t>~13% of Vercel paid teams tried it within 24h of launch, about 2x GPT-5.6-family uptake (InfoQ, Oct 2026).</a:t>
            </a:r>
          </a:p>
          <a:p>
            <a:pPr algn="l">
              <a:lnSpc>
                <a:spcPct val="108000"/>
              </a:lnSpc>
              <a:spcAft>
                <a:spcPts val="1000"/>
              </a:spcAft>
            </a:pPr>
            <a:r>
              <a:rPr sz="1350" b="1" i="0">
                <a:solidFill>
                  <a:srgbClr val="7D8B6A"/>
                </a:solidFill>
                <a:latin typeface="Helvetica Neue"/>
              </a:rPr>
              <a:t>–  </a:t>
            </a:r>
            <a:r>
              <a:rPr sz="1350" b="1" i="0">
                <a:solidFill>
                  <a:srgbClr val="1F1E1D"/>
                </a:solidFill>
                <a:latin typeface="Helvetica Neue"/>
              </a:rPr>
              <a:t>Measured by users: </a:t>
            </a:r>
            <a:r>
              <a:rPr sz="1350" b="0" i="0">
                <a:solidFill>
                  <a:srgbClr val="1F1E1D"/>
                </a:solidFill>
                <a:latin typeface="Helvetica Neue"/>
              </a:rPr>
              <a:t>median 7x speedup and 30x cost savings; 76 ms median latency across 12.7k analyzed posts (OpenChamber via InfoQ).</a:t>
            </a:r>
          </a:p>
          <a:p>
            <a:pPr algn="l">
              <a:lnSpc>
                <a:spcPct val="108000"/>
              </a:lnSpc>
              <a:spcAft>
                <a:spcPts val="1000"/>
              </a:spcAft>
            </a:pPr>
            <a:r>
              <a:rPr sz="1350" b="1" i="0">
                <a:solidFill>
                  <a:srgbClr val="7D8B6A"/>
                </a:solidFill>
                <a:latin typeface="Helvetica Neue"/>
              </a:rPr>
              <a:t>–  </a:t>
            </a:r>
            <a:r>
              <a:rPr sz="1350" b="1" i="0">
                <a:solidFill>
                  <a:srgbClr val="1F1E1D"/>
                </a:solidFill>
                <a:latin typeface="Helvetica Neue"/>
              </a:rPr>
              <a:t>The demo everyone shared: </a:t>
            </a:r>
            <a:r>
              <a:rPr sz="1350" b="0" i="0">
                <a:solidFill>
                  <a:srgbClr val="1F1E1D"/>
                </a:solidFill>
                <a:latin typeface="Helvetica Neue"/>
              </a:rPr>
              <a:t>Jev playing Doom from structured game state; 0.114 s vs 8.566 s for GPT-5.6 Terra on the same decision (The Register).</a:t>
            </a:r>
          </a:p>
        </p:txBody>
      </p:sp>
      <p:sp>
        <p:nvSpPr>
          <p:cNvPr id="10" name="Rounded Rectangle 9"/>
          <p:cNvSpPr/>
          <p:nvPr/>
        </p:nvSpPr>
        <p:spPr>
          <a:xfrm>
            <a:off x="6263640" y="1554480"/>
            <a:ext cx="5486400" cy="448056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572000" cy="365760"/>
          </a:xfrm>
          <a:prstGeom prst="rect">
            <a:avLst/>
          </a:prstGeom>
          <a:noFill/>
        </p:spPr>
        <p:txBody>
          <a:bodyPr wrap="square" anchor="t" lIns="0" rIns="0" tIns="0" bIns="0">
            <a:spAutoFit/>
          </a:bodyPr>
          <a:lstStyle/>
          <a:p>
            <a:pPr algn="l">
              <a:lnSpc>
                <a:spcPct val="100000"/>
              </a:lnSpc>
            </a:pPr>
            <a:r>
              <a:rPr sz="1600" b="1" i="0">
                <a:solidFill>
                  <a:srgbClr val="BD5D3A"/>
                </a:solidFill>
                <a:latin typeface="Georgia"/>
              </a:rPr>
              <a:t>Noise control</a:t>
            </a:r>
          </a:p>
        </p:txBody>
      </p:sp>
      <p:sp>
        <p:nvSpPr>
          <p:cNvPr id="12" name="TextBox 11"/>
          <p:cNvSpPr txBox="1"/>
          <p:nvPr/>
        </p:nvSpPr>
        <p:spPr>
          <a:xfrm>
            <a:off x="6492240" y="2194560"/>
            <a:ext cx="5029200" cy="5486400"/>
          </a:xfrm>
          <a:prstGeom prst="rect">
            <a:avLst/>
          </a:prstGeom>
          <a:noFill/>
        </p:spPr>
        <p:txBody>
          <a:bodyPr wrap="square" anchor="t" lIns="0" rIns="0" tIns="0" bIns="0">
            <a:spAutoFit/>
          </a:bodyPr>
          <a:lstStyle/>
          <a:p>
            <a:pPr algn="l">
              <a:lnSpc>
                <a:spcPct val="108000"/>
              </a:lnSpc>
              <a:spcAft>
                <a:spcPts val="1000"/>
              </a:spcAft>
            </a:pPr>
            <a:r>
              <a:rPr sz="1350" b="1" i="0">
                <a:solidFill>
                  <a:srgbClr val="BD5D3A"/>
                </a:solidFill>
                <a:latin typeface="Helvetica Neue"/>
              </a:rPr>
              <a:t>–  </a:t>
            </a:r>
            <a:r>
              <a:rPr sz="1350" b="1" i="0">
                <a:solidFill>
                  <a:srgbClr val="1F1E1D"/>
                </a:solidFill>
                <a:latin typeface="Helvetica Neue"/>
              </a:rPr>
              <a:t>“No hallucinations” needs an asterisk. </a:t>
            </a:r>
            <a:r>
              <a:rPr sz="1350" b="0" i="0">
                <a:solidFill>
                  <a:srgbClr val="1F1E1D"/>
                </a:solidFill>
                <a:latin typeface="Helvetica Neue"/>
              </a:rPr>
              <a:t>It can still emit a confidently wrong valid value; it “delegates the hallucination problem to the user” (Armin Ronacher). Calibration is the mitigation, not magic.</a:t>
            </a:r>
          </a:p>
          <a:p>
            <a:pPr algn="l">
              <a:lnSpc>
                <a:spcPct val="108000"/>
              </a:lnSpc>
              <a:spcAft>
                <a:spcPts val="1000"/>
              </a:spcAft>
            </a:pPr>
            <a:r>
              <a:rPr sz="1350" b="1" i="0">
                <a:solidFill>
                  <a:srgbClr val="BD5D3A"/>
                </a:solidFill>
                <a:latin typeface="Helvetica Neue"/>
              </a:rPr>
              <a:t>–  </a:t>
            </a:r>
            <a:r>
              <a:rPr sz="1350" b="1" i="0">
                <a:solidFill>
                  <a:srgbClr val="1F1E1D"/>
                </a:solidFill>
                <a:latin typeface="Helvetica Neue"/>
              </a:rPr>
              <a:t>Adversarial input is a live concern. </a:t>
            </a:r>
            <a:r>
              <a:rPr sz="1350" b="0" i="0">
                <a:solidFill>
                  <a:srgbClr val="1F1E1D"/>
                </a:solidFill>
                <a:latin typeface="Helvetica Neue"/>
              </a:rPr>
              <a:t>HiddenLayer (Oct 16, 2026) reports Jev is more steerable by prompt injection than LLMs; TypeSafe's own jaggedness page agrees it does not treat state as hostile.</a:t>
            </a:r>
          </a:p>
          <a:p>
            <a:pPr algn="l">
              <a:lnSpc>
                <a:spcPct val="108000"/>
              </a:lnSpc>
              <a:spcAft>
                <a:spcPts val="1000"/>
              </a:spcAft>
            </a:pPr>
            <a:r>
              <a:rPr sz="1350" b="1" i="0">
                <a:solidFill>
                  <a:srgbClr val="BD5D3A"/>
                </a:solidFill>
                <a:latin typeface="Helvetica Neue"/>
              </a:rPr>
              <a:t>–  </a:t>
            </a:r>
            <a:r>
              <a:rPr sz="1350" b="1" i="0">
                <a:solidFill>
                  <a:srgbClr val="1F1E1D"/>
                </a:solidFill>
                <a:latin typeface="Helvetica Neue"/>
              </a:rPr>
              <a:t>Closed and new. </a:t>
            </a:r>
            <a:r>
              <a:rPr sz="1350" b="0" i="0">
                <a:solidFill>
                  <a:srgbClr val="1F1E1D"/>
                </a:solidFill>
                <a:latin typeface="Helvetica Neue"/>
              </a:rPr>
              <a:t>Hosted only, no open weights, versioning started at 1.13 three weeks ago. Pin versions, test on your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10</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FOUNDATIONS  |  ZERO ASSUMED KNOWLEDGE</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First, the basics: what is a model, actually?</a:t>
            </a:r>
          </a:p>
        </p:txBody>
      </p:sp>
      <p:sp>
        <p:nvSpPr>
          <p:cNvPr id="7" name="TextBox 6"/>
          <p:cNvSpPr txBox="1"/>
          <p:nvPr/>
        </p:nvSpPr>
        <p:spPr>
          <a:xfrm>
            <a:off x="502920" y="1645920"/>
            <a:ext cx="6035040" cy="5486400"/>
          </a:xfrm>
          <a:prstGeom prst="rect">
            <a:avLst/>
          </a:prstGeom>
          <a:noFill/>
        </p:spPr>
        <p:txBody>
          <a:bodyPr wrap="square" anchor="t" lIns="0" rIns="0" tIns="0" bIns="0">
            <a:spAutoFit/>
          </a:bodyPr>
          <a:lstStyle/>
          <a:p>
            <a:pPr algn="l">
              <a:lnSpc>
                <a:spcPct val="108000"/>
              </a:lnSpc>
              <a:spcAft>
                <a:spcPts val="1200"/>
              </a:spcAft>
            </a:pPr>
            <a:r>
              <a:rPr sz="1450" b="1" i="0">
                <a:solidFill>
                  <a:srgbClr val="D97757"/>
                </a:solidFill>
                <a:latin typeface="Helvetica Neue"/>
              </a:rPr>
              <a:t>–  </a:t>
            </a:r>
            <a:r>
              <a:rPr sz="1450" b="1" i="0">
                <a:solidFill>
                  <a:srgbClr val="1F1E1D"/>
                </a:solidFill>
                <a:latin typeface="Helvetica Neue"/>
              </a:rPr>
              <a:t>A model is a function with knobs. </a:t>
            </a:r>
            <a:r>
              <a:rPr sz="1450" b="0" i="0">
                <a:solidFill>
                  <a:srgbClr val="1F1E1D"/>
                </a:solidFill>
                <a:latin typeface="Helvetica Neue"/>
              </a:rPr>
              <a:t>Billions of adjustable numbers called parameters (or weights). Text goes in as tokens (word pieces), numbers flow through the knobs, an output comes out.</a:t>
            </a:r>
          </a:p>
          <a:p>
            <a:pPr algn="l">
              <a:lnSpc>
                <a:spcPct val="108000"/>
              </a:lnSpc>
              <a:spcAft>
                <a:spcPts val="1200"/>
              </a:spcAft>
            </a:pPr>
            <a:r>
              <a:rPr sz="1450" b="1" i="0">
                <a:solidFill>
                  <a:srgbClr val="D97757"/>
                </a:solidFill>
                <a:latin typeface="Helvetica Neue"/>
              </a:rPr>
              <a:t>–  </a:t>
            </a:r>
            <a:r>
              <a:rPr sz="1450" b="1" i="0">
                <a:solidFill>
                  <a:srgbClr val="1F1E1D"/>
                </a:solidFill>
                <a:latin typeface="Helvetica Neue"/>
              </a:rPr>
              <a:t>Training = turning the knobs. </a:t>
            </a:r>
            <a:r>
              <a:rPr sz="1450" b="0" i="0">
                <a:solidFill>
                  <a:srgbClr val="1F1E1D"/>
                </a:solidFill>
                <a:latin typeface="Helvetica Neue"/>
              </a:rPr>
              <a:t>Show the model an example, measure how wrong its output is, nudge every knob a tiny step in the direction that makes it less wrong. Repeat, trillions of times. That is gradient descent; nobody sets any knob by hand.</a:t>
            </a:r>
          </a:p>
          <a:p>
            <a:pPr algn="l">
              <a:lnSpc>
                <a:spcPct val="108000"/>
              </a:lnSpc>
              <a:spcAft>
                <a:spcPts val="1200"/>
              </a:spcAft>
            </a:pPr>
            <a:r>
              <a:rPr sz="1450" b="1" i="0">
                <a:solidFill>
                  <a:srgbClr val="D97757"/>
                </a:solidFill>
                <a:latin typeface="Helvetica Neue"/>
              </a:rPr>
              <a:t>–  </a:t>
            </a:r>
            <a:r>
              <a:rPr sz="1450" b="1" i="0">
                <a:solidFill>
                  <a:srgbClr val="1F1E1D"/>
                </a:solidFill>
                <a:latin typeface="Helvetica Neue"/>
              </a:rPr>
              <a:t>Pretraining </a:t>
            </a:r>
            <a:r>
              <a:rPr sz="1450" b="0" i="0">
                <a:solidFill>
                  <a:srgbClr val="1F1E1D"/>
                </a:solidFill>
                <a:latin typeface="Helvetica Neue"/>
              </a:rPr>
              <a:t>is that loop on a huge slice of the internet with one task: predict the next token. The result, a base model, is a brilliant text-continuer with no goal: not helpful, not safe, not decisive.</a:t>
            </a:r>
          </a:p>
          <a:p>
            <a:pPr algn="l">
              <a:lnSpc>
                <a:spcPct val="108000"/>
              </a:lnSpc>
              <a:spcAft>
                <a:spcPts val="1200"/>
              </a:spcAft>
            </a:pPr>
            <a:r>
              <a:rPr sz="1450" b="1" i="0">
                <a:solidFill>
                  <a:srgbClr val="D97757"/>
                </a:solidFill>
                <a:latin typeface="Helvetica Neue"/>
              </a:rPr>
              <a:t>–  </a:t>
            </a:r>
            <a:r>
              <a:rPr sz="1450" b="1" i="0">
                <a:solidFill>
                  <a:srgbClr val="1F1E1D"/>
                </a:solidFill>
                <a:latin typeface="Helvetica Neue"/>
              </a:rPr>
              <a:t>Post-training decides what it becomes. </a:t>
            </a:r>
            <a:r>
              <a:rPr sz="1450" b="0" i="0">
                <a:solidFill>
                  <a:srgbClr val="1F1E1D"/>
                </a:solidFill>
                <a:latin typeface="Helvetica Neue"/>
              </a:rPr>
              <a:t>The same base model can be turned into a chatbot, a reasoning engine, or a decision model, purely by what you reward next. That choice is the next three slides.</a:t>
            </a:r>
          </a:p>
        </p:txBody>
      </p:sp>
      <p:sp>
        <p:nvSpPr>
          <p:cNvPr id="8" name="Rounded Rectangle 7"/>
          <p:cNvSpPr/>
          <p:nvPr/>
        </p:nvSpPr>
        <p:spPr>
          <a:xfrm>
            <a:off x="6858000" y="1691640"/>
            <a:ext cx="2103120" cy="960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1764792"/>
            <a:ext cx="1828799" cy="274320"/>
          </a:xfrm>
          <a:prstGeom prst="rect">
            <a:avLst/>
          </a:prstGeom>
          <a:noFill/>
        </p:spPr>
        <p:txBody>
          <a:bodyPr wrap="square" anchor="t" lIns="0" rIns="0" tIns="0" bIns="0">
            <a:spAutoFit/>
          </a:bodyPr>
          <a:lstStyle/>
          <a:p>
            <a:pPr algn="l">
              <a:lnSpc>
                <a:spcPct val="100000"/>
              </a:lnSpc>
            </a:pPr>
            <a:r>
              <a:rPr sz="1250" b="1" i="0">
                <a:solidFill>
                  <a:srgbClr val="1F1E1D"/>
                </a:solidFill>
                <a:latin typeface="Helvetica Neue"/>
              </a:rPr>
              <a:t>1. example in</a:t>
            </a:r>
          </a:p>
        </p:txBody>
      </p:sp>
      <p:sp>
        <p:nvSpPr>
          <p:cNvPr id="10" name="TextBox 9"/>
          <p:cNvSpPr txBox="1"/>
          <p:nvPr/>
        </p:nvSpPr>
        <p:spPr>
          <a:xfrm>
            <a:off x="6995160" y="2075688"/>
            <a:ext cx="1828799" cy="502920"/>
          </a:xfrm>
          <a:prstGeom prst="rect">
            <a:avLst/>
          </a:prstGeom>
          <a:noFill/>
        </p:spPr>
        <p:txBody>
          <a:bodyPr wrap="square" anchor="t" lIns="0" rIns="0" tIns="0" bIns="0">
            <a:spAutoFit/>
          </a:bodyPr>
          <a:lstStyle/>
          <a:p>
            <a:pPr algn="l">
              <a:lnSpc>
                <a:spcPct val="110000"/>
              </a:lnSpc>
            </a:pPr>
            <a:r>
              <a:rPr sz="1050" b="0" i="0">
                <a:solidFill>
                  <a:srgbClr val="5E6B7A"/>
                </a:solidFill>
                <a:latin typeface="Helvetica Neue"/>
              </a:rPr>
              <a:t>“The capital of</a:t>
            </a:r>
          </a:p>
          <a:p>
            <a:pPr algn="l">
              <a:lnSpc>
                <a:spcPct val="110000"/>
              </a:lnSpc>
            </a:pPr>
            <a:r>
              <a:rPr sz="1050" b="0" i="0">
                <a:solidFill>
                  <a:srgbClr val="5E6B7A"/>
                </a:solidFill>
                <a:latin typeface="Helvetica Neue"/>
              </a:rPr>
              <a:t>France is …”</a:t>
            </a:r>
          </a:p>
        </p:txBody>
      </p:sp>
      <p:sp>
        <p:nvSpPr>
          <p:cNvPr id="11" name="Rectangle 10"/>
          <p:cNvSpPr/>
          <p:nvPr/>
        </p:nvSpPr>
        <p:spPr>
          <a:xfrm>
            <a:off x="9006840" y="2121408"/>
            <a:ext cx="36576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418320" y="1691640"/>
            <a:ext cx="2240280" cy="960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55480" y="1764792"/>
            <a:ext cx="1965960" cy="274320"/>
          </a:xfrm>
          <a:prstGeom prst="rect">
            <a:avLst/>
          </a:prstGeom>
          <a:noFill/>
        </p:spPr>
        <p:txBody>
          <a:bodyPr wrap="square" anchor="t" lIns="0" rIns="0" tIns="0" bIns="0">
            <a:spAutoFit/>
          </a:bodyPr>
          <a:lstStyle/>
          <a:p>
            <a:pPr algn="l">
              <a:lnSpc>
                <a:spcPct val="100000"/>
              </a:lnSpc>
            </a:pPr>
            <a:r>
              <a:rPr sz="1250" b="1" i="0">
                <a:solidFill>
                  <a:srgbClr val="1F1E1D"/>
                </a:solidFill>
                <a:latin typeface="Helvetica Neue"/>
              </a:rPr>
              <a:t>2. model</a:t>
            </a:r>
          </a:p>
        </p:txBody>
      </p:sp>
      <p:sp>
        <p:nvSpPr>
          <p:cNvPr id="14" name="TextBox 13"/>
          <p:cNvSpPr txBox="1"/>
          <p:nvPr/>
        </p:nvSpPr>
        <p:spPr>
          <a:xfrm>
            <a:off x="9555480" y="2075688"/>
            <a:ext cx="1965960" cy="502920"/>
          </a:xfrm>
          <a:prstGeom prst="rect">
            <a:avLst/>
          </a:prstGeom>
          <a:noFill/>
        </p:spPr>
        <p:txBody>
          <a:bodyPr wrap="square" anchor="t" lIns="0" rIns="0" tIns="0" bIns="0">
            <a:spAutoFit/>
          </a:bodyPr>
          <a:lstStyle/>
          <a:p>
            <a:pPr algn="l">
              <a:lnSpc>
                <a:spcPct val="110000"/>
              </a:lnSpc>
            </a:pPr>
            <a:r>
              <a:rPr sz="1050" b="0" i="0">
                <a:solidFill>
                  <a:srgbClr val="5E6B7A"/>
                </a:solidFill>
                <a:latin typeface="Helvetica Neue"/>
              </a:rPr>
              <a:t>billions of knobs</a:t>
            </a:r>
          </a:p>
          <a:p>
            <a:pPr algn="l">
              <a:lnSpc>
                <a:spcPct val="110000"/>
              </a:lnSpc>
            </a:pPr>
            <a:r>
              <a:rPr sz="1050" b="0" i="0">
                <a:solidFill>
                  <a:srgbClr val="5E6B7A"/>
                </a:solidFill>
                <a:latin typeface="Helvetica Neue"/>
              </a:rPr>
              <a:t>produce an output</a:t>
            </a:r>
          </a:p>
        </p:txBody>
      </p:sp>
      <p:sp>
        <p:nvSpPr>
          <p:cNvPr id="15" name="Rounded Rectangle 14"/>
          <p:cNvSpPr/>
          <p:nvPr/>
        </p:nvSpPr>
        <p:spPr>
          <a:xfrm>
            <a:off x="9418320" y="3017520"/>
            <a:ext cx="2240280" cy="960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55480" y="3090672"/>
            <a:ext cx="1965960" cy="274320"/>
          </a:xfrm>
          <a:prstGeom prst="rect">
            <a:avLst/>
          </a:prstGeom>
          <a:noFill/>
        </p:spPr>
        <p:txBody>
          <a:bodyPr wrap="square" anchor="t" lIns="0" rIns="0" tIns="0" bIns="0">
            <a:spAutoFit/>
          </a:bodyPr>
          <a:lstStyle/>
          <a:p>
            <a:pPr algn="l">
              <a:lnSpc>
                <a:spcPct val="100000"/>
              </a:lnSpc>
            </a:pPr>
            <a:r>
              <a:rPr sz="1250" b="1" i="0">
                <a:solidFill>
                  <a:srgbClr val="1F1E1D"/>
                </a:solidFill>
                <a:latin typeface="Helvetica Neue"/>
              </a:rPr>
              <a:t>3. compare</a:t>
            </a:r>
          </a:p>
        </p:txBody>
      </p:sp>
      <p:sp>
        <p:nvSpPr>
          <p:cNvPr id="17" name="TextBox 16"/>
          <p:cNvSpPr txBox="1"/>
          <p:nvPr/>
        </p:nvSpPr>
        <p:spPr>
          <a:xfrm>
            <a:off x="9555480" y="3401568"/>
            <a:ext cx="1965960" cy="502920"/>
          </a:xfrm>
          <a:prstGeom prst="rect">
            <a:avLst/>
          </a:prstGeom>
          <a:noFill/>
        </p:spPr>
        <p:txBody>
          <a:bodyPr wrap="square" anchor="t" lIns="0" rIns="0" tIns="0" bIns="0">
            <a:spAutoFit/>
          </a:bodyPr>
          <a:lstStyle/>
          <a:p>
            <a:pPr algn="l">
              <a:lnSpc>
                <a:spcPct val="110000"/>
              </a:lnSpc>
            </a:pPr>
            <a:r>
              <a:rPr sz="1050" b="0" i="0">
                <a:solidFill>
                  <a:srgbClr val="5E6B7A"/>
                </a:solidFill>
                <a:latin typeface="Helvetica Neue"/>
              </a:rPr>
              <a:t>output vs truth:</a:t>
            </a:r>
          </a:p>
          <a:p>
            <a:pPr algn="l">
              <a:lnSpc>
                <a:spcPct val="110000"/>
              </a:lnSpc>
            </a:pPr>
            <a:r>
              <a:rPr sz="1050" b="0" i="0">
                <a:solidFill>
                  <a:srgbClr val="5E6B7A"/>
                </a:solidFill>
                <a:latin typeface="Helvetica Neue"/>
              </a:rPr>
              <a:t>how wrong was it?</a:t>
            </a:r>
          </a:p>
        </p:txBody>
      </p:sp>
      <p:sp>
        <p:nvSpPr>
          <p:cNvPr id="18" name="Rectangle 17"/>
          <p:cNvSpPr/>
          <p:nvPr/>
        </p:nvSpPr>
        <p:spPr>
          <a:xfrm>
            <a:off x="10515600" y="2670048"/>
            <a:ext cx="54864" cy="3383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58000" y="3017520"/>
            <a:ext cx="2103120" cy="960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5160" y="3090672"/>
            <a:ext cx="1828799" cy="274320"/>
          </a:xfrm>
          <a:prstGeom prst="rect">
            <a:avLst/>
          </a:prstGeom>
          <a:noFill/>
        </p:spPr>
        <p:txBody>
          <a:bodyPr wrap="square" anchor="t" lIns="0" rIns="0" tIns="0" bIns="0">
            <a:spAutoFit/>
          </a:bodyPr>
          <a:lstStyle/>
          <a:p>
            <a:pPr algn="l">
              <a:lnSpc>
                <a:spcPct val="100000"/>
              </a:lnSpc>
            </a:pPr>
            <a:r>
              <a:rPr sz="1250" b="1" i="0">
                <a:solidFill>
                  <a:srgbClr val="1F1E1D"/>
                </a:solidFill>
                <a:latin typeface="Helvetica Neue"/>
              </a:rPr>
              <a:t>4. nudge knobs</a:t>
            </a:r>
          </a:p>
        </p:txBody>
      </p:sp>
      <p:sp>
        <p:nvSpPr>
          <p:cNvPr id="21" name="TextBox 20"/>
          <p:cNvSpPr txBox="1"/>
          <p:nvPr/>
        </p:nvSpPr>
        <p:spPr>
          <a:xfrm>
            <a:off x="6995160" y="3401568"/>
            <a:ext cx="1828799" cy="502920"/>
          </a:xfrm>
          <a:prstGeom prst="rect">
            <a:avLst/>
          </a:prstGeom>
          <a:noFill/>
        </p:spPr>
        <p:txBody>
          <a:bodyPr wrap="square" anchor="t" lIns="0" rIns="0" tIns="0" bIns="0">
            <a:spAutoFit/>
          </a:bodyPr>
          <a:lstStyle/>
          <a:p>
            <a:pPr algn="l">
              <a:lnSpc>
                <a:spcPct val="110000"/>
              </a:lnSpc>
            </a:pPr>
            <a:r>
              <a:rPr sz="1050" b="0" i="0">
                <a:solidFill>
                  <a:srgbClr val="5E6B7A"/>
                </a:solidFill>
                <a:latin typeface="Helvetica Neue"/>
              </a:rPr>
              <a:t>every parameter</a:t>
            </a:r>
          </a:p>
          <a:p>
            <a:pPr algn="l">
              <a:lnSpc>
                <a:spcPct val="110000"/>
              </a:lnSpc>
            </a:pPr>
            <a:r>
              <a:rPr sz="1050" b="0" i="0">
                <a:solidFill>
                  <a:srgbClr val="5E6B7A"/>
                </a:solidFill>
                <a:latin typeface="Helvetica Neue"/>
              </a:rPr>
              <a:t>moves a tiny step</a:t>
            </a:r>
          </a:p>
        </p:txBody>
      </p:sp>
      <p:sp>
        <p:nvSpPr>
          <p:cNvPr id="22" name="Rectangle 21"/>
          <p:cNvSpPr/>
          <p:nvPr/>
        </p:nvSpPr>
        <p:spPr>
          <a:xfrm>
            <a:off x="9006840" y="3447288"/>
            <a:ext cx="36576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63840" y="2670048"/>
            <a:ext cx="54864" cy="3383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4114800"/>
            <a:ext cx="4754880" cy="274320"/>
          </a:xfrm>
          <a:prstGeom prst="rect">
            <a:avLst/>
          </a:prstGeom>
          <a:noFill/>
        </p:spPr>
        <p:txBody>
          <a:bodyPr wrap="square" anchor="t" lIns="0" rIns="0" tIns="0" bIns="0">
            <a:spAutoFit/>
          </a:bodyPr>
          <a:lstStyle/>
          <a:p>
            <a:pPr algn="ctr">
              <a:lnSpc>
                <a:spcPct val="100000"/>
              </a:lnSpc>
            </a:pPr>
            <a:r>
              <a:rPr sz="1100" b="0" i="1">
                <a:solidFill>
                  <a:srgbClr val="8A8780"/>
                </a:solidFill>
                <a:latin typeface="Helvetica Neue"/>
              </a:rPr>
              <a:t>repeat ~trillions of times</a:t>
            </a:r>
          </a:p>
        </p:txBody>
      </p:sp>
      <p:sp>
        <p:nvSpPr>
          <p:cNvPr id="25" name="Rounded Rectangle 24"/>
          <p:cNvSpPr/>
          <p:nvPr/>
        </p:nvSpPr>
        <p:spPr>
          <a:xfrm>
            <a:off x="6858000" y="4617720"/>
            <a:ext cx="4800600" cy="1325880"/>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86600" y="4754880"/>
            <a:ext cx="4389120" cy="274320"/>
          </a:xfrm>
          <a:prstGeom prst="rect">
            <a:avLst/>
          </a:prstGeom>
          <a:noFill/>
        </p:spPr>
        <p:txBody>
          <a:bodyPr wrap="square" anchor="t" lIns="0" rIns="0" tIns="0" bIns="0">
            <a:spAutoFit/>
          </a:bodyPr>
          <a:lstStyle/>
          <a:p>
            <a:pPr algn="l">
              <a:lnSpc>
                <a:spcPct val="100000"/>
              </a:lnSpc>
            </a:pPr>
            <a:r>
              <a:rPr sz="1250" b="1" i="0">
                <a:solidFill>
                  <a:srgbClr val="F0EEE6"/>
                </a:solidFill>
                <a:latin typeface="Georgia"/>
              </a:rPr>
              <a:t>The whole secret of 'training'</a:t>
            </a:r>
          </a:p>
        </p:txBody>
      </p:sp>
      <p:sp>
        <p:nvSpPr>
          <p:cNvPr id="27" name="TextBox 26"/>
          <p:cNvSpPr txBox="1"/>
          <p:nvPr/>
        </p:nvSpPr>
        <p:spPr>
          <a:xfrm>
            <a:off x="7086600" y="5074920"/>
            <a:ext cx="4389120" cy="822960"/>
          </a:xfrm>
          <a:prstGeom prst="rect">
            <a:avLst/>
          </a:prstGeom>
          <a:noFill/>
        </p:spPr>
        <p:txBody>
          <a:bodyPr wrap="square" anchor="t" lIns="0" rIns="0" tIns="0" bIns="0">
            <a:spAutoFit/>
          </a:bodyPr>
          <a:lstStyle/>
          <a:p>
            <a:pPr algn="l">
              <a:lnSpc>
                <a:spcPct val="115000"/>
              </a:lnSpc>
            </a:pPr>
            <a:r>
              <a:rPr sz="1150" b="0" i="0">
                <a:solidFill>
                  <a:srgbClr val="EDEAE3"/>
                </a:solidFill>
                <a:latin typeface="Helvetica Neue"/>
              </a:rPr>
              <a:t>is choosing WHAT counts as 'wrong' in step 3. Change the definition of wrong, and the same loop produces a completely different animal.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11</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FOUNDATIONS  |  RECIPE 1 OF 3</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How RLHF actually works (the chatbot recipe)</a:t>
            </a:r>
          </a:p>
        </p:txBody>
      </p:sp>
      <p:sp>
        <p:nvSpPr>
          <p:cNvPr id="7" name="Rounded Rectangle 6"/>
          <p:cNvSpPr/>
          <p:nvPr/>
        </p:nvSpPr>
        <p:spPr>
          <a:xfrm>
            <a:off x="502920" y="1600200"/>
            <a:ext cx="3611880" cy="30175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783080"/>
            <a:ext cx="347472"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1</a:t>
            </a:r>
          </a:p>
        </p:txBody>
      </p:sp>
      <p:sp>
        <p:nvSpPr>
          <p:cNvPr id="9" name="TextBox 8"/>
          <p:cNvSpPr txBox="1"/>
          <p:nvPr/>
        </p:nvSpPr>
        <p:spPr>
          <a:xfrm>
            <a:off x="1161288" y="1801368"/>
            <a:ext cx="2834640" cy="594360"/>
          </a:xfrm>
          <a:prstGeom prst="rect">
            <a:avLst/>
          </a:prstGeom>
          <a:noFill/>
        </p:spPr>
        <p:txBody>
          <a:bodyPr wrap="square" anchor="t" lIns="0" rIns="0" tIns="0" bIns="0">
            <a:spAutoFit/>
          </a:bodyPr>
          <a:lstStyle/>
          <a:p>
            <a:pPr algn="l">
              <a:lnSpc>
                <a:spcPct val="100000"/>
              </a:lnSpc>
            </a:pPr>
            <a:r>
              <a:rPr sz="1350" b="1" i="0">
                <a:solidFill>
                  <a:srgbClr val="1F1E1D"/>
                </a:solidFill>
                <a:latin typeface="Georgia"/>
              </a:rPr>
              <a:t>collect human preferences</a:t>
            </a:r>
          </a:p>
        </p:txBody>
      </p:sp>
      <p:sp>
        <p:nvSpPr>
          <p:cNvPr id="10" name="TextBox 9"/>
          <p:cNvSpPr txBox="1"/>
          <p:nvPr/>
        </p:nvSpPr>
        <p:spPr>
          <a:xfrm>
            <a:off x="685800" y="2468880"/>
            <a:ext cx="3246120" cy="1554480"/>
          </a:xfrm>
          <a:prstGeom prst="rect">
            <a:avLst/>
          </a:prstGeom>
          <a:noFill/>
        </p:spPr>
        <p:txBody>
          <a:bodyPr wrap="square" anchor="t" lIns="0" rIns="0" tIns="0" bIns="0">
            <a:spAutoFit/>
          </a:bodyPr>
          <a:lstStyle/>
          <a:p>
            <a:pPr algn="l">
              <a:lnSpc>
                <a:spcPct val="118000"/>
              </a:lnSpc>
            </a:pPr>
            <a:r>
              <a:rPr sz="1200" b="0" i="0">
                <a:solidFill>
                  <a:srgbClr val="1F1E1D"/>
                </a:solidFill>
                <a:latin typeface="Helvetica Neue"/>
              </a:rPr>
              <a:t>Give the model one prompt, sample two answers, A and B. A human picks the one they like better. Do this tens of thousands of times.</a:t>
            </a:r>
          </a:p>
        </p:txBody>
      </p:sp>
      <p:sp>
        <p:nvSpPr>
          <p:cNvPr id="11" name="TextBox 10"/>
          <p:cNvSpPr txBox="1"/>
          <p:nvPr/>
        </p:nvSpPr>
        <p:spPr>
          <a:xfrm>
            <a:off x="685800" y="4114800"/>
            <a:ext cx="3246120" cy="365760"/>
          </a:xfrm>
          <a:prstGeom prst="rect">
            <a:avLst/>
          </a:prstGeom>
          <a:noFill/>
        </p:spPr>
        <p:txBody>
          <a:bodyPr wrap="square" anchor="t" lIns="0" rIns="0" tIns="0" bIns="0">
            <a:spAutoFit/>
          </a:bodyPr>
          <a:lstStyle/>
          <a:p>
            <a:pPr algn="l">
              <a:lnSpc>
                <a:spcPct val="100000"/>
              </a:lnSpc>
            </a:pPr>
            <a:r>
              <a:rPr sz="1000" b="0" i="0">
                <a:solidFill>
                  <a:srgbClr val="BD5D3A"/>
                </a:solidFill>
                <a:latin typeface="Menlo"/>
              </a:rPr>
              <a:t>prompt -&gt; answer A vs answer B -&gt; 'B is better'</a:t>
            </a:r>
          </a:p>
        </p:txBody>
      </p:sp>
      <p:sp>
        <p:nvSpPr>
          <p:cNvPr id="12" name="Rounded Rectangle 11"/>
          <p:cNvSpPr/>
          <p:nvPr/>
        </p:nvSpPr>
        <p:spPr>
          <a:xfrm>
            <a:off x="4325112" y="1600200"/>
            <a:ext cx="3611880" cy="30175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07992" y="1783080"/>
            <a:ext cx="347472"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2</a:t>
            </a:r>
          </a:p>
        </p:txBody>
      </p:sp>
      <p:sp>
        <p:nvSpPr>
          <p:cNvPr id="14" name="TextBox 13"/>
          <p:cNvSpPr txBox="1"/>
          <p:nvPr/>
        </p:nvSpPr>
        <p:spPr>
          <a:xfrm>
            <a:off x="4983479" y="1801368"/>
            <a:ext cx="2834640" cy="594360"/>
          </a:xfrm>
          <a:prstGeom prst="rect">
            <a:avLst/>
          </a:prstGeom>
          <a:noFill/>
        </p:spPr>
        <p:txBody>
          <a:bodyPr wrap="square" anchor="t" lIns="0" rIns="0" tIns="0" bIns="0">
            <a:spAutoFit/>
          </a:bodyPr>
          <a:lstStyle/>
          <a:p>
            <a:pPr algn="l">
              <a:lnSpc>
                <a:spcPct val="100000"/>
              </a:lnSpc>
            </a:pPr>
            <a:r>
              <a:rPr sz="1350" b="1" i="0">
                <a:solidFill>
                  <a:srgbClr val="1F1E1D"/>
                </a:solidFill>
                <a:latin typeface="Georgia"/>
              </a:rPr>
              <a:t>train a taste model</a:t>
            </a:r>
          </a:p>
        </p:txBody>
      </p:sp>
      <p:sp>
        <p:nvSpPr>
          <p:cNvPr id="15" name="TextBox 14"/>
          <p:cNvSpPr txBox="1"/>
          <p:nvPr/>
        </p:nvSpPr>
        <p:spPr>
          <a:xfrm>
            <a:off x="4507992" y="2468880"/>
            <a:ext cx="3246120" cy="1554480"/>
          </a:xfrm>
          <a:prstGeom prst="rect">
            <a:avLst/>
          </a:prstGeom>
          <a:noFill/>
        </p:spPr>
        <p:txBody>
          <a:bodyPr wrap="square" anchor="t" lIns="0" rIns="0" tIns="0" bIns="0">
            <a:spAutoFit/>
          </a:bodyPr>
          <a:lstStyle/>
          <a:p>
            <a:pPr algn="l">
              <a:lnSpc>
                <a:spcPct val="118000"/>
              </a:lnSpc>
            </a:pPr>
            <a:r>
              <a:rPr sz="1200" b="0" i="0">
                <a:solidFill>
                  <a:srgbClr val="1F1E1D"/>
                </a:solidFill>
                <a:latin typeface="Helvetica Neue"/>
              </a:rPr>
              <a:t>Train a second model, the reward model, to predict which answer the human would prefer. It becomes a cheap, automatic judge of 'what people like'.</a:t>
            </a:r>
          </a:p>
        </p:txBody>
      </p:sp>
      <p:sp>
        <p:nvSpPr>
          <p:cNvPr id="16" name="TextBox 15"/>
          <p:cNvSpPr txBox="1"/>
          <p:nvPr/>
        </p:nvSpPr>
        <p:spPr>
          <a:xfrm>
            <a:off x="4507992" y="4114800"/>
            <a:ext cx="3246120" cy="365760"/>
          </a:xfrm>
          <a:prstGeom prst="rect">
            <a:avLst/>
          </a:prstGeom>
          <a:noFill/>
        </p:spPr>
        <p:txBody>
          <a:bodyPr wrap="square" anchor="t" lIns="0" rIns="0" tIns="0" bIns="0">
            <a:spAutoFit/>
          </a:bodyPr>
          <a:lstStyle/>
          <a:p>
            <a:pPr algn="l">
              <a:lnSpc>
                <a:spcPct val="100000"/>
              </a:lnSpc>
            </a:pPr>
            <a:r>
              <a:rPr sz="1000" b="0" i="0">
                <a:solidFill>
                  <a:srgbClr val="BD5D3A"/>
                </a:solidFill>
                <a:latin typeface="Menlo"/>
              </a:rPr>
              <a:t>answer -&gt; reward model -&gt; score 0.87</a:t>
            </a:r>
          </a:p>
        </p:txBody>
      </p:sp>
      <p:sp>
        <p:nvSpPr>
          <p:cNvPr id="17" name="Rounded Rectangle 16"/>
          <p:cNvSpPr/>
          <p:nvPr/>
        </p:nvSpPr>
        <p:spPr>
          <a:xfrm>
            <a:off x="8147304" y="1600200"/>
            <a:ext cx="3611880" cy="30175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30183" y="1783080"/>
            <a:ext cx="347472"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3</a:t>
            </a:r>
          </a:p>
        </p:txBody>
      </p:sp>
      <p:sp>
        <p:nvSpPr>
          <p:cNvPr id="19" name="TextBox 18"/>
          <p:cNvSpPr txBox="1"/>
          <p:nvPr/>
        </p:nvSpPr>
        <p:spPr>
          <a:xfrm>
            <a:off x="8805672" y="1801368"/>
            <a:ext cx="2834640" cy="594360"/>
          </a:xfrm>
          <a:prstGeom prst="rect">
            <a:avLst/>
          </a:prstGeom>
          <a:noFill/>
        </p:spPr>
        <p:txBody>
          <a:bodyPr wrap="square" anchor="t" lIns="0" rIns="0" tIns="0" bIns="0">
            <a:spAutoFit/>
          </a:bodyPr>
          <a:lstStyle/>
          <a:p>
            <a:pPr algn="l">
              <a:lnSpc>
                <a:spcPct val="100000"/>
              </a:lnSpc>
            </a:pPr>
            <a:r>
              <a:rPr sz="1350" b="1" i="0">
                <a:solidFill>
                  <a:srgbClr val="1F1E1D"/>
                </a:solidFill>
                <a:latin typeface="Georgia"/>
              </a:rPr>
              <a:t>optimize against taste</a:t>
            </a:r>
          </a:p>
        </p:txBody>
      </p:sp>
      <p:sp>
        <p:nvSpPr>
          <p:cNvPr id="20" name="TextBox 19"/>
          <p:cNvSpPr txBox="1"/>
          <p:nvPr/>
        </p:nvSpPr>
        <p:spPr>
          <a:xfrm>
            <a:off x="8330183" y="2468880"/>
            <a:ext cx="3246120" cy="1554480"/>
          </a:xfrm>
          <a:prstGeom prst="rect">
            <a:avLst/>
          </a:prstGeom>
          <a:noFill/>
        </p:spPr>
        <p:txBody>
          <a:bodyPr wrap="square" anchor="t" lIns="0" rIns="0" tIns="0" bIns="0">
            <a:spAutoFit/>
          </a:bodyPr>
          <a:lstStyle/>
          <a:p>
            <a:pPr algn="l">
              <a:lnSpc>
                <a:spcPct val="118000"/>
              </a:lnSpc>
            </a:pPr>
            <a:r>
              <a:rPr sz="1200" b="0" i="0">
                <a:solidFill>
                  <a:srgbClr val="1F1E1D"/>
                </a:solidFill>
                <a:latin typeface="Helvetica Neue"/>
              </a:rPr>
              <a:t>The chatbot generates, the reward model scores, and every knob is nudged toward higher-scoring answers (the RL part, usually PPO). Loop until the model reliably produces what people prefer.</a:t>
            </a:r>
          </a:p>
        </p:txBody>
      </p:sp>
      <p:sp>
        <p:nvSpPr>
          <p:cNvPr id="21" name="TextBox 20"/>
          <p:cNvSpPr txBox="1"/>
          <p:nvPr/>
        </p:nvSpPr>
        <p:spPr>
          <a:xfrm>
            <a:off x="8330183" y="4114800"/>
            <a:ext cx="3246120" cy="365760"/>
          </a:xfrm>
          <a:prstGeom prst="rect">
            <a:avLst/>
          </a:prstGeom>
          <a:noFill/>
        </p:spPr>
        <p:txBody>
          <a:bodyPr wrap="square" anchor="t" lIns="0" rIns="0" tIns="0" bIns="0">
            <a:spAutoFit/>
          </a:bodyPr>
          <a:lstStyle/>
          <a:p>
            <a:pPr algn="l">
              <a:lnSpc>
                <a:spcPct val="100000"/>
              </a:lnSpc>
            </a:pPr>
            <a:r>
              <a:rPr sz="1000" b="0" i="0">
                <a:solidFill>
                  <a:srgbClr val="BD5D3A"/>
                </a:solidFill>
                <a:latin typeface="Menlo"/>
              </a:rPr>
              <a:t>generate -&gt; score -&gt; nudge knobs -&gt; repeat</a:t>
            </a:r>
          </a:p>
        </p:txBody>
      </p:sp>
      <p:sp>
        <p:nvSpPr>
          <p:cNvPr id="22" name="Rounded Rectangle 21"/>
          <p:cNvSpPr/>
          <p:nvPr/>
        </p:nvSpPr>
        <p:spPr>
          <a:xfrm>
            <a:off x="502920" y="4892040"/>
            <a:ext cx="11155680" cy="1143000"/>
          </a:xfrm>
          <a:prstGeom prst="roundRect">
            <a:avLst>
              <a:gd name="adj" fmla="val 5500"/>
            </a:avLst>
          </a:prstGeom>
          <a:solidFill>
            <a:srgbClr val="EAD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047488"/>
            <a:ext cx="10698480" cy="868680"/>
          </a:xfrm>
          <a:prstGeom prst="rect">
            <a:avLst/>
          </a:prstGeom>
          <a:noFill/>
        </p:spPr>
        <p:txBody>
          <a:bodyPr wrap="square" anchor="t" lIns="0" rIns="0" tIns="0" bIns="0">
            <a:spAutoFit/>
          </a:bodyPr>
          <a:lstStyle/>
          <a:p>
            <a:pPr algn="l">
              <a:lnSpc>
                <a:spcPct val="120000"/>
              </a:lnSpc>
            </a:pPr>
            <a:r>
              <a:rPr sz="1350" b="1" i="0">
                <a:solidFill>
                  <a:srgbClr val="BD5D3A"/>
                </a:solidFill>
                <a:latin typeface="Helvetica Neue"/>
              </a:rPr>
              <a:t>The catch: </a:t>
            </a:r>
            <a:r>
              <a:rPr sz="1350" b="0" i="0">
                <a:solidFill>
                  <a:srgbClr val="1F1E1D"/>
                </a:solidFill>
                <a:latin typeface="Helvetica Neue"/>
              </a:rPr>
              <a:t>the model is optimized to PLEASE the judge, not to be right. Pleasing rewards confident-sounding answers (hallucination), agreeing with the user (sycophancy), and collapsing onto one crowd-pleasing style (mode dropping). Perfect for chat. Poisonous for a number your code must trust.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12</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FOUNDATIONS  |  RECIPE 2 OF 3</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RLVR: reward what can be checked</a:t>
            </a:r>
          </a:p>
        </p:txBody>
      </p:sp>
      <p:sp>
        <p:nvSpPr>
          <p:cNvPr id="7" name="Rounded Rectangle 6"/>
          <p:cNvSpPr/>
          <p:nvPr/>
        </p:nvSpPr>
        <p:spPr>
          <a:xfrm>
            <a:off x="502920" y="1600200"/>
            <a:ext cx="3611880" cy="214884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783080"/>
            <a:ext cx="347472" cy="310896"/>
          </a:xfrm>
          <a:prstGeom prst="roundRect">
            <a:avLst>
              <a:gd name="adj" fmla="val 5500"/>
            </a:avLst>
          </a:prstGeom>
          <a:solidFill>
            <a:srgbClr val="5E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1</a:t>
            </a:r>
          </a:p>
        </p:txBody>
      </p:sp>
      <p:sp>
        <p:nvSpPr>
          <p:cNvPr id="9" name="TextBox 8"/>
          <p:cNvSpPr txBox="1"/>
          <p:nvPr/>
        </p:nvSpPr>
        <p:spPr>
          <a:xfrm>
            <a:off x="1161288" y="1801368"/>
            <a:ext cx="2834640" cy="594360"/>
          </a:xfrm>
          <a:prstGeom prst="rect">
            <a:avLst/>
          </a:prstGeom>
          <a:noFill/>
        </p:spPr>
        <p:txBody>
          <a:bodyPr wrap="square" anchor="t" lIns="0" rIns="0" tIns="0" bIns="0">
            <a:spAutoFit/>
          </a:bodyPr>
          <a:lstStyle/>
          <a:p>
            <a:pPr algn="l">
              <a:lnSpc>
                <a:spcPct val="100000"/>
              </a:lnSpc>
            </a:pPr>
            <a:r>
              <a:rPr sz="1350" b="1" i="0">
                <a:solidFill>
                  <a:srgbClr val="1F1E1D"/>
                </a:solidFill>
                <a:latin typeface="Georgia"/>
              </a:rPr>
              <a:t>Pick checkable problems</a:t>
            </a:r>
          </a:p>
        </p:txBody>
      </p:sp>
      <p:sp>
        <p:nvSpPr>
          <p:cNvPr id="10" name="TextBox 9"/>
          <p:cNvSpPr txBox="1"/>
          <p:nvPr/>
        </p:nvSpPr>
        <p:spPr>
          <a:xfrm>
            <a:off x="685800" y="2468880"/>
            <a:ext cx="3246120" cy="1188720"/>
          </a:xfrm>
          <a:prstGeom prst="rect">
            <a:avLst/>
          </a:prstGeom>
          <a:noFill/>
        </p:spPr>
        <p:txBody>
          <a:bodyPr wrap="square" anchor="t" lIns="0" rIns="0" tIns="0" bIns="0">
            <a:spAutoFit/>
          </a:bodyPr>
          <a:lstStyle/>
          <a:p>
            <a:pPr algn="l">
              <a:lnSpc>
                <a:spcPct val="118000"/>
              </a:lnSpc>
            </a:pPr>
            <a:r>
              <a:rPr sz="1200" b="0" i="0">
                <a:solidFill>
                  <a:srgbClr val="1F1E1D"/>
                </a:solidFill>
                <a:latin typeface="Helvetica Neue"/>
              </a:rPr>
              <a:t>Math with known answers, code with unit tests, puzzles with verifiable solutions. No human taste needed.</a:t>
            </a:r>
          </a:p>
        </p:txBody>
      </p:sp>
      <p:sp>
        <p:nvSpPr>
          <p:cNvPr id="11" name="Rounded Rectangle 10"/>
          <p:cNvSpPr/>
          <p:nvPr/>
        </p:nvSpPr>
        <p:spPr>
          <a:xfrm>
            <a:off x="4325112" y="1600200"/>
            <a:ext cx="3611880" cy="214884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07992" y="1783080"/>
            <a:ext cx="347472" cy="310896"/>
          </a:xfrm>
          <a:prstGeom prst="roundRect">
            <a:avLst>
              <a:gd name="adj" fmla="val 5500"/>
            </a:avLst>
          </a:prstGeom>
          <a:solidFill>
            <a:srgbClr val="5E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2</a:t>
            </a:r>
          </a:p>
        </p:txBody>
      </p:sp>
      <p:sp>
        <p:nvSpPr>
          <p:cNvPr id="13" name="TextBox 12"/>
          <p:cNvSpPr txBox="1"/>
          <p:nvPr/>
        </p:nvSpPr>
        <p:spPr>
          <a:xfrm>
            <a:off x="4983479" y="1801368"/>
            <a:ext cx="2834640" cy="594360"/>
          </a:xfrm>
          <a:prstGeom prst="rect">
            <a:avLst/>
          </a:prstGeom>
          <a:noFill/>
        </p:spPr>
        <p:txBody>
          <a:bodyPr wrap="square" anchor="t" lIns="0" rIns="0" tIns="0" bIns="0">
            <a:spAutoFit/>
          </a:bodyPr>
          <a:lstStyle/>
          <a:p>
            <a:pPr algn="l">
              <a:lnSpc>
                <a:spcPct val="100000"/>
              </a:lnSpc>
            </a:pPr>
            <a:r>
              <a:rPr sz="1350" b="1" i="0">
                <a:solidFill>
                  <a:srgbClr val="1F1E1D"/>
                </a:solidFill>
                <a:latin typeface="Georgia"/>
              </a:rPr>
              <a:t>Let the model think out loud</a:t>
            </a:r>
          </a:p>
        </p:txBody>
      </p:sp>
      <p:sp>
        <p:nvSpPr>
          <p:cNvPr id="14" name="TextBox 13"/>
          <p:cNvSpPr txBox="1"/>
          <p:nvPr/>
        </p:nvSpPr>
        <p:spPr>
          <a:xfrm>
            <a:off x="4507992" y="2468880"/>
            <a:ext cx="3246120" cy="1188720"/>
          </a:xfrm>
          <a:prstGeom prst="rect">
            <a:avLst/>
          </a:prstGeom>
          <a:noFill/>
        </p:spPr>
        <p:txBody>
          <a:bodyPr wrap="square" anchor="t" lIns="0" rIns="0" tIns="0" bIns="0">
            <a:spAutoFit/>
          </a:bodyPr>
          <a:lstStyle/>
          <a:p>
            <a:pPr algn="l">
              <a:lnSpc>
                <a:spcPct val="118000"/>
              </a:lnSpc>
            </a:pPr>
            <a:r>
              <a:rPr sz="1200" b="0" i="0">
                <a:solidFill>
                  <a:srgbClr val="1F1E1D"/>
                </a:solidFill>
                <a:latin typeface="Helvetica Neue"/>
              </a:rPr>
              <a:t>It writes a long chain of thought, then an answer. Those 'thinking tokens' are generated text: slow, and billed.</a:t>
            </a:r>
          </a:p>
        </p:txBody>
      </p:sp>
      <p:sp>
        <p:nvSpPr>
          <p:cNvPr id="15" name="Rounded Rectangle 14"/>
          <p:cNvSpPr/>
          <p:nvPr/>
        </p:nvSpPr>
        <p:spPr>
          <a:xfrm>
            <a:off x="8147304" y="1600200"/>
            <a:ext cx="3611880" cy="214884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30183" y="1783080"/>
            <a:ext cx="347472" cy="310896"/>
          </a:xfrm>
          <a:prstGeom prst="roundRect">
            <a:avLst>
              <a:gd name="adj" fmla="val 5500"/>
            </a:avLst>
          </a:prstGeom>
          <a:solidFill>
            <a:srgbClr val="5E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3</a:t>
            </a:r>
          </a:p>
        </p:txBody>
      </p:sp>
      <p:sp>
        <p:nvSpPr>
          <p:cNvPr id="17" name="TextBox 16"/>
          <p:cNvSpPr txBox="1"/>
          <p:nvPr/>
        </p:nvSpPr>
        <p:spPr>
          <a:xfrm>
            <a:off x="8805672" y="1801368"/>
            <a:ext cx="2834640" cy="594360"/>
          </a:xfrm>
          <a:prstGeom prst="rect">
            <a:avLst/>
          </a:prstGeom>
          <a:noFill/>
        </p:spPr>
        <p:txBody>
          <a:bodyPr wrap="square" anchor="t" lIns="0" rIns="0" tIns="0" bIns="0">
            <a:spAutoFit/>
          </a:bodyPr>
          <a:lstStyle/>
          <a:p>
            <a:pPr algn="l">
              <a:lnSpc>
                <a:spcPct val="100000"/>
              </a:lnSpc>
            </a:pPr>
            <a:r>
              <a:rPr sz="1350" b="1" i="0">
                <a:solidFill>
                  <a:srgbClr val="1F1E1D"/>
                </a:solidFill>
                <a:latin typeface="Georgia"/>
              </a:rPr>
              <a:t>Reward only verified wins</a:t>
            </a:r>
          </a:p>
        </p:txBody>
      </p:sp>
      <p:sp>
        <p:nvSpPr>
          <p:cNvPr id="18" name="TextBox 17"/>
          <p:cNvSpPr txBox="1"/>
          <p:nvPr/>
        </p:nvSpPr>
        <p:spPr>
          <a:xfrm>
            <a:off x="8330183" y="2468880"/>
            <a:ext cx="3246120" cy="1188720"/>
          </a:xfrm>
          <a:prstGeom prst="rect">
            <a:avLst/>
          </a:prstGeom>
          <a:noFill/>
        </p:spPr>
        <p:txBody>
          <a:bodyPr wrap="square" anchor="t" lIns="0" rIns="0" tIns="0" bIns="0">
            <a:spAutoFit/>
          </a:bodyPr>
          <a:lstStyle/>
          <a:p>
            <a:pPr algn="l">
              <a:lnSpc>
                <a:spcPct val="118000"/>
              </a:lnSpc>
            </a:pPr>
            <a:r>
              <a:rPr sz="1200" b="0" i="0">
                <a:solidFill>
                  <a:srgbClr val="1F1E1D"/>
                </a:solidFill>
                <a:latin typeface="Helvetica Neue"/>
              </a:rPr>
              <a:t>Did the code pass the tests? Did the answer match? Nudge knobs toward chains of thought that END correct.</a:t>
            </a:r>
          </a:p>
        </p:txBody>
      </p:sp>
      <p:sp>
        <p:nvSpPr>
          <p:cNvPr id="19" name="TextBox 18"/>
          <p:cNvSpPr txBox="1"/>
          <p:nvPr/>
        </p:nvSpPr>
        <p:spPr>
          <a:xfrm>
            <a:off x="502920" y="4069080"/>
            <a:ext cx="11155680" cy="1188720"/>
          </a:xfrm>
          <a:prstGeom prst="rect">
            <a:avLst/>
          </a:prstGeom>
          <a:noFill/>
        </p:spPr>
        <p:txBody>
          <a:bodyPr wrap="square" anchor="t" lIns="0" rIns="0" tIns="0" bIns="0">
            <a:spAutoFit/>
          </a:bodyPr>
          <a:lstStyle/>
          <a:p>
            <a:pPr algn="l">
              <a:lnSpc>
                <a:spcPct val="125000"/>
              </a:lnSpc>
            </a:pPr>
            <a:r>
              <a:rPr sz="1500" b="1" i="0">
                <a:solidFill>
                  <a:srgbClr val="1F1E1D"/>
                </a:solidFill>
                <a:latin typeface="Helvetica Neue"/>
              </a:rPr>
              <a:t>What it produces: </a:t>
            </a:r>
            <a:r>
              <a:rPr sz="1500" b="0" i="0">
                <a:solidFill>
                  <a:srgbClr val="1F1E1D"/>
                </a:solidFill>
                <a:latin typeface="Helvetica Neue"/>
              </a:rPr>
              <a:t>reasoning models (the 'thinking' models you have used). Genuinely strong on hard, multi-step problems. The cost: seconds to minutes of latency and output-token bills, because deliberation IS generated text. This is the System 2 machine: brilliant on a whiteboard, wrong tool for a two-second judgment call.</a:t>
            </a:r>
          </a:p>
        </p:txBody>
      </p:sp>
      <p:sp>
        <p:nvSpPr>
          <p:cNvPr id="20" name="TextBox 19"/>
          <p:cNvSpPr txBox="1"/>
          <p:nvPr/>
        </p:nvSpPr>
        <p:spPr>
          <a:xfrm>
            <a:off x="502920" y="5394960"/>
            <a:ext cx="11155680" cy="457200"/>
          </a:xfrm>
          <a:prstGeom prst="rect">
            <a:avLst/>
          </a:prstGeom>
          <a:noFill/>
        </p:spPr>
        <p:txBody>
          <a:bodyPr wrap="square" anchor="t" lIns="0" rIns="0" tIns="0" bIns="0">
            <a:spAutoFit/>
          </a:bodyPr>
          <a:lstStyle/>
          <a:p>
            <a:pPr algn="l">
              <a:lnSpc>
                <a:spcPct val="100000"/>
              </a:lnSpc>
            </a:pPr>
            <a:r>
              <a:rPr sz="1300" b="0" i="1">
                <a:solidFill>
                  <a:srgbClr val="BD5D3A"/>
                </a:solidFill>
                <a:latin typeface="Helvetica Neue"/>
              </a:rPr>
              <a:t>Where you have met these: chat assistants are RLHF; 'extended thinking' and o-style models are RLVR. Jev is neither.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13</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FOUNDATIONS  |  RECIPE 3 OF 3, JEV'S RECIPE</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RLCD: reward honest probabilities</a:t>
            </a:r>
          </a:p>
        </p:txBody>
      </p:sp>
      <p:sp>
        <p:nvSpPr>
          <p:cNvPr id="7" name="Rounded Rectangle 6"/>
          <p:cNvSpPr/>
          <p:nvPr/>
        </p:nvSpPr>
        <p:spPr>
          <a:xfrm>
            <a:off x="502920" y="1600200"/>
            <a:ext cx="2651760" cy="265176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7512" y="1783080"/>
            <a:ext cx="347472"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1</a:t>
            </a:r>
          </a:p>
        </p:txBody>
      </p:sp>
      <p:sp>
        <p:nvSpPr>
          <p:cNvPr id="9" name="TextBox 8"/>
          <p:cNvSpPr txBox="1"/>
          <p:nvPr/>
        </p:nvSpPr>
        <p:spPr>
          <a:xfrm>
            <a:off x="1097280" y="1801368"/>
            <a:ext cx="1920240" cy="822960"/>
          </a:xfrm>
          <a:prstGeom prst="rect">
            <a:avLst/>
          </a:prstGeom>
          <a:noFill/>
        </p:spPr>
        <p:txBody>
          <a:bodyPr wrap="square" anchor="t" lIns="0" rIns="0" tIns="0" bIns="0">
            <a:spAutoFit/>
          </a:bodyPr>
          <a:lstStyle/>
          <a:p>
            <a:pPr algn="l">
              <a:lnSpc>
                <a:spcPct val="100000"/>
              </a:lnSpc>
            </a:pPr>
            <a:r>
              <a:rPr sz="1250" b="1" i="0">
                <a:solidFill>
                  <a:srgbClr val="1F1E1D"/>
                </a:solidFill>
                <a:latin typeface="Georgia"/>
              </a:rPr>
              <a:t>Ask a closed question</a:t>
            </a:r>
          </a:p>
        </p:txBody>
      </p:sp>
      <p:sp>
        <p:nvSpPr>
          <p:cNvPr id="10" name="TextBox 9"/>
          <p:cNvSpPr txBox="1"/>
          <p:nvPr/>
        </p:nvSpPr>
        <p:spPr>
          <a:xfrm>
            <a:off x="667512" y="2697480"/>
            <a:ext cx="2331720" cy="1463040"/>
          </a:xfrm>
          <a:prstGeom prst="rect">
            <a:avLst/>
          </a:prstGeom>
          <a:noFill/>
        </p:spPr>
        <p:txBody>
          <a:bodyPr wrap="square" anchor="t" lIns="0" rIns="0" tIns="0" bIns="0">
            <a:spAutoFit/>
          </a:bodyPr>
          <a:lstStyle/>
          <a:p>
            <a:pPr algn="l">
              <a:lnSpc>
                <a:spcPct val="116000"/>
              </a:lnSpc>
            </a:pPr>
            <a:r>
              <a:rPr sz="1100" b="0" i="0">
                <a:solidFill>
                  <a:srgbClr val="1F1E1D"/>
                </a:solidFill>
                <a:latin typeface="Helvetica Neue"/>
              </a:rPr>
              <a:t>A question with a fixed answer space and a known real outcome: 'which team did this ticket actually go to?'</a:t>
            </a:r>
          </a:p>
        </p:txBody>
      </p:sp>
      <p:sp>
        <p:nvSpPr>
          <p:cNvPr id="11" name="Rounded Rectangle 10"/>
          <p:cNvSpPr/>
          <p:nvPr/>
        </p:nvSpPr>
        <p:spPr>
          <a:xfrm>
            <a:off x="3355848" y="1600200"/>
            <a:ext cx="2651760" cy="265176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20440" y="1783080"/>
            <a:ext cx="347472"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2</a:t>
            </a:r>
          </a:p>
        </p:txBody>
      </p:sp>
      <p:sp>
        <p:nvSpPr>
          <p:cNvPr id="13" name="TextBox 12"/>
          <p:cNvSpPr txBox="1"/>
          <p:nvPr/>
        </p:nvSpPr>
        <p:spPr>
          <a:xfrm>
            <a:off x="3950208" y="1801368"/>
            <a:ext cx="1920240" cy="822960"/>
          </a:xfrm>
          <a:prstGeom prst="rect">
            <a:avLst/>
          </a:prstGeom>
          <a:noFill/>
        </p:spPr>
        <p:txBody>
          <a:bodyPr wrap="square" anchor="t" lIns="0" rIns="0" tIns="0" bIns="0">
            <a:spAutoFit/>
          </a:bodyPr>
          <a:lstStyle/>
          <a:p>
            <a:pPr algn="l">
              <a:lnSpc>
                <a:spcPct val="100000"/>
              </a:lnSpc>
            </a:pPr>
            <a:r>
              <a:rPr sz="1250" b="1" i="0">
                <a:solidFill>
                  <a:srgbClr val="1F1E1D"/>
                </a:solidFill>
                <a:latin typeface="Georgia"/>
              </a:rPr>
              <a:t>Model answers in probabilities</a:t>
            </a:r>
          </a:p>
        </p:txBody>
      </p:sp>
      <p:sp>
        <p:nvSpPr>
          <p:cNvPr id="14" name="TextBox 13"/>
          <p:cNvSpPr txBox="1"/>
          <p:nvPr/>
        </p:nvSpPr>
        <p:spPr>
          <a:xfrm>
            <a:off x="3520440" y="2697480"/>
            <a:ext cx="2331720" cy="1463040"/>
          </a:xfrm>
          <a:prstGeom prst="rect">
            <a:avLst/>
          </a:prstGeom>
          <a:noFill/>
        </p:spPr>
        <p:txBody>
          <a:bodyPr wrap="square" anchor="t" lIns="0" rIns="0" tIns="0" bIns="0">
            <a:spAutoFit/>
          </a:bodyPr>
          <a:lstStyle/>
          <a:p>
            <a:pPr algn="l">
              <a:lnSpc>
                <a:spcPct val="116000"/>
              </a:lnSpc>
            </a:pPr>
            <a:r>
              <a:rPr sz="1100" b="0" i="0">
                <a:solidFill>
                  <a:srgbClr val="1F1E1D"/>
                </a:solidFill>
                <a:latin typeface="Helvetica Neue"/>
              </a:rPr>
              <a:t>No text. It puts probability on each option: billing 0.12, technical 0.88, sales 0.00.</a:t>
            </a:r>
          </a:p>
        </p:txBody>
      </p:sp>
      <p:sp>
        <p:nvSpPr>
          <p:cNvPr id="15" name="Rounded Rectangle 14"/>
          <p:cNvSpPr/>
          <p:nvPr/>
        </p:nvSpPr>
        <p:spPr>
          <a:xfrm>
            <a:off x="6208776" y="1600200"/>
            <a:ext cx="2651760" cy="265176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73368" y="1783080"/>
            <a:ext cx="347472"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3</a:t>
            </a:r>
          </a:p>
        </p:txBody>
      </p:sp>
      <p:sp>
        <p:nvSpPr>
          <p:cNvPr id="17" name="TextBox 16"/>
          <p:cNvSpPr txBox="1"/>
          <p:nvPr/>
        </p:nvSpPr>
        <p:spPr>
          <a:xfrm>
            <a:off x="6803136" y="1801368"/>
            <a:ext cx="1920240" cy="822960"/>
          </a:xfrm>
          <a:prstGeom prst="rect">
            <a:avLst/>
          </a:prstGeom>
          <a:noFill/>
        </p:spPr>
        <p:txBody>
          <a:bodyPr wrap="square" anchor="t" lIns="0" rIns="0" tIns="0" bIns="0">
            <a:spAutoFit/>
          </a:bodyPr>
          <a:lstStyle/>
          <a:p>
            <a:pPr algn="l">
              <a:lnSpc>
                <a:spcPct val="100000"/>
              </a:lnSpc>
            </a:pPr>
            <a:r>
              <a:rPr sz="1250" b="1" i="0">
                <a:solidFill>
                  <a:srgbClr val="1F1E1D"/>
                </a:solidFill>
                <a:latin typeface="Georgia"/>
              </a:rPr>
              <a:t>Score against reality</a:t>
            </a:r>
          </a:p>
        </p:txBody>
      </p:sp>
      <p:sp>
        <p:nvSpPr>
          <p:cNvPr id="18" name="TextBox 17"/>
          <p:cNvSpPr txBox="1"/>
          <p:nvPr/>
        </p:nvSpPr>
        <p:spPr>
          <a:xfrm>
            <a:off x="6373368" y="2697480"/>
            <a:ext cx="2331720" cy="1463040"/>
          </a:xfrm>
          <a:prstGeom prst="rect">
            <a:avLst/>
          </a:prstGeom>
          <a:noFill/>
        </p:spPr>
        <p:txBody>
          <a:bodyPr wrap="square" anchor="t" lIns="0" rIns="0" tIns="0" bIns="0">
            <a:spAutoFit/>
          </a:bodyPr>
          <a:lstStyle/>
          <a:p>
            <a:pPr algn="l">
              <a:lnSpc>
                <a:spcPct val="116000"/>
              </a:lnSpc>
            </a:pPr>
            <a:r>
              <a:rPr sz="1100" b="0" i="0">
                <a:solidFill>
                  <a:srgbClr val="1F1E1D"/>
                </a:solidFill>
                <a:latin typeface="Helvetica Neue"/>
              </a:rPr>
              <a:t>A proper scoring rule pays out for honesty: claiming 0.99 and being wrong costs far more than admitting 0.60. Hedging everything at 0.33 earns nothing.</a:t>
            </a:r>
          </a:p>
        </p:txBody>
      </p:sp>
      <p:sp>
        <p:nvSpPr>
          <p:cNvPr id="19" name="Rounded Rectangle 18"/>
          <p:cNvSpPr/>
          <p:nvPr/>
        </p:nvSpPr>
        <p:spPr>
          <a:xfrm>
            <a:off x="9061704" y="1600200"/>
            <a:ext cx="2651760" cy="265176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26296" y="1783080"/>
            <a:ext cx="347472"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4</a:t>
            </a:r>
          </a:p>
        </p:txBody>
      </p:sp>
      <p:sp>
        <p:nvSpPr>
          <p:cNvPr id="21" name="TextBox 20"/>
          <p:cNvSpPr txBox="1"/>
          <p:nvPr/>
        </p:nvSpPr>
        <p:spPr>
          <a:xfrm>
            <a:off x="9656064" y="1801368"/>
            <a:ext cx="1920240" cy="822960"/>
          </a:xfrm>
          <a:prstGeom prst="rect">
            <a:avLst/>
          </a:prstGeom>
          <a:noFill/>
        </p:spPr>
        <p:txBody>
          <a:bodyPr wrap="square" anchor="t" lIns="0" rIns="0" tIns="0" bIns="0">
            <a:spAutoFit/>
          </a:bodyPr>
          <a:lstStyle/>
          <a:p>
            <a:pPr algn="l">
              <a:lnSpc>
                <a:spcPct val="100000"/>
              </a:lnSpc>
            </a:pPr>
            <a:r>
              <a:rPr sz="1250" b="1" i="0">
                <a:solidFill>
                  <a:srgbClr val="1F1E1D"/>
                </a:solidFill>
                <a:latin typeface="Georgia"/>
              </a:rPr>
              <a:t>Nudge toward calibration</a:t>
            </a:r>
          </a:p>
        </p:txBody>
      </p:sp>
      <p:sp>
        <p:nvSpPr>
          <p:cNvPr id="22" name="TextBox 21"/>
          <p:cNvSpPr txBox="1"/>
          <p:nvPr/>
        </p:nvSpPr>
        <p:spPr>
          <a:xfrm>
            <a:off x="9226296" y="2697480"/>
            <a:ext cx="2331720" cy="1463040"/>
          </a:xfrm>
          <a:prstGeom prst="rect">
            <a:avLst/>
          </a:prstGeom>
          <a:noFill/>
        </p:spPr>
        <p:txBody>
          <a:bodyPr wrap="square" anchor="t" lIns="0" rIns="0" tIns="0" bIns="0">
            <a:spAutoFit/>
          </a:bodyPr>
          <a:lstStyle/>
          <a:p>
            <a:pPr algn="l">
              <a:lnSpc>
                <a:spcPct val="116000"/>
              </a:lnSpc>
            </a:pPr>
            <a:r>
              <a:rPr sz="1100" b="0" i="0">
                <a:solidFill>
                  <a:srgbClr val="1F1E1D"/>
                </a:solidFill>
                <a:latin typeface="Helvetica Neue"/>
              </a:rPr>
              <a:t>Knobs move so that stated probability tracks real frequency: things it calls 0.8 should come true about 80% of the time.</a:t>
            </a:r>
          </a:p>
        </p:txBody>
      </p:sp>
      <p:sp>
        <p:nvSpPr>
          <p:cNvPr id="23" name="Rounded Rectangle 22"/>
          <p:cNvSpPr/>
          <p:nvPr/>
        </p:nvSpPr>
        <p:spPr>
          <a:xfrm>
            <a:off x="502920" y="4526280"/>
            <a:ext cx="11155680" cy="1371600"/>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681728"/>
            <a:ext cx="10698480" cy="320040"/>
          </a:xfrm>
          <a:prstGeom prst="rect">
            <a:avLst/>
          </a:prstGeom>
          <a:noFill/>
        </p:spPr>
        <p:txBody>
          <a:bodyPr wrap="square" anchor="t" lIns="0" rIns="0" tIns="0" bIns="0">
            <a:spAutoFit/>
          </a:bodyPr>
          <a:lstStyle/>
          <a:p>
            <a:pPr algn="l">
              <a:lnSpc>
                <a:spcPct val="100000"/>
              </a:lnSpc>
            </a:pPr>
            <a:r>
              <a:rPr sz="1450" b="1" i="0">
                <a:solidFill>
                  <a:srgbClr val="F0EEE6"/>
                </a:solidFill>
                <a:latin typeface="Georgia"/>
              </a:rPr>
              <a:t>Notice what is missing from this loop: text.</a:t>
            </a:r>
          </a:p>
        </p:txBody>
      </p:sp>
      <p:sp>
        <p:nvSpPr>
          <p:cNvPr id="25" name="TextBox 24"/>
          <p:cNvSpPr txBox="1"/>
          <p:nvPr/>
        </p:nvSpPr>
        <p:spPr>
          <a:xfrm>
            <a:off x="731520" y="5029200"/>
            <a:ext cx="10698480" cy="777240"/>
          </a:xfrm>
          <a:prstGeom prst="rect">
            <a:avLst/>
          </a:prstGeom>
          <a:noFill/>
        </p:spPr>
        <p:txBody>
          <a:bodyPr wrap="square" anchor="t" lIns="0" rIns="0" tIns="0" bIns="0">
            <a:spAutoFit/>
          </a:bodyPr>
          <a:lstStyle/>
          <a:p>
            <a:pPr algn="l">
              <a:lnSpc>
                <a:spcPct val="120000"/>
              </a:lnSpc>
            </a:pPr>
            <a:r>
              <a:rPr sz="1250" b="0" i="0">
                <a:solidFill>
                  <a:srgbClr val="EDEAE3"/>
                </a:solidFill>
                <a:latin typeface="Helvetica Neue"/>
              </a:rPr>
              <a:t>There is no generation step to hallucinate in, no judge of style to flatter. The ONLY way to score well is to know the answer when it is knowable, and to say 'not sure' honestly when it is not. That property, calibration, is what your code will threshold on all afternoon.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14</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1  |  HOW IT IS TRAINED, RECAP</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RLHF makes chatbots. RLCD makes decisions.</a:t>
            </a:r>
          </a:p>
        </p:txBody>
      </p:sp>
      <p:graphicFrame>
        <p:nvGraphicFramePr>
          <p:cNvPr id="7" name="Table 6"/>
          <p:cNvGraphicFramePr>
            <a:graphicFrameLocks noGrp="1"/>
          </p:cNvGraphicFramePr>
          <p:nvPr/>
        </p:nvGraphicFramePr>
        <p:xfrm>
          <a:off x="502920" y="1600200"/>
          <a:ext cx="11155680" cy="3566160"/>
        </p:xfrm>
        <a:graphic>
          <a:graphicData uri="http://schemas.openxmlformats.org/drawingml/2006/table">
            <a:tbl>
              <a:tblPr>
                <a:tableStyleId>{5C22544A-7EE6-4342-B048-85BDC9FD1C3A}</a:tableStyleId>
              </a:tblPr>
              <a:tblGrid>
                <a:gridCol w="1737360"/>
                <a:gridCol w="3017520"/>
                <a:gridCol w="2743200"/>
                <a:gridCol w="3657600"/>
              </a:tblGrid>
              <a:tr h="713232">
                <a:tc>
                  <a:txBody>
                    <a:bodyPr wrap="square"/>
                    <a:lstStyle/>
                    <a:p>
                      <a:r>
                        <a:rPr sz="1350" b="1">
                          <a:solidFill>
                            <a:srgbClr val="F0EEE6"/>
                          </a:solidFill>
                          <a:latin typeface="Helvetica Neue"/>
                        </a:rPr>
                        <a:t/>
                      </a:r>
                    </a:p>
                  </a:txBody>
                  <a:tcPr marL="73152" marR="73152" marT="27432" marB="27432" anchor="ctr">
                    <a:solidFill>
                      <a:srgbClr val="1F1E1D"/>
                    </a:solidFill>
                  </a:tcPr>
                </a:tc>
                <a:tc>
                  <a:txBody>
                    <a:bodyPr wrap="square"/>
                    <a:lstStyle/>
                    <a:p>
                      <a:r>
                        <a:rPr sz="1350" b="1">
                          <a:solidFill>
                            <a:srgbClr val="F0EEE6"/>
                          </a:solidFill>
                          <a:latin typeface="Helvetica Neue"/>
                        </a:rPr>
                        <a:t>RLHF</a:t>
                      </a:r>
                    </a:p>
                  </a:txBody>
                  <a:tcPr marL="73152" marR="73152" marT="27432" marB="27432" anchor="ctr">
                    <a:solidFill>
                      <a:srgbClr val="1F1E1D"/>
                    </a:solidFill>
                  </a:tcPr>
                </a:tc>
                <a:tc>
                  <a:txBody>
                    <a:bodyPr wrap="square"/>
                    <a:lstStyle/>
                    <a:p>
                      <a:r>
                        <a:rPr sz="1350" b="1">
                          <a:solidFill>
                            <a:srgbClr val="F0EEE6"/>
                          </a:solidFill>
                          <a:latin typeface="Helvetica Neue"/>
                        </a:rPr>
                        <a:t>RLVR</a:t>
                      </a:r>
                    </a:p>
                  </a:txBody>
                  <a:tcPr marL="73152" marR="73152" marT="27432" marB="27432" anchor="ctr">
                    <a:solidFill>
                      <a:srgbClr val="1F1E1D"/>
                    </a:solidFill>
                  </a:tcPr>
                </a:tc>
                <a:tc>
                  <a:txBody>
                    <a:bodyPr wrap="square"/>
                    <a:lstStyle/>
                    <a:p>
                      <a:r>
                        <a:rPr sz="1350" b="1">
                          <a:solidFill>
                            <a:srgbClr val="F0EEE6"/>
                          </a:solidFill>
                          <a:latin typeface="Helvetica Neue"/>
                        </a:rPr>
                        <a:t>RLCD  (Jev)</a:t>
                      </a:r>
                    </a:p>
                  </a:txBody>
                  <a:tcPr marL="73152" marR="73152" marT="27432" marB="27432" anchor="ctr">
                    <a:solidFill>
                      <a:srgbClr val="1F1E1D"/>
                    </a:solidFill>
                  </a:tcPr>
                </a:tc>
              </a:tr>
              <a:tr h="713232">
                <a:tc>
                  <a:txBody>
                    <a:bodyPr wrap="square"/>
                    <a:lstStyle/>
                    <a:p>
                      <a:r>
                        <a:rPr sz="1350" b="0">
                          <a:solidFill>
                            <a:srgbClr val="1F1E1D"/>
                          </a:solidFill>
                          <a:latin typeface="Helvetica Neue"/>
                        </a:rPr>
                        <a:t>Optimizes for</a:t>
                      </a:r>
                    </a:p>
                  </a:txBody>
                  <a:tcPr marL="73152" marR="73152" marT="27432" marB="27432" anchor="ctr">
                    <a:solidFill>
                      <a:srgbClr val="FAF9F5"/>
                    </a:solidFill>
                  </a:tcPr>
                </a:tc>
                <a:tc>
                  <a:txBody>
                    <a:bodyPr wrap="square"/>
                    <a:lstStyle/>
                    <a:p>
                      <a:r>
                        <a:rPr sz="1350" b="0">
                          <a:solidFill>
                            <a:srgbClr val="1F1E1D"/>
                          </a:solidFill>
                          <a:latin typeface="Helvetica Neue"/>
                        </a:rPr>
                        <a:t>responses people prefer</a:t>
                      </a:r>
                    </a:p>
                  </a:txBody>
                  <a:tcPr marL="73152" marR="73152" marT="27432" marB="27432" anchor="ctr">
                    <a:solidFill>
                      <a:srgbClr val="FAF9F5"/>
                    </a:solidFill>
                  </a:tcPr>
                </a:tc>
                <a:tc>
                  <a:txBody>
                    <a:bodyPr wrap="square"/>
                    <a:lstStyle/>
                    <a:p>
                      <a:r>
                        <a:rPr sz="1350" b="0">
                          <a:solidFill>
                            <a:srgbClr val="1F1E1D"/>
                          </a:solidFill>
                          <a:latin typeface="Helvetica Neue"/>
                        </a:rPr>
                        <a:t>verifiable task rewards</a:t>
                      </a:r>
                    </a:p>
                  </a:txBody>
                  <a:tcPr marL="73152" marR="73152" marT="27432" marB="27432" anchor="ctr">
                    <a:solidFill>
                      <a:srgbClr val="FAF9F5"/>
                    </a:solidFill>
                  </a:tcPr>
                </a:tc>
                <a:tc>
                  <a:txBody>
                    <a:bodyPr wrap="square"/>
                    <a:lstStyle/>
                    <a:p>
                      <a:r>
                        <a:rPr sz="1350" b="0">
                          <a:solidFill>
                            <a:srgbClr val="1F1E1D"/>
                          </a:solidFill>
                          <a:latin typeface="Helvetica Neue"/>
                        </a:rPr>
                        <a:t>calibrated decisions</a:t>
                      </a:r>
                    </a:p>
                  </a:txBody>
                  <a:tcPr marL="73152" marR="73152" marT="27432" marB="27432" anchor="ctr">
                    <a:solidFill>
                      <a:srgbClr val="FAF9F5"/>
                    </a:solidFill>
                  </a:tcPr>
                </a:tc>
              </a:tr>
              <a:tr h="713232">
                <a:tc>
                  <a:txBody>
                    <a:bodyPr wrap="square"/>
                    <a:lstStyle/>
                    <a:p>
                      <a:r>
                        <a:rPr sz="1350" b="0">
                          <a:solidFill>
                            <a:srgbClr val="1F1E1D"/>
                          </a:solidFill>
                          <a:latin typeface="Helvetica Neue"/>
                        </a:rPr>
                        <a:t>Produces</a:t>
                      </a:r>
                    </a:p>
                  </a:txBody>
                  <a:tcPr marL="73152" marR="73152" marT="27432" marB="27432" anchor="ctr">
                    <a:solidFill>
                      <a:srgbClr val="E9E6DC"/>
                    </a:solidFill>
                  </a:tcPr>
                </a:tc>
                <a:tc>
                  <a:txBody>
                    <a:bodyPr wrap="square"/>
                    <a:lstStyle/>
                    <a:p>
                      <a:r>
                        <a:rPr sz="1350" b="0">
                          <a:solidFill>
                            <a:srgbClr val="1F1E1D"/>
                          </a:solidFill>
                          <a:latin typeface="Helvetica Neue"/>
                        </a:rPr>
                        <a:t>chatbots and assistants</a:t>
                      </a:r>
                    </a:p>
                  </a:txBody>
                  <a:tcPr marL="73152" marR="73152" marT="27432" marB="27432" anchor="ctr">
                    <a:solidFill>
                      <a:srgbClr val="E9E6DC"/>
                    </a:solidFill>
                  </a:tcPr>
                </a:tc>
                <a:tc>
                  <a:txBody>
                    <a:bodyPr wrap="square"/>
                    <a:lstStyle/>
                    <a:p>
                      <a:r>
                        <a:rPr sz="1350" b="0">
                          <a:solidFill>
                            <a:srgbClr val="1F1E1D"/>
                          </a:solidFill>
                          <a:latin typeface="Helvetica Neue"/>
                        </a:rPr>
                        <a:t>reasoning models</a:t>
                      </a:r>
                    </a:p>
                  </a:txBody>
                  <a:tcPr marL="73152" marR="73152" marT="27432" marB="27432" anchor="ctr">
                    <a:solidFill>
                      <a:srgbClr val="E9E6DC"/>
                    </a:solidFill>
                  </a:tcPr>
                </a:tc>
                <a:tc>
                  <a:txBody>
                    <a:bodyPr wrap="square"/>
                    <a:lstStyle/>
                    <a:p>
                      <a:r>
                        <a:rPr sz="1350" b="0">
                          <a:solidFill>
                            <a:srgbClr val="1F1E1D"/>
                          </a:solidFill>
                          <a:latin typeface="Helvetica Neue"/>
                        </a:rPr>
                        <a:t>System One models</a:t>
                      </a:r>
                    </a:p>
                  </a:txBody>
                  <a:tcPr marL="73152" marR="73152" marT="27432" marB="27432" anchor="ctr">
                    <a:solidFill>
                      <a:srgbClr val="E9E6DC"/>
                    </a:solidFill>
                  </a:tcPr>
                </a:tc>
              </a:tr>
              <a:tr h="713232">
                <a:tc>
                  <a:txBody>
                    <a:bodyPr wrap="square"/>
                    <a:lstStyle/>
                    <a:p>
                      <a:r>
                        <a:rPr sz="1350" b="0">
                          <a:solidFill>
                            <a:srgbClr val="1F1E1D"/>
                          </a:solidFill>
                          <a:latin typeface="Helvetica Neue"/>
                        </a:rPr>
                        <a:t>Output</a:t>
                      </a:r>
                    </a:p>
                  </a:txBody>
                  <a:tcPr marL="73152" marR="73152" marT="27432" marB="27432" anchor="ctr">
                    <a:solidFill>
                      <a:srgbClr val="FAF9F5"/>
                    </a:solidFill>
                  </a:tcPr>
                </a:tc>
                <a:tc>
                  <a:txBody>
                    <a:bodyPr wrap="square"/>
                    <a:lstStyle/>
                    <a:p>
                      <a:r>
                        <a:rPr sz="1350" b="0">
                          <a:solidFill>
                            <a:srgbClr val="1F1E1D"/>
                          </a:solidFill>
                          <a:latin typeface="Helvetica Neue"/>
                        </a:rPr>
                        <a:t>fluent text</a:t>
                      </a:r>
                    </a:p>
                  </a:txBody>
                  <a:tcPr marL="73152" marR="73152" marT="27432" marB="27432" anchor="ctr">
                    <a:solidFill>
                      <a:srgbClr val="FAF9F5"/>
                    </a:solidFill>
                  </a:tcPr>
                </a:tc>
                <a:tc>
                  <a:txBody>
                    <a:bodyPr wrap="square"/>
                    <a:lstStyle/>
                    <a:p>
                      <a:r>
                        <a:rPr sz="1350" b="0">
                          <a:solidFill>
                            <a:srgbClr val="1F1E1D"/>
                          </a:solidFill>
                          <a:latin typeface="Helvetica Neue"/>
                        </a:rPr>
                        <a:t>chains of thought + answer</a:t>
                      </a:r>
                    </a:p>
                  </a:txBody>
                  <a:tcPr marL="73152" marR="73152" marT="27432" marB="27432" anchor="ctr">
                    <a:solidFill>
                      <a:srgbClr val="FAF9F5"/>
                    </a:solidFill>
                  </a:tcPr>
                </a:tc>
                <a:tc>
                  <a:txBody>
                    <a:bodyPr wrap="square"/>
                    <a:lstStyle/>
                    <a:p>
                      <a:r>
                        <a:rPr sz="1350" b="0">
                          <a:solidFill>
                            <a:srgbClr val="1F1E1D"/>
                          </a:solidFill>
                          <a:latin typeface="Helvetica Neue"/>
                        </a:rPr>
                        <a:t>typed values + probabilities</a:t>
                      </a:r>
                    </a:p>
                  </a:txBody>
                  <a:tcPr marL="73152" marR="73152" marT="27432" marB="27432" anchor="ctr">
                    <a:solidFill>
                      <a:srgbClr val="FAF9F5"/>
                    </a:solidFill>
                  </a:tcPr>
                </a:tc>
              </a:tr>
              <a:tr h="713232">
                <a:tc>
                  <a:txBody>
                    <a:bodyPr wrap="square"/>
                    <a:lstStyle/>
                    <a:p>
                      <a:r>
                        <a:rPr sz="1350" b="0">
                          <a:solidFill>
                            <a:srgbClr val="1F1E1D"/>
                          </a:solidFill>
                          <a:latin typeface="Helvetica Neue"/>
                        </a:rPr>
                        <a:t>Failure style</a:t>
                      </a:r>
                    </a:p>
                  </a:txBody>
                  <a:tcPr marL="73152" marR="73152" marT="27432" marB="27432" anchor="ctr">
                    <a:solidFill>
                      <a:srgbClr val="E9E6DC"/>
                    </a:solidFill>
                  </a:tcPr>
                </a:tc>
                <a:tc>
                  <a:txBody>
                    <a:bodyPr wrap="square"/>
                    <a:lstStyle/>
                    <a:p>
                      <a:r>
                        <a:rPr sz="1350" b="0">
                          <a:solidFill>
                            <a:srgbClr val="1F1E1D"/>
                          </a:solidFill>
                          <a:latin typeface="Helvetica Neue"/>
                        </a:rPr>
                        <a:t>sycophancy, confident hallucination, mode dropping</a:t>
                      </a:r>
                    </a:p>
                  </a:txBody>
                  <a:tcPr marL="73152" marR="73152" marT="27432" marB="27432" anchor="ctr">
                    <a:solidFill>
                      <a:srgbClr val="E9E6DC"/>
                    </a:solidFill>
                  </a:tcPr>
                </a:tc>
                <a:tc>
                  <a:txBody>
                    <a:bodyPr wrap="square"/>
                    <a:lstStyle/>
                    <a:p>
                      <a:r>
                        <a:rPr sz="1350" b="0">
                          <a:solidFill>
                            <a:srgbClr val="1F1E1D"/>
                          </a:solidFill>
                          <a:latin typeface="Helvetica Neue"/>
                        </a:rPr>
                        <a:t>slow, expensive</a:t>
                      </a:r>
                    </a:p>
                  </a:txBody>
                  <a:tcPr marL="73152" marR="73152" marT="27432" marB="27432" anchor="ctr">
                    <a:solidFill>
                      <a:srgbClr val="E9E6DC"/>
                    </a:solidFill>
                  </a:tcPr>
                </a:tc>
                <a:tc>
                  <a:txBody>
                    <a:bodyPr wrap="square"/>
                    <a:lstStyle/>
                    <a:p>
                      <a:r>
                        <a:rPr sz="1350" b="0">
                          <a:solidFill>
                            <a:srgbClr val="1F1E1D"/>
                          </a:solidFill>
                          <a:latin typeface="Helvetica Neue"/>
                        </a:rPr>
                        <a:t>wrong value, but with honest uncertainty attached</a:t>
                      </a:r>
                    </a:p>
                  </a:txBody>
                  <a:tcPr marL="73152" marR="73152" marT="27432" marB="27432" anchor="ctr">
                    <a:solidFill>
                      <a:srgbClr val="E9E6DC"/>
                    </a:solidFill>
                  </a:tcPr>
                </a:tc>
              </a:tr>
            </a:tbl>
          </a:graphicData>
        </a:graphic>
      </p:graphicFrame>
      <p:sp>
        <p:nvSpPr>
          <p:cNvPr id="8" name="TextBox 7"/>
          <p:cNvSpPr txBox="1"/>
          <p:nvPr/>
        </p:nvSpPr>
        <p:spPr>
          <a:xfrm>
            <a:off x="502920" y="5349240"/>
            <a:ext cx="11155680" cy="914400"/>
          </a:xfrm>
          <a:prstGeom prst="rect">
            <a:avLst/>
          </a:prstGeom>
          <a:noFill/>
        </p:spPr>
        <p:txBody>
          <a:bodyPr wrap="square" anchor="t" lIns="0" rIns="0" tIns="0" bIns="0">
            <a:spAutoFit/>
          </a:bodyPr>
          <a:lstStyle/>
          <a:p>
            <a:pPr algn="l">
              <a:lnSpc>
                <a:spcPct val="100000"/>
              </a:lnSpc>
            </a:pPr>
            <a:r>
              <a:rPr sz="1350" b="1" i="0">
                <a:solidFill>
                  <a:srgbClr val="1F1E1D"/>
                </a:solidFill>
                <a:latin typeface="Helvetica Neue"/>
              </a:rPr>
              <a:t>Mode dropping: </a:t>
            </a:r>
            <a:r>
              <a:rPr sz="1350" b="0" i="0">
                <a:solidFill>
                  <a:srgbClr val="1F1E1D"/>
                </a:solidFill>
                <a:latin typeface="Helvetica Neue"/>
              </a:rPr>
              <a:t>preference training narrows the output distribution toward a favored style. Great for pleasant chat, bad for honest probabilities. RLCD's contract is the opposite: no text, just decisions whose probabilities are optimized against outcomes.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15</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1  |  HOW IT IS TRAINED, IN PICTURES</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The official diagrams: three branches, and why not RLHF</a:t>
            </a:r>
          </a:p>
        </p:txBody>
      </p:sp>
      <p:sp>
        <p:nvSpPr>
          <p:cNvPr id="7" name="Rounded Rectangle 6"/>
          <p:cNvSpPr/>
          <p:nvPr/>
        </p:nvSpPr>
        <p:spPr>
          <a:xfrm>
            <a:off x="502920" y="1554480"/>
            <a:ext cx="6035040" cy="32004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cs_training_paths.png"/>
          <p:cNvPicPr>
            <a:picLocks noChangeAspect="1"/>
          </p:cNvPicPr>
          <p:nvPr/>
        </p:nvPicPr>
        <p:blipFill>
          <a:blip r:embed="rId2"/>
          <a:stretch>
            <a:fillRect/>
          </a:stretch>
        </p:blipFill>
        <p:spPr>
          <a:xfrm>
            <a:off x="777240" y="1965960"/>
            <a:ext cx="5486400" cy="2169914"/>
          </a:xfrm>
          <a:prstGeom prst="rect">
            <a:avLst/>
          </a:prstGeom>
        </p:spPr>
      </p:pic>
      <p:sp>
        <p:nvSpPr>
          <p:cNvPr id="9" name="TextBox 8"/>
          <p:cNvSpPr txBox="1"/>
          <p:nvPr/>
        </p:nvSpPr>
        <p:spPr>
          <a:xfrm>
            <a:off x="777240" y="4251960"/>
            <a:ext cx="5486400" cy="548640"/>
          </a:xfrm>
          <a:prstGeom prst="rect">
            <a:avLst/>
          </a:prstGeom>
          <a:noFill/>
        </p:spPr>
        <p:txBody>
          <a:bodyPr wrap="square" anchor="t" lIns="0" rIns="0" tIns="0" bIns="0">
            <a:spAutoFit/>
          </a:bodyPr>
          <a:lstStyle/>
          <a:p>
            <a:pPr algn="l">
              <a:lnSpc>
                <a:spcPct val="115000"/>
              </a:lnSpc>
            </a:pPr>
            <a:r>
              <a:rPr sz="1150" b="0" i="0">
                <a:solidFill>
                  <a:srgbClr val="5E6B7A"/>
                </a:solidFill>
                <a:latin typeface="Helvetica Neue"/>
              </a:rPr>
              <a:t>Pretrained language models branch three ways: RLHF to chatbots, RLVR to reasoning models, RLCD to decision models. Jev takes the highlighted path.</a:t>
            </a:r>
          </a:p>
        </p:txBody>
      </p:sp>
      <p:sp>
        <p:nvSpPr>
          <p:cNvPr id="10" name="Rounded Rectangle 9"/>
          <p:cNvSpPr/>
          <p:nvPr/>
        </p:nvSpPr>
        <p:spPr>
          <a:xfrm>
            <a:off x="6812280" y="1554480"/>
            <a:ext cx="4892040" cy="32004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s_mode_dropping.png"/>
          <p:cNvPicPr>
            <a:picLocks noChangeAspect="1"/>
          </p:cNvPicPr>
          <p:nvPr/>
        </p:nvPicPr>
        <p:blipFill>
          <a:blip r:embed="rId3"/>
          <a:stretch>
            <a:fillRect/>
          </a:stretch>
        </p:blipFill>
        <p:spPr>
          <a:xfrm>
            <a:off x="7086600" y="1783080"/>
            <a:ext cx="4343400" cy="2368934"/>
          </a:xfrm>
          <a:prstGeom prst="rect">
            <a:avLst/>
          </a:prstGeom>
        </p:spPr>
      </p:pic>
      <p:sp>
        <p:nvSpPr>
          <p:cNvPr id="12" name="TextBox 11"/>
          <p:cNvSpPr txBox="1"/>
          <p:nvPr/>
        </p:nvSpPr>
        <p:spPr>
          <a:xfrm>
            <a:off x="7086600" y="4251960"/>
            <a:ext cx="4343400" cy="548640"/>
          </a:xfrm>
          <a:prstGeom prst="rect">
            <a:avLst/>
          </a:prstGeom>
          <a:noFill/>
        </p:spPr>
        <p:txBody>
          <a:bodyPr wrap="square" anchor="t" lIns="0" rIns="0" tIns="0" bIns="0">
            <a:spAutoFit/>
          </a:bodyPr>
          <a:lstStyle/>
          <a:p>
            <a:pPr algn="l">
              <a:lnSpc>
                <a:spcPct val="115000"/>
              </a:lnSpc>
            </a:pPr>
            <a:r>
              <a:rPr sz="1150" b="0" i="0">
                <a:solidFill>
                  <a:srgbClr val="5E6B7A"/>
                </a:solidFill>
                <a:latin typeface="Helvetica Neue"/>
              </a:rPr>
              <a:t>Mode dropping: preference training narrows a base model's distribution toward a favored style. Pleasant text, distorted probabilities.</a:t>
            </a:r>
          </a:p>
        </p:txBody>
      </p:sp>
      <p:sp>
        <p:nvSpPr>
          <p:cNvPr id="13" name="TextBox 12"/>
          <p:cNvSpPr txBox="1"/>
          <p:nvPr/>
        </p:nvSpPr>
        <p:spPr>
          <a:xfrm>
            <a:off x="502920" y="5166360"/>
            <a:ext cx="11155680" cy="822960"/>
          </a:xfrm>
          <a:prstGeom prst="rect">
            <a:avLst/>
          </a:prstGeom>
          <a:noFill/>
        </p:spPr>
        <p:txBody>
          <a:bodyPr wrap="square" anchor="t" lIns="0" rIns="0" tIns="0" bIns="0">
            <a:spAutoFit/>
          </a:bodyPr>
          <a:lstStyle/>
          <a:p>
            <a:pPr algn="l">
              <a:lnSpc>
                <a:spcPct val="100000"/>
              </a:lnSpc>
            </a:pPr>
            <a:r>
              <a:rPr sz="1400" b="1" i="0">
                <a:solidFill>
                  <a:srgbClr val="BD5D3A"/>
                </a:solidFill>
                <a:latin typeface="Helvetica Neue"/>
              </a:rPr>
              <a:t>Why it matters for you: </a:t>
            </a:r>
            <a:r>
              <a:rPr sz="1400" b="0" i="0">
                <a:solidFill>
                  <a:srgbClr val="1F1E1D"/>
                </a:solidFill>
                <a:latin typeface="Helvetica Neue"/>
              </a:rPr>
              <a:t>a model optimized to please cannot also be trusted to report honest uncertainty. RLCD's contract (no text, calibrated probabilities) is what makes the thresholds in Part 3 meaningful.</a:t>
            </a:r>
          </a:p>
        </p:txBody>
      </p:sp>
      <p:sp>
        <p:nvSpPr>
          <p:cNvPr id="14" name="TextBox 13"/>
          <p:cNvSpPr txBox="1"/>
          <p:nvPr/>
        </p:nvSpPr>
        <p:spPr>
          <a:xfrm>
            <a:off x="502920" y="5989320"/>
            <a:ext cx="7315200" cy="274320"/>
          </a:xfrm>
          <a:prstGeom prst="rect">
            <a:avLst/>
          </a:prstGeom>
          <a:noFill/>
        </p:spPr>
        <p:txBody>
          <a:bodyPr wrap="square" anchor="t" lIns="0" rIns="0" tIns="0" bIns="0">
            <a:spAutoFit/>
          </a:bodyPr>
          <a:lstStyle/>
          <a:p>
            <a:pPr algn="l">
              <a:lnSpc>
                <a:spcPct val="100000"/>
              </a:lnSpc>
            </a:pPr>
            <a:r>
              <a:rPr sz="1050" b="0" i="1">
                <a:solidFill>
                  <a:srgbClr val="8A8780"/>
                </a:solidFill>
                <a:latin typeface="Helvetica Neue"/>
              </a:rPr>
              <a:t>Diagrams: docs.typesafe.ai, AI primer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16</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1  |  THE PROPERTY THAT MAKES IT USABLE</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Calibration: probabilities you can price risk with</a:t>
            </a:r>
          </a:p>
        </p:txBody>
      </p:sp>
      <p:pic>
        <p:nvPicPr>
          <p:cNvPr id="7" name="Picture 6" descr="calibration.png"/>
          <p:cNvPicPr>
            <a:picLocks noChangeAspect="1"/>
          </p:cNvPicPr>
          <p:nvPr/>
        </p:nvPicPr>
        <p:blipFill>
          <a:blip r:embed="rId2"/>
          <a:stretch>
            <a:fillRect/>
          </a:stretch>
        </p:blipFill>
        <p:spPr>
          <a:xfrm>
            <a:off x="502920" y="1645920"/>
            <a:ext cx="4663440" cy="4147486"/>
          </a:xfrm>
          <a:prstGeom prst="rect">
            <a:avLst/>
          </a:prstGeom>
        </p:spPr>
      </p:pic>
      <p:sp>
        <p:nvSpPr>
          <p:cNvPr id="8" name="TextBox 7"/>
          <p:cNvSpPr txBox="1"/>
          <p:nvPr/>
        </p:nvSpPr>
        <p:spPr>
          <a:xfrm>
            <a:off x="5577840" y="1737360"/>
            <a:ext cx="6035040" cy="5486400"/>
          </a:xfrm>
          <a:prstGeom prst="rect">
            <a:avLst/>
          </a:prstGeom>
          <a:noFill/>
        </p:spPr>
        <p:txBody>
          <a:bodyPr wrap="square" anchor="t" lIns="0" rIns="0" tIns="0" bIns="0">
            <a:spAutoFit/>
          </a:bodyPr>
          <a:lstStyle/>
          <a:p>
            <a:pPr algn="l">
              <a:lnSpc>
                <a:spcPct val="108000"/>
              </a:lnSpc>
              <a:spcAft>
                <a:spcPts val="1300"/>
              </a:spcAft>
            </a:pPr>
            <a:r>
              <a:rPr sz="1500" b="1" i="0">
                <a:solidFill>
                  <a:srgbClr val="D97757"/>
                </a:solidFill>
                <a:latin typeface="Helvetica Neue"/>
              </a:rPr>
              <a:t>–  </a:t>
            </a:r>
            <a:r>
              <a:rPr sz="1500" b="1" i="0">
                <a:solidFill>
                  <a:srgbClr val="1F1E1D"/>
                </a:solidFill>
                <a:latin typeface="Helvetica Neue"/>
              </a:rPr>
              <a:t>The definition. </a:t>
            </a:r>
            <a:r>
              <a:rPr sz="1500" b="0" i="0">
                <a:solidFill>
                  <a:srgbClr val="1F1E1D"/>
                </a:solidFill>
                <a:latin typeface="Helvetica Neue"/>
              </a:rPr>
              <a:t>Across many predictions, outcomes given 0.2 happen about 20% of the time; outcomes given 0.8 happen about 80%.</a:t>
            </a:r>
          </a:p>
          <a:p>
            <a:pPr algn="l">
              <a:lnSpc>
                <a:spcPct val="108000"/>
              </a:lnSpc>
              <a:spcAft>
                <a:spcPts val="1300"/>
              </a:spcAft>
            </a:pPr>
            <a:r>
              <a:rPr sz="1500" b="1" i="0">
                <a:solidFill>
                  <a:srgbClr val="D97757"/>
                </a:solidFill>
                <a:latin typeface="Helvetica Neue"/>
              </a:rPr>
              <a:t>–  </a:t>
            </a:r>
            <a:r>
              <a:rPr sz="1500" b="1" i="0">
                <a:solidFill>
                  <a:srgbClr val="1F1E1D"/>
                </a:solidFill>
                <a:latin typeface="Helvetica Neue"/>
              </a:rPr>
              <a:t>Groups, not guarantees. </a:t>
            </a:r>
            <a:r>
              <a:rPr sz="1500" b="0" i="0">
                <a:solidFill>
                  <a:srgbClr val="1F1E1D"/>
                </a:solidFill>
                <a:latin typeface="Helvetica Neue"/>
              </a:rPr>
              <a:t>Calibration says nothing about one specific answer. It makes thresholds and expected-cost math meaningful.</a:t>
            </a:r>
          </a:p>
          <a:p>
            <a:pPr algn="l">
              <a:lnSpc>
                <a:spcPct val="108000"/>
              </a:lnSpc>
              <a:spcAft>
                <a:spcPts val="1300"/>
              </a:spcAft>
            </a:pPr>
            <a:r>
              <a:rPr sz="1500" b="1" i="0">
                <a:solidFill>
                  <a:srgbClr val="D97757"/>
                </a:solidFill>
                <a:latin typeface="Helvetica Neue"/>
              </a:rPr>
              <a:t>–  </a:t>
            </a:r>
            <a:r>
              <a:rPr sz="1500" b="1" i="0">
                <a:solidFill>
                  <a:srgbClr val="1F1E1D"/>
                </a:solidFill>
                <a:latin typeface="Helvetica Neue"/>
              </a:rPr>
              <a:t>The contrast. </a:t>
            </a:r>
            <a:r>
              <a:rPr sz="1500" b="0" i="0">
                <a:solidFill>
                  <a:srgbClr val="1F1E1D"/>
                </a:solidFill>
                <a:latin typeface="Helvetica Neue"/>
              </a:rPr>
              <a:t>An overconfident model's 0.9 means “probably”. A calibrated model's 0.9 is a number you can put in a formula next to the cost of being wrong.</a:t>
            </a:r>
          </a:p>
          <a:p>
            <a:pPr algn="l">
              <a:lnSpc>
                <a:spcPct val="108000"/>
              </a:lnSpc>
              <a:spcAft>
                <a:spcPts val="1300"/>
              </a:spcAft>
            </a:pPr>
            <a:r>
              <a:rPr sz="1500" b="1" i="0">
                <a:solidFill>
                  <a:srgbClr val="D97757"/>
                </a:solidFill>
                <a:latin typeface="Helvetica Neue"/>
              </a:rPr>
              <a:t>–  </a:t>
            </a:r>
            <a:r>
              <a:rPr sz="1500" b="1" i="0">
                <a:solidFill>
                  <a:srgbClr val="1F1E1D"/>
                </a:solidFill>
                <a:latin typeface="Helvetica Neue"/>
              </a:rPr>
              <a:t>The payoff. </a:t>
            </a:r>
            <a:r>
              <a:rPr sz="1500" b="0" i="0">
                <a:solidFill>
                  <a:srgbClr val="1F1E1D"/>
                </a:solidFill>
                <a:latin typeface="Helvetica Neue"/>
              </a:rPr>
              <a:t>“I don't know” becomes a usable signal: mid-range values route to review instead of silently guessing.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17</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2  |  THE API</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One endpoint. Three fields in, three out.</a:t>
            </a:r>
          </a:p>
        </p:txBody>
      </p:sp>
      <p:sp>
        <p:nvSpPr>
          <p:cNvPr id="7" name="Rounded Rectangle 6"/>
          <p:cNvSpPr/>
          <p:nvPr/>
        </p:nvSpPr>
        <p:spPr>
          <a:xfrm>
            <a:off x="502920" y="1600200"/>
            <a:ext cx="5486400" cy="4480560"/>
          </a:xfrm>
          <a:prstGeom prst="roundRect">
            <a:avLst>
              <a:gd name="adj" fmla="val 5500"/>
            </a:avLst>
          </a:prstGeom>
          <a:solidFill>
            <a:srgbClr val="2A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09928"/>
            <a:ext cx="5084064" cy="256032"/>
          </a:xfrm>
          <a:prstGeom prst="rect">
            <a:avLst/>
          </a:prstGeom>
          <a:noFill/>
        </p:spPr>
        <p:txBody>
          <a:bodyPr wrap="square" anchor="t" lIns="0" rIns="0" tIns="0" bIns="0">
            <a:spAutoFit/>
          </a:bodyPr>
          <a:lstStyle/>
          <a:p>
            <a:pPr algn="l">
              <a:lnSpc>
                <a:spcPct val="100000"/>
              </a:lnSpc>
            </a:pPr>
            <a:r>
              <a:rPr sz="1050" b="0" i="0">
                <a:solidFill>
                  <a:srgbClr val="8A8780"/>
                </a:solidFill>
                <a:latin typeface="Menlo"/>
              </a:rPr>
              <a:t>POST https://api.typesafe.ai/v1/systemone</a:t>
            </a:r>
          </a:p>
        </p:txBody>
      </p:sp>
      <p:sp>
        <p:nvSpPr>
          <p:cNvPr id="9" name="TextBox 8"/>
          <p:cNvSpPr txBox="1"/>
          <p:nvPr/>
        </p:nvSpPr>
        <p:spPr>
          <a:xfrm>
            <a:off x="704088" y="2002536"/>
            <a:ext cx="5084064" cy="3877056"/>
          </a:xfrm>
          <a:prstGeom prst="rect">
            <a:avLst/>
          </a:prstGeom>
          <a:noFill/>
        </p:spPr>
        <p:txBody>
          <a:bodyPr wrap="square" anchor="t" lIns="0" rIns="0" tIns="0" bIns="0">
            <a:spAutoFit/>
          </a:bodyPr>
          <a:lstStyle/>
          <a:p>
            <a:pPr algn="l">
              <a:lnSpc>
                <a:spcPct val="112000"/>
              </a:lnSpc>
            </a:pPr>
            <a:r>
              <a:rPr sz="1250" b="0" i="0">
                <a:solidFill>
                  <a:srgbClr val="EDEAE3"/>
                </a:solidFill>
                <a:latin typeface="Menlo"/>
              </a:rPr>
              <a:t>{</a:t>
            </a:r>
          </a:p>
          <a:p>
            <a:pPr algn="l">
              <a:lnSpc>
                <a:spcPct val="112000"/>
              </a:lnSpc>
            </a:pPr>
            <a:r>
              <a:rPr sz="1250" b="0" i="0">
                <a:solidFill>
                  <a:srgbClr val="EDEAE3"/>
                </a:solidFill>
                <a:latin typeface="Menlo"/>
              </a:rPr>
              <a:t>  "model": "jev-latest",</a:t>
            </a:r>
          </a:p>
          <a:p>
            <a:pPr algn="l">
              <a:lnSpc>
                <a:spcPct val="112000"/>
              </a:lnSpc>
            </a:pPr>
            <a:r>
              <a:rPr sz="1250" b="0" i="0">
                <a:solidFill>
                  <a:srgbClr val="EDEAE3"/>
                </a:solidFill>
                <a:latin typeface="Menlo"/>
              </a:rPr>
              <a:t>  "state": "Help! Payouts failing for 3 days.",</a:t>
            </a:r>
          </a:p>
          <a:p>
            <a:pPr algn="l">
              <a:lnSpc>
                <a:spcPct val="112000"/>
              </a:lnSpc>
            </a:pPr>
            <a:r>
              <a:rPr sz="1250" b="0" i="0">
                <a:solidFill>
                  <a:srgbClr val="EDEAE3"/>
                </a:solidFill>
                <a:latin typeface="Menlo"/>
              </a:rPr>
              <a:t>  "questions": {</a:t>
            </a:r>
          </a:p>
          <a:p>
            <a:pPr algn="l">
              <a:lnSpc>
                <a:spcPct val="112000"/>
              </a:lnSpc>
            </a:pPr>
            <a:r>
              <a:rPr sz="1250" b="0" i="0">
                <a:solidFill>
                  <a:srgbClr val="EDEAE3"/>
                </a:solidFill>
                <a:latin typeface="Menlo"/>
              </a:rPr>
              <a:t>    "is_urgent": {</a:t>
            </a:r>
          </a:p>
          <a:p>
            <a:pPr algn="l">
              <a:lnSpc>
                <a:spcPct val="112000"/>
              </a:lnSpc>
            </a:pPr>
            <a:r>
              <a:rPr sz="1250" b="0" i="0">
                <a:solidFill>
                  <a:srgbClr val="EDEAE3"/>
                </a:solidFill>
                <a:latin typeface="Menlo"/>
              </a:rPr>
              <a:t>      "type": "noul",</a:t>
            </a:r>
          </a:p>
          <a:p>
            <a:pPr algn="l">
              <a:lnSpc>
                <a:spcPct val="112000"/>
              </a:lnSpc>
            </a:pPr>
            <a:r>
              <a:rPr sz="1250" b="0" i="0">
                <a:solidFill>
                  <a:srgbClr val="EDEAE3"/>
                </a:solidFill>
                <a:latin typeface="Menlo"/>
              </a:rPr>
              <a:t>      "instructions": "Does this convey urgency?"</a:t>
            </a:r>
          </a:p>
          <a:p>
            <a:pPr algn="l">
              <a:lnSpc>
                <a:spcPct val="112000"/>
              </a:lnSpc>
            </a:pPr>
            <a:r>
              <a:rPr sz="1250" b="0" i="0">
                <a:solidFill>
                  <a:srgbClr val="EDEAE3"/>
                </a:solidFill>
                <a:latin typeface="Menlo"/>
              </a:rPr>
              <a:t>    },</a:t>
            </a:r>
          </a:p>
          <a:p>
            <a:pPr algn="l">
              <a:lnSpc>
                <a:spcPct val="112000"/>
              </a:lnSpc>
            </a:pPr>
            <a:r>
              <a:rPr sz="1250" b="0" i="0">
                <a:solidFill>
                  <a:srgbClr val="EDEAE3"/>
                </a:solidFill>
                <a:latin typeface="Menlo"/>
              </a:rPr>
              <a:t>    "department": {</a:t>
            </a:r>
          </a:p>
          <a:p>
            <a:pPr algn="l">
              <a:lnSpc>
                <a:spcPct val="112000"/>
              </a:lnSpc>
            </a:pPr>
            <a:r>
              <a:rPr sz="1250" b="0" i="0">
                <a:solidFill>
                  <a:srgbClr val="EDEAE3"/>
                </a:solidFill>
                <a:latin typeface="Menlo"/>
              </a:rPr>
              <a:t>      "type": "choice",</a:t>
            </a:r>
          </a:p>
          <a:p>
            <a:pPr algn="l">
              <a:lnSpc>
                <a:spcPct val="112000"/>
              </a:lnSpc>
            </a:pPr>
            <a:r>
              <a:rPr sz="1250" b="0" i="0">
                <a:solidFill>
                  <a:srgbClr val="EDEAE3"/>
                </a:solidFill>
                <a:latin typeface="Menlo"/>
              </a:rPr>
              <a:t>      "instructions": "Which team handles this?",</a:t>
            </a:r>
          </a:p>
          <a:p>
            <a:pPr algn="l">
              <a:lnSpc>
                <a:spcPct val="112000"/>
              </a:lnSpc>
            </a:pPr>
            <a:r>
              <a:rPr sz="1250" b="0" i="0">
                <a:solidFill>
                  <a:srgbClr val="EDEAE3"/>
                </a:solidFill>
                <a:latin typeface="Menlo"/>
              </a:rPr>
              <a:t>      "criteria": {</a:t>
            </a:r>
          </a:p>
          <a:p>
            <a:pPr algn="l">
              <a:lnSpc>
                <a:spcPct val="112000"/>
              </a:lnSpc>
            </a:pPr>
            <a:r>
              <a:rPr sz="1250" b="0" i="0">
                <a:solidFill>
                  <a:srgbClr val="EDEAE3"/>
                </a:solidFill>
                <a:latin typeface="Menlo"/>
              </a:rPr>
              <a:t>        "billing":   "Payments, refunds",</a:t>
            </a:r>
          </a:p>
          <a:p>
            <a:pPr algn="l">
              <a:lnSpc>
                <a:spcPct val="112000"/>
              </a:lnSpc>
            </a:pPr>
            <a:r>
              <a:rPr sz="1250" b="0" i="0">
                <a:solidFill>
                  <a:srgbClr val="EDEAE3"/>
                </a:solidFill>
                <a:latin typeface="Menlo"/>
              </a:rPr>
              <a:t>        "technical": "Bugs, outages",</a:t>
            </a:r>
          </a:p>
          <a:p>
            <a:pPr algn="l">
              <a:lnSpc>
                <a:spcPct val="112000"/>
              </a:lnSpc>
            </a:pPr>
            <a:r>
              <a:rPr sz="1250" b="0" i="0">
                <a:solidFill>
                  <a:srgbClr val="EDEAE3"/>
                </a:solidFill>
                <a:latin typeface="Menlo"/>
              </a:rPr>
              <a:t>        "sales":     "Pricing, accounts"</a:t>
            </a:r>
          </a:p>
          <a:p>
            <a:pPr algn="l">
              <a:lnSpc>
                <a:spcPct val="112000"/>
              </a:lnSpc>
            </a:pPr>
            <a:r>
              <a:rPr sz="1250" b="0" i="0">
                <a:solidFill>
                  <a:srgbClr val="EDEAE3"/>
                </a:solidFill>
                <a:latin typeface="Menlo"/>
              </a:rPr>
              <a:t>      }</a:t>
            </a:r>
          </a:p>
          <a:p>
            <a:pPr algn="l">
              <a:lnSpc>
                <a:spcPct val="112000"/>
              </a:lnSpc>
            </a:pPr>
            <a:r>
              <a:rPr sz="1250" b="0" i="0">
                <a:solidFill>
                  <a:srgbClr val="EDEAE3"/>
                </a:solidFill>
                <a:latin typeface="Menlo"/>
              </a:rPr>
              <a:t>    }</a:t>
            </a:r>
          </a:p>
          <a:p>
            <a:pPr algn="l">
              <a:lnSpc>
                <a:spcPct val="112000"/>
              </a:lnSpc>
            </a:pPr>
            <a:r>
              <a:rPr sz="1250" b="0" i="0">
                <a:solidFill>
                  <a:srgbClr val="EDEAE3"/>
                </a:solidFill>
                <a:latin typeface="Menlo"/>
              </a:rPr>
              <a:t>  }</a:t>
            </a:r>
          </a:p>
          <a:p>
            <a:pPr algn="l">
              <a:lnSpc>
                <a:spcPct val="112000"/>
              </a:lnSpc>
            </a:pPr>
            <a:r>
              <a:rPr sz="1250" b="0" i="0">
                <a:solidFill>
                  <a:srgbClr val="EDEAE3"/>
                </a:solidFill>
                <a:latin typeface="Menlo"/>
              </a:rPr>
              <a:t>}</a:t>
            </a:r>
          </a:p>
        </p:txBody>
      </p:sp>
      <p:sp>
        <p:nvSpPr>
          <p:cNvPr id="10" name="Rounded Rectangle 9"/>
          <p:cNvSpPr/>
          <p:nvPr/>
        </p:nvSpPr>
        <p:spPr>
          <a:xfrm>
            <a:off x="6263640" y="1600200"/>
            <a:ext cx="5486400" cy="4480560"/>
          </a:xfrm>
          <a:prstGeom prst="roundRect">
            <a:avLst>
              <a:gd name="adj" fmla="val 5500"/>
            </a:avLst>
          </a:prstGeom>
          <a:solidFill>
            <a:srgbClr val="2A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1709928"/>
            <a:ext cx="5084064" cy="256032"/>
          </a:xfrm>
          <a:prstGeom prst="rect">
            <a:avLst/>
          </a:prstGeom>
          <a:noFill/>
        </p:spPr>
        <p:txBody>
          <a:bodyPr wrap="square" anchor="t" lIns="0" rIns="0" tIns="0" bIns="0">
            <a:spAutoFit/>
          </a:bodyPr>
          <a:lstStyle/>
          <a:p>
            <a:pPr algn="l">
              <a:lnSpc>
                <a:spcPct val="100000"/>
              </a:lnSpc>
            </a:pPr>
            <a:r>
              <a:rPr sz="1050" b="0" i="0">
                <a:solidFill>
                  <a:srgbClr val="8A8780"/>
                </a:solidFill>
                <a:latin typeface="Menlo"/>
              </a:rPr>
              <a:t>response (authorization: Bearer $TYPESAFE_API_KEY)</a:t>
            </a:r>
          </a:p>
        </p:txBody>
      </p:sp>
      <p:sp>
        <p:nvSpPr>
          <p:cNvPr id="12" name="TextBox 11"/>
          <p:cNvSpPr txBox="1"/>
          <p:nvPr/>
        </p:nvSpPr>
        <p:spPr>
          <a:xfrm>
            <a:off x="6464807" y="2002536"/>
            <a:ext cx="5084064" cy="3877056"/>
          </a:xfrm>
          <a:prstGeom prst="rect">
            <a:avLst/>
          </a:prstGeom>
          <a:noFill/>
        </p:spPr>
        <p:txBody>
          <a:bodyPr wrap="square" anchor="t" lIns="0" rIns="0" tIns="0" bIns="0">
            <a:spAutoFit/>
          </a:bodyPr>
          <a:lstStyle/>
          <a:p>
            <a:pPr algn="l">
              <a:lnSpc>
                <a:spcPct val="112000"/>
              </a:lnSpc>
            </a:pPr>
            <a:r>
              <a:rPr sz="1250" b="0" i="0">
                <a:solidFill>
                  <a:srgbClr val="EDEAE3"/>
                </a:solidFill>
                <a:latin typeface="Menlo"/>
              </a:rPr>
              <a:t>{</a:t>
            </a:r>
          </a:p>
          <a:p>
            <a:pPr algn="l">
              <a:lnSpc>
                <a:spcPct val="112000"/>
              </a:lnSpc>
            </a:pPr>
            <a:r>
              <a:rPr sz="1250" b="0" i="0">
                <a:solidFill>
                  <a:srgbClr val="EDEAE3"/>
                </a:solidFill>
                <a:latin typeface="Menlo"/>
              </a:rPr>
              <a:t>  "model": "jev-1.13.0",</a:t>
            </a:r>
          </a:p>
          <a:p>
            <a:pPr algn="l">
              <a:lnSpc>
                <a:spcPct val="112000"/>
              </a:lnSpc>
            </a:pPr>
            <a:r>
              <a:rPr sz="1250" b="0" i="0">
                <a:solidFill>
                  <a:srgbClr val="EDEAE3"/>
                </a:solidFill>
                <a:latin typeface="Menlo"/>
              </a:rPr>
              <a:t>  "answers": {</a:t>
            </a:r>
          </a:p>
          <a:p>
            <a:pPr algn="l">
              <a:lnSpc>
                <a:spcPct val="112000"/>
              </a:lnSpc>
            </a:pPr>
            <a:r>
              <a:rPr sz="1250" b="0" i="0">
                <a:solidFill>
                  <a:srgbClr val="EDEAE3"/>
                </a:solidFill>
                <a:latin typeface="Menlo"/>
              </a:rPr>
              <a:t>    "is_urgent": {</a:t>
            </a:r>
          </a:p>
          <a:p>
            <a:pPr algn="l">
              <a:lnSpc>
                <a:spcPct val="112000"/>
              </a:lnSpc>
            </a:pPr>
            <a:r>
              <a:rPr sz="1250" b="0" i="0">
                <a:solidFill>
                  <a:srgbClr val="EDEAE3"/>
                </a:solidFill>
                <a:latin typeface="Menlo"/>
              </a:rPr>
              <a:t>      "type": "noul",</a:t>
            </a:r>
          </a:p>
          <a:p>
            <a:pPr algn="l">
              <a:lnSpc>
                <a:spcPct val="112000"/>
              </a:lnSpc>
            </a:pPr>
            <a:r>
              <a:rPr sz="1250" b="0" i="0">
                <a:solidFill>
                  <a:srgbClr val="EDEAE3"/>
                </a:solidFill>
                <a:latin typeface="Menlo"/>
              </a:rPr>
              <a:t>      "noul": 0.95</a:t>
            </a:r>
          </a:p>
          <a:p>
            <a:pPr algn="l">
              <a:lnSpc>
                <a:spcPct val="112000"/>
              </a:lnSpc>
            </a:pPr>
            <a:r>
              <a:rPr sz="1250" b="0" i="0">
                <a:solidFill>
                  <a:srgbClr val="EDEAE3"/>
                </a:solidFill>
                <a:latin typeface="Menlo"/>
              </a:rPr>
              <a:t>    },</a:t>
            </a:r>
          </a:p>
          <a:p>
            <a:pPr algn="l">
              <a:lnSpc>
                <a:spcPct val="112000"/>
              </a:lnSpc>
            </a:pPr>
            <a:r>
              <a:rPr sz="1250" b="0" i="0">
                <a:solidFill>
                  <a:srgbClr val="EDEAE3"/>
                </a:solidFill>
                <a:latin typeface="Menlo"/>
              </a:rPr>
              <a:t>    "department": {</a:t>
            </a:r>
          </a:p>
          <a:p>
            <a:pPr algn="l">
              <a:lnSpc>
                <a:spcPct val="112000"/>
              </a:lnSpc>
            </a:pPr>
            <a:r>
              <a:rPr sz="1250" b="0" i="0">
                <a:solidFill>
                  <a:srgbClr val="EDEAE3"/>
                </a:solidFill>
                <a:latin typeface="Menlo"/>
              </a:rPr>
              <a:t>      "type": "choice",</a:t>
            </a:r>
          </a:p>
          <a:p>
            <a:pPr algn="l">
              <a:lnSpc>
                <a:spcPct val="112000"/>
              </a:lnSpc>
            </a:pPr>
            <a:r>
              <a:rPr sz="1250" b="0" i="0">
                <a:solidFill>
                  <a:srgbClr val="EDEAE3"/>
                </a:solidFill>
                <a:latin typeface="Menlo"/>
              </a:rPr>
              <a:t>      "choice": "billing",</a:t>
            </a:r>
          </a:p>
          <a:p>
            <a:pPr algn="l">
              <a:lnSpc>
                <a:spcPct val="112000"/>
              </a:lnSpc>
            </a:pPr>
            <a:r>
              <a:rPr sz="1250" b="0" i="0">
                <a:solidFill>
                  <a:srgbClr val="EDEAE3"/>
                </a:solidFill>
                <a:latin typeface="Menlo"/>
              </a:rPr>
              <a:t>      "probabilities": {</a:t>
            </a:r>
          </a:p>
          <a:p>
            <a:pPr algn="l">
              <a:lnSpc>
                <a:spcPct val="112000"/>
              </a:lnSpc>
            </a:pPr>
            <a:r>
              <a:rPr sz="1250" b="0" i="0">
                <a:solidFill>
                  <a:srgbClr val="EDEAE3"/>
                </a:solidFill>
                <a:latin typeface="Menlo"/>
              </a:rPr>
              <a:t>        "billing": 0.88,</a:t>
            </a:r>
          </a:p>
          <a:p>
            <a:pPr algn="l">
              <a:lnSpc>
                <a:spcPct val="112000"/>
              </a:lnSpc>
            </a:pPr>
            <a:r>
              <a:rPr sz="1250" b="0" i="0">
                <a:solidFill>
                  <a:srgbClr val="EDEAE3"/>
                </a:solidFill>
                <a:latin typeface="Menlo"/>
              </a:rPr>
              <a:t>        "technical": 0.12,</a:t>
            </a:r>
          </a:p>
          <a:p>
            <a:pPr algn="l">
              <a:lnSpc>
                <a:spcPct val="112000"/>
              </a:lnSpc>
            </a:pPr>
            <a:r>
              <a:rPr sz="1250" b="0" i="0">
                <a:solidFill>
                  <a:srgbClr val="EDEAE3"/>
                </a:solidFill>
                <a:latin typeface="Menlo"/>
              </a:rPr>
              <a:t>        "sales": 0.0</a:t>
            </a:r>
          </a:p>
          <a:p>
            <a:pPr algn="l">
              <a:lnSpc>
                <a:spcPct val="112000"/>
              </a:lnSpc>
            </a:pPr>
            <a:r>
              <a:rPr sz="1250" b="0" i="0">
                <a:solidFill>
                  <a:srgbClr val="EDEAE3"/>
                </a:solidFill>
                <a:latin typeface="Menlo"/>
              </a:rPr>
              <a:t>      },</a:t>
            </a:r>
          </a:p>
          <a:p>
            <a:pPr algn="l">
              <a:lnSpc>
                <a:spcPct val="112000"/>
              </a:lnSpc>
            </a:pPr>
            <a:r>
              <a:rPr sz="1250" b="0" i="0">
                <a:solidFill>
                  <a:srgbClr val="EDEAE3"/>
                </a:solidFill>
                <a:latin typeface="Menlo"/>
              </a:rPr>
              <a:t>      "confidence": 0.81</a:t>
            </a:r>
          </a:p>
          <a:p>
            <a:pPr algn="l">
              <a:lnSpc>
                <a:spcPct val="112000"/>
              </a:lnSpc>
            </a:pPr>
            <a:r>
              <a:rPr sz="1250" b="0" i="0">
                <a:solidFill>
                  <a:srgbClr val="EDEAE3"/>
                </a:solidFill>
                <a:latin typeface="Menlo"/>
              </a:rPr>
              <a:t>    }</a:t>
            </a:r>
          </a:p>
          <a:p>
            <a:pPr algn="l">
              <a:lnSpc>
                <a:spcPct val="112000"/>
              </a:lnSpc>
            </a:pPr>
            <a:r>
              <a:rPr sz="1250" b="0" i="0">
                <a:solidFill>
                  <a:srgbClr val="EDEAE3"/>
                </a:solidFill>
                <a:latin typeface="Menlo"/>
              </a:rPr>
              <a:t>  },</a:t>
            </a:r>
          </a:p>
          <a:p>
            <a:pPr algn="l">
              <a:lnSpc>
                <a:spcPct val="112000"/>
              </a:lnSpc>
            </a:pPr>
            <a:r>
              <a:rPr sz="1250" b="0" i="0">
                <a:solidFill>
                  <a:srgbClr val="EDEAE3"/>
                </a:solidFill>
                <a:latin typeface="Menlo"/>
              </a:rPr>
              <a:t>  "usage": {"input_tokens": 318, "output_tokens": 34}</a:t>
            </a:r>
          </a:p>
          <a:p>
            <a:pPr algn="l">
              <a:lnSpc>
                <a:spcPct val="112000"/>
              </a:lnSpc>
            </a:pPr>
            <a:r>
              <a:rPr sz="1250" b="0" i="0">
                <a:solidFill>
                  <a:srgbClr val="EDEAE3"/>
                </a:solidFill>
                <a:latin typeface="Menlo"/>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18</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2  |  THE PRIMITIVES</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Four question types, four shapes of answer</a:t>
            </a:r>
          </a:p>
        </p:txBody>
      </p:sp>
      <p:graphicFrame>
        <p:nvGraphicFramePr>
          <p:cNvPr id="7" name="Table 6"/>
          <p:cNvGraphicFramePr>
            <a:graphicFrameLocks noGrp="1"/>
          </p:cNvGraphicFramePr>
          <p:nvPr/>
        </p:nvGraphicFramePr>
        <p:xfrm>
          <a:off x="502920" y="1600200"/>
          <a:ext cx="11155680" cy="3657600"/>
        </p:xfrm>
        <a:graphic>
          <a:graphicData uri="http://schemas.openxmlformats.org/drawingml/2006/table">
            <a:tbl>
              <a:tblPr>
                <a:tableStyleId>{5C22544A-7EE6-4342-B048-85BDC9FD1C3A}</a:tableStyleId>
              </a:tblPr>
              <a:tblGrid>
                <a:gridCol w="1554480"/>
                <a:gridCol w="2834640"/>
                <a:gridCol w="4206240"/>
                <a:gridCol w="2560320"/>
              </a:tblGrid>
              <a:tr h="731520">
                <a:tc>
                  <a:txBody>
                    <a:bodyPr wrap="square"/>
                    <a:lstStyle/>
                    <a:p>
                      <a:r>
                        <a:rPr sz="1350" b="1">
                          <a:solidFill>
                            <a:srgbClr val="F0EEE6"/>
                          </a:solidFill>
                          <a:latin typeface="Helvetica Neue"/>
                        </a:rPr>
                        <a:t>Type</a:t>
                      </a:r>
                    </a:p>
                  </a:txBody>
                  <a:tcPr marL="73152" marR="73152" marT="27432" marB="27432" anchor="ctr">
                    <a:solidFill>
                      <a:srgbClr val="1F1E1D"/>
                    </a:solidFill>
                  </a:tcPr>
                </a:tc>
                <a:tc>
                  <a:txBody>
                    <a:bodyPr wrap="square"/>
                    <a:lstStyle/>
                    <a:p>
                      <a:r>
                        <a:rPr sz="1350" b="1">
                          <a:solidFill>
                            <a:srgbClr val="F0EEE6"/>
                          </a:solidFill>
                          <a:latin typeface="Helvetica Neue"/>
                        </a:rPr>
                        <a:t>Answers</a:t>
                      </a:r>
                    </a:p>
                  </a:txBody>
                  <a:tcPr marL="73152" marR="73152" marT="27432" marB="27432" anchor="ctr">
                    <a:solidFill>
                      <a:srgbClr val="1F1E1D"/>
                    </a:solidFill>
                  </a:tcPr>
                </a:tc>
                <a:tc>
                  <a:txBody>
                    <a:bodyPr wrap="square"/>
                    <a:lstStyle/>
                    <a:p>
                      <a:r>
                        <a:rPr sz="1350" b="1">
                          <a:solidFill>
                            <a:srgbClr val="F0EEE6"/>
                          </a:solidFill>
                          <a:latin typeface="Helvetica Neue"/>
                        </a:rPr>
                        <a:t>Returns</a:t>
                      </a:r>
                    </a:p>
                  </a:txBody>
                  <a:tcPr marL="73152" marR="73152" marT="27432" marB="27432" anchor="ctr">
                    <a:solidFill>
                      <a:srgbClr val="1F1E1D"/>
                    </a:solidFill>
                  </a:tcPr>
                </a:tc>
                <a:tc>
                  <a:txBody>
                    <a:bodyPr wrap="square"/>
                    <a:lstStyle/>
                    <a:p>
                      <a:r>
                        <a:rPr sz="1350" b="1">
                          <a:solidFill>
                            <a:srgbClr val="F0EEE6"/>
                          </a:solidFill>
                          <a:latin typeface="Helvetica Neue"/>
                        </a:rPr>
                        <a:t>Maps onto</a:t>
                      </a:r>
                    </a:p>
                  </a:txBody>
                  <a:tcPr marL="73152" marR="73152" marT="27432" marB="27432" anchor="ctr">
                    <a:solidFill>
                      <a:srgbClr val="1F1E1D"/>
                    </a:solidFill>
                  </a:tcPr>
                </a:tc>
              </a:tr>
              <a:tr h="731520">
                <a:tc>
                  <a:txBody>
                    <a:bodyPr wrap="square"/>
                    <a:lstStyle/>
                    <a:p>
                      <a:r>
                        <a:rPr sz="1350" b="0">
                          <a:solidFill>
                            <a:srgbClr val="1F1E1D"/>
                          </a:solidFill>
                          <a:latin typeface="Helvetica Neue"/>
                        </a:rPr>
                        <a:t>Choice</a:t>
                      </a:r>
                    </a:p>
                  </a:txBody>
                  <a:tcPr marL="73152" marR="73152" marT="27432" marB="27432" anchor="ctr">
                    <a:solidFill>
                      <a:srgbClr val="FAF9F5"/>
                    </a:solidFill>
                  </a:tcPr>
                </a:tc>
                <a:tc>
                  <a:txBody>
                    <a:bodyPr wrap="square"/>
                    <a:lstStyle/>
                    <a:p>
                      <a:r>
                        <a:rPr sz="1350" b="0">
                          <a:solidFill>
                            <a:srgbClr val="1F1E1D"/>
                          </a:solidFill>
                          <a:latin typeface="Helvetica Neue"/>
                        </a:rPr>
                        <a:t>which of these options?</a:t>
                      </a:r>
                    </a:p>
                  </a:txBody>
                  <a:tcPr marL="73152" marR="73152" marT="27432" marB="27432" anchor="ctr">
                    <a:solidFill>
                      <a:srgbClr val="FAF9F5"/>
                    </a:solidFill>
                  </a:tcPr>
                </a:tc>
                <a:tc>
                  <a:txBody>
                    <a:bodyPr wrap="square"/>
                    <a:lstStyle/>
                    <a:p>
                      <a:r>
                        <a:rPr sz="1350" b="0">
                          <a:solidFill>
                            <a:srgbClr val="1F1E1D"/>
                          </a:solidFill>
                          <a:latin typeface="Helvetica Neue"/>
                        </a:rPr>
                        <a:t>choice + probability per option + confidence</a:t>
                      </a:r>
                    </a:p>
                  </a:txBody>
                  <a:tcPr marL="73152" marR="73152" marT="27432" marB="27432" anchor="ctr">
                    <a:solidFill>
                      <a:srgbClr val="FAF9F5"/>
                    </a:solidFill>
                  </a:tcPr>
                </a:tc>
                <a:tc>
                  <a:txBody>
                    <a:bodyPr wrap="square"/>
                    <a:lstStyle/>
                    <a:p>
                      <a:r>
                        <a:rPr sz="1350" b="0">
                          <a:solidFill>
                            <a:srgbClr val="1F1E1D"/>
                          </a:solidFill>
                          <a:latin typeface="Helvetica Neue"/>
                        </a:rPr>
                        <a:t>a switch over code paths</a:t>
                      </a:r>
                    </a:p>
                  </a:txBody>
                  <a:tcPr marL="73152" marR="73152" marT="27432" marB="27432" anchor="ctr">
                    <a:solidFill>
                      <a:srgbClr val="FAF9F5"/>
                    </a:solidFill>
                  </a:tcPr>
                </a:tc>
              </a:tr>
              <a:tr h="731520">
                <a:tc>
                  <a:txBody>
                    <a:bodyPr wrap="square"/>
                    <a:lstStyle/>
                    <a:p>
                      <a:r>
                        <a:rPr sz="1350" b="0">
                          <a:solidFill>
                            <a:srgbClr val="1F1E1D"/>
                          </a:solidFill>
                          <a:latin typeface="Helvetica Neue"/>
                        </a:rPr>
                        <a:t>Score</a:t>
                      </a:r>
                    </a:p>
                  </a:txBody>
                  <a:tcPr marL="73152" marR="73152" marT="27432" marB="27432" anchor="ctr">
                    <a:solidFill>
                      <a:srgbClr val="E9E6DC"/>
                    </a:solidFill>
                  </a:tcPr>
                </a:tc>
                <a:tc>
                  <a:txBody>
                    <a:bodyPr wrap="square"/>
                    <a:lstStyle/>
                    <a:p>
                      <a:r>
                        <a:rPr sz="1350" b="0">
                          <a:solidFill>
                            <a:srgbClr val="1F1E1D"/>
                          </a:solidFill>
                          <a:latin typeface="Helvetica Neue"/>
                        </a:rPr>
                        <a:t>which level on my rubric?</a:t>
                      </a:r>
                    </a:p>
                  </a:txBody>
                  <a:tcPr marL="73152" marR="73152" marT="27432" marB="27432" anchor="ctr">
                    <a:solidFill>
                      <a:srgbClr val="E9E6DC"/>
                    </a:solidFill>
                  </a:tcPr>
                </a:tc>
                <a:tc>
                  <a:txBody>
                    <a:bodyPr wrap="square"/>
                    <a:lstStyle/>
                    <a:p>
                      <a:r>
                        <a:rPr sz="1350" b="0">
                          <a:solidFill>
                            <a:srgbClr val="1F1E1D"/>
                          </a:solidFill>
                          <a:latin typeface="Helvetica Neue"/>
                        </a:rPr>
                        <a:t>score (can land between levels) + probabilities + confidence</a:t>
                      </a:r>
                    </a:p>
                  </a:txBody>
                  <a:tcPr marL="73152" marR="73152" marT="27432" marB="27432" anchor="ctr">
                    <a:solidFill>
                      <a:srgbClr val="E9E6DC"/>
                    </a:solidFill>
                  </a:tcPr>
                </a:tc>
                <a:tc>
                  <a:txBody>
                    <a:bodyPr wrap="square"/>
                    <a:lstStyle/>
                    <a:p>
                      <a:r>
                        <a:rPr sz="1350" b="0">
                          <a:solidFill>
                            <a:srgbClr val="1F1E1D"/>
                          </a:solidFill>
                          <a:latin typeface="Helvetica Neue"/>
                        </a:rPr>
                        <a:t>a threshold or a ranking</a:t>
                      </a:r>
                    </a:p>
                  </a:txBody>
                  <a:tcPr marL="73152" marR="73152" marT="27432" marB="27432" anchor="ctr">
                    <a:solidFill>
                      <a:srgbClr val="E9E6DC"/>
                    </a:solidFill>
                  </a:tcPr>
                </a:tc>
              </a:tr>
              <a:tr h="731520">
                <a:tc>
                  <a:txBody>
                    <a:bodyPr wrap="square"/>
                    <a:lstStyle/>
                    <a:p>
                      <a:r>
                        <a:rPr sz="1350" b="0">
                          <a:solidFill>
                            <a:srgbClr val="1F1E1D"/>
                          </a:solidFill>
                          <a:latin typeface="Helvetica Neue"/>
                        </a:rPr>
                        <a:t>Noul</a:t>
                      </a:r>
                    </a:p>
                  </a:txBody>
                  <a:tcPr marL="73152" marR="73152" marT="27432" marB="27432" anchor="ctr">
                    <a:solidFill>
                      <a:srgbClr val="FAF9F5"/>
                    </a:solidFill>
                  </a:tcPr>
                </a:tc>
                <a:tc>
                  <a:txBody>
                    <a:bodyPr wrap="square"/>
                    <a:lstStyle/>
                    <a:p>
                      <a:r>
                        <a:rPr sz="1350" b="0">
                          <a:solidFill>
                            <a:srgbClr val="1F1E1D"/>
                          </a:solidFill>
                          <a:latin typeface="Helvetica Neue"/>
                        </a:rPr>
                        <a:t>is this true?</a:t>
                      </a:r>
                    </a:p>
                  </a:txBody>
                  <a:tcPr marL="73152" marR="73152" marT="27432" marB="27432" anchor="ctr">
                    <a:solidFill>
                      <a:srgbClr val="FAF9F5"/>
                    </a:solidFill>
                  </a:tcPr>
                </a:tc>
                <a:tc>
                  <a:txBody>
                    <a:bodyPr wrap="square"/>
                    <a:lstStyle/>
                    <a:p>
                      <a:r>
                        <a:rPr sz="1350" b="0">
                          <a:solidFill>
                            <a:srgbClr val="1F1E1D"/>
                          </a:solidFill>
                          <a:latin typeface="Helvetica Neue"/>
                        </a:rPr>
                        <a:t>one number: probability of yes (0 to 1)</a:t>
                      </a:r>
                    </a:p>
                  </a:txBody>
                  <a:tcPr marL="73152" marR="73152" marT="27432" marB="27432" anchor="ctr">
                    <a:solidFill>
                      <a:srgbClr val="FAF9F5"/>
                    </a:solidFill>
                  </a:tcPr>
                </a:tc>
                <a:tc>
                  <a:txBody>
                    <a:bodyPr wrap="square"/>
                    <a:lstStyle/>
                    <a:p>
                      <a:r>
                        <a:rPr sz="1350" b="0">
                          <a:solidFill>
                            <a:srgbClr val="1F1E1D"/>
                          </a:solidFill>
                          <a:latin typeface="Helvetica Neue"/>
                        </a:rPr>
                        <a:t>an if statement</a:t>
                      </a:r>
                    </a:p>
                  </a:txBody>
                  <a:tcPr marL="73152" marR="73152" marT="27432" marB="27432" anchor="ctr">
                    <a:solidFill>
                      <a:srgbClr val="FAF9F5"/>
                    </a:solidFill>
                  </a:tcPr>
                </a:tc>
              </a:tr>
              <a:tr h="731520">
                <a:tc>
                  <a:txBody>
                    <a:bodyPr wrap="square"/>
                    <a:lstStyle/>
                    <a:p>
                      <a:r>
                        <a:rPr sz="1350" b="0">
                          <a:solidFill>
                            <a:srgbClr val="1F1E1D"/>
                          </a:solidFill>
                          <a:latin typeface="Helvetica Neue"/>
                        </a:rPr>
                        <a:t>Box  (preview)</a:t>
                      </a:r>
                    </a:p>
                  </a:txBody>
                  <a:tcPr marL="73152" marR="73152" marT="27432" marB="27432" anchor="ctr">
                    <a:solidFill>
                      <a:srgbClr val="E9E6DC"/>
                    </a:solidFill>
                  </a:tcPr>
                </a:tc>
                <a:tc>
                  <a:txBody>
                    <a:bodyPr wrap="square"/>
                    <a:lstStyle/>
                    <a:p>
                      <a:r>
                        <a:rPr sz="1350" b="0">
                          <a:solidFill>
                            <a:srgbClr val="1F1E1D"/>
                          </a:solidFill>
                          <a:latin typeface="Helvetica Neue"/>
                        </a:rPr>
                        <a:t>where is it in this image?</a:t>
                      </a:r>
                    </a:p>
                  </a:txBody>
                  <a:tcPr marL="73152" marR="73152" marT="27432" marB="27432" anchor="ctr">
                    <a:solidFill>
                      <a:srgbClr val="E9E6DC"/>
                    </a:solidFill>
                  </a:tcPr>
                </a:tc>
                <a:tc>
                  <a:txBody>
                    <a:bodyPr wrap="square"/>
                    <a:lstStyle/>
                    <a:p>
                      <a:r>
                        <a:rPr sz="1350" b="0">
                          <a:solidFill>
                            <a:srgbClr val="1F1E1D"/>
                          </a:solidFill>
                          <a:latin typeface="Helvetica Neue"/>
                        </a:rPr>
                        <a:t>four fractional edges + confidence</a:t>
                      </a:r>
                    </a:p>
                  </a:txBody>
                  <a:tcPr marL="73152" marR="73152" marT="27432" marB="27432" anchor="ctr">
                    <a:solidFill>
                      <a:srgbClr val="E9E6DC"/>
                    </a:solidFill>
                  </a:tcPr>
                </a:tc>
                <a:tc>
                  <a:txBody>
                    <a:bodyPr wrap="square"/>
                    <a:lstStyle/>
                    <a:p>
                      <a:r>
                        <a:rPr sz="1350" b="0">
                          <a:solidFill>
                            <a:srgbClr val="1F1E1D"/>
                          </a:solidFill>
                          <a:latin typeface="Helvetica Neue"/>
                        </a:rPr>
                        <a:t>a crop or an overlay</a:t>
                      </a:r>
                    </a:p>
                  </a:txBody>
                  <a:tcPr marL="73152" marR="73152" marT="27432" marB="27432" anchor="ctr">
                    <a:solidFill>
                      <a:srgbClr val="E9E6DC"/>
                    </a:solidFill>
                  </a:tcPr>
                </a:tc>
              </a:tr>
            </a:tbl>
          </a:graphicData>
        </a:graphic>
      </p:graphicFrame>
      <p:sp>
        <p:nvSpPr>
          <p:cNvPr id="8" name="TextBox 7"/>
          <p:cNvSpPr txBox="1"/>
          <p:nvPr/>
        </p:nvSpPr>
        <p:spPr>
          <a:xfrm>
            <a:off x="502920" y="5394960"/>
            <a:ext cx="11155680" cy="914400"/>
          </a:xfrm>
          <a:prstGeom prst="rect">
            <a:avLst/>
          </a:prstGeom>
          <a:noFill/>
        </p:spPr>
        <p:txBody>
          <a:bodyPr wrap="square" anchor="t" lIns="0" rIns="0" tIns="0" bIns="0">
            <a:spAutoFit/>
          </a:bodyPr>
          <a:lstStyle/>
          <a:p>
            <a:pPr algn="l">
              <a:lnSpc>
                <a:spcPct val="100000"/>
              </a:lnSpc>
            </a:pPr>
            <a:r>
              <a:rPr sz="1450" b="1" i="0">
                <a:solidFill>
                  <a:srgbClr val="BD5D3A"/>
                </a:solidFill>
                <a:latin typeface="Helvetica Neue"/>
              </a:rPr>
              <a:t>Choosing: </a:t>
            </a:r>
            <a:r>
              <a:rPr sz="1450" b="0" i="0">
                <a:solidFill>
                  <a:srgbClr val="1F1E1D"/>
                </a:solidFill>
                <a:latin typeface="Helvetica Neue"/>
              </a:rPr>
              <a:t>prefer the type whose answer your code can act on directly. And the rule that pays for the workshop: ask every question you might need in ONE request. Questions are evaluated in parallel; an extra question barely moves latency and costs only its own tokens.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19</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SCENARIO 1  |  TEXT</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Our 9:04 ticket, as one Jev call</a:t>
            </a:r>
          </a:p>
        </p:txBody>
      </p:sp>
      <p:sp>
        <p:nvSpPr>
          <p:cNvPr id="7" name="Rounded Rectangle 6"/>
          <p:cNvSpPr/>
          <p:nvPr/>
        </p:nvSpPr>
        <p:spPr>
          <a:xfrm>
            <a:off x="502920" y="1600200"/>
            <a:ext cx="4206240" cy="22860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55648"/>
            <a:ext cx="3749039" cy="274320"/>
          </a:xfrm>
          <a:prstGeom prst="rect">
            <a:avLst/>
          </a:prstGeom>
          <a:noFill/>
        </p:spPr>
        <p:txBody>
          <a:bodyPr wrap="square" anchor="t" lIns="0" rIns="0" tIns="0" bIns="0">
            <a:spAutoFit/>
          </a:bodyPr>
          <a:lstStyle/>
          <a:p>
            <a:pPr algn="l">
              <a:lnSpc>
                <a:spcPct val="100000"/>
              </a:lnSpc>
            </a:pPr>
            <a:r>
              <a:rPr sz="1100" b="0" i="0">
                <a:solidFill>
                  <a:srgbClr val="8A8780"/>
                </a:solidFill>
                <a:latin typeface="Menlo"/>
              </a:rPr>
              <a:t>state  (the ticket, verbatim)</a:t>
            </a:r>
          </a:p>
        </p:txBody>
      </p:sp>
      <p:sp>
        <p:nvSpPr>
          <p:cNvPr id="9" name="TextBox 8"/>
          <p:cNvSpPr txBox="1"/>
          <p:nvPr/>
        </p:nvSpPr>
        <p:spPr>
          <a:xfrm>
            <a:off x="731520" y="2103120"/>
            <a:ext cx="3749039" cy="1645920"/>
          </a:xfrm>
          <a:prstGeom prst="rect">
            <a:avLst/>
          </a:prstGeom>
          <a:noFill/>
        </p:spPr>
        <p:txBody>
          <a:bodyPr wrap="square" anchor="t" lIns="0" rIns="0" tIns="0" bIns="0">
            <a:spAutoFit/>
          </a:bodyPr>
          <a:lstStyle/>
          <a:p>
            <a:pPr algn="l">
              <a:lnSpc>
                <a:spcPct val="125000"/>
              </a:lnSpc>
            </a:pPr>
            <a:r>
              <a:rPr sz="1250" b="0" i="1">
                <a:solidFill>
                  <a:srgbClr val="1F1E1D"/>
                </a:solidFill>
                <a:latin typeface="Georgia"/>
              </a:rPr>
              <a:t>“Our API integration started returning 500 errors on every request about 20 minutes ago, and we can't process any customer orders until this is fixed.”</a:t>
            </a:r>
          </a:p>
        </p:txBody>
      </p:sp>
      <p:sp>
        <p:nvSpPr>
          <p:cNvPr id="10" name="Rounded Rectangle 9"/>
          <p:cNvSpPr/>
          <p:nvPr/>
        </p:nvSpPr>
        <p:spPr>
          <a:xfrm>
            <a:off x="4983480" y="1600200"/>
            <a:ext cx="6720840" cy="694944"/>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66360" y="1783080"/>
            <a:ext cx="868680" cy="310896"/>
          </a:xfrm>
          <a:prstGeom prst="roundRect">
            <a:avLst>
              <a:gd name="adj" fmla="val 5500"/>
            </a:avLst>
          </a:prstGeom>
          <a:solidFill>
            <a:srgbClr val="7D8B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0EEE6"/>
                </a:solidFill>
                <a:latin typeface="Helvetica Neue"/>
              </a:rPr>
              <a:t>Choice</a:t>
            </a:r>
          </a:p>
        </p:txBody>
      </p:sp>
      <p:sp>
        <p:nvSpPr>
          <p:cNvPr id="12" name="TextBox 11"/>
          <p:cNvSpPr txBox="1"/>
          <p:nvPr/>
        </p:nvSpPr>
        <p:spPr>
          <a:xfrm>
            <a:off x="6172200" y="1682496"/>
            <a:ext cx="3291840" cy="548640"/>
          </a:xfrm>
          <a:prstGeom prst="rect">
            <a:avLst/>
          </a:prstGeom>
          <a:noFill/>
        </p:spPr>
        <p:txBody>
          <a:bodyPr wrap="square" anchor="t" lIns="0" rIns="0" tIns="0" bIns="0">
            <a:spAutoFit/>
          </a:bodyPr>
          <a:lstStyle/>
          <a:p>
            <a:pPr algn="l">
              <a:lnSpc>
                <a:spcPct val="105000"/>
              </a:lnSpc>
            </a:pPr>
            <a:r>
              <a:rPr sz="1150" b="0" i="0">
                <a:solidFill>
                  <a:srgbClr val="1F1E1D"/>
                </a:solidFill>
                <a:latin typeface="Helvetica Neue"/>
              </a:rPr>
              <a:t>Which team should handle this?</a:t>
            </a:r>
          </a:p>
        </p:txBody>
      </p:sp>
      <p:sp>
        <p:nvSpPr>
          <p:cNvPr id="13" name="TextBox 12"/>
          <p:cNvSpPr txBox="1"/>
          <p:nvPr/>
        </p:nvSpPr>
        <p:spPr>
          <a:xfrm>
            <a:off x="9555480" y="1682496"/>
            <a:ext cx="2011680" cy="292608"/>
          </a:xfrm>
          <a:prstGeom prst="rect">
            <a:avLst/>
          </a:prstGeom>
          <a:noFill/>
        </p:spPr>
        <p:txBody>
          <a:bodyPr wrap="square" anchor="t" lIns="0" rIns="0" tIns="0" bIns="0">
            <a:spAutoFit/>
          </a:bodyPr>
          <a:lstStyle/>
          <a:p>
            <a:pPr algn="l">
              <a:lnSpc>
                <a:spcPct val="100000"/>
              </a:lnSpc>
            </a:pPr>
            <a:r>
              <a:rPr sz="1300" b="1" i="0">
                <a:solidFill>
                  <a:srgbClr val="1F1E1D"/>
                </a:solidFill>
                <a:latin typeface="Helvetica Neue"/>
              </a:rPr>
              <a:t>technical</a:t>
            </a:r>
          </a:p>
        </p:txBody>
      </p:sp>
      <p:sp>
        <p:nvSpPr>
          <p:cNvPr id="14" name="TextBox 13"/>
          <p:cNvSpPr txBox="1"/>
          <p:nvPr/>
        </p:nvSpPr>
        <p:spPr>
          <a:xfrm>
            <a:off x="9555480" y="1984248"/>
            <a:ext cx="2057400" cy="274320"/>
          </a:xfrm>
          <a:prstGeom prst="rect">
            <a:avLst/>
          </a:prstGeom>
          <a:noFill/>
        </p:spPr>
        <p:txBody>
          <a:bodyPr wrap="square" anchor="t" lIns="0" rIns="0" tIns="0" bIns="0">
            <a:spAutoFit/>
          </a:bodyPr>
          <a:lstStyle/>
          <a:p>
            <a:pPr algn="l">
              <a:lnSpc>
                <a:spcPct val="100000"/>
              </a:lnSpc>
            </a:pPr>
            <a:r>
              <a:rPr sz="950" b="0" i="1">
                <a:solidFill>
                  <a:srgbClr val="8A8780"/>
                </a:solidFill>
                <a:latin typeface="Helvetica Neue"/>
              </a:rPr>
              <a:t>confidence 1.00</a:t>
            </a:r>
          </a:p>
        </p:txBody>
      </p:sp>
      <p:sp>
        <p:nvSpPr>
          <p:cNvPr id="15" name="Rounded Rectangle 14"/>
          <p:cNvSpPr/>
          <p:nvPr/>
        </p:nvSpPr>
        <p:spPr>
          <a:xfrm>
            <a:off x="4983480" y="2423160"/>
            <a:ext cx="6720840" cy="694944"/>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66360" y="2606040"/>
            <a:ext cx="868680" cy="310896"/>
          </a:xfrm>
          <a:prstGeom prst="roundRect">
            <a:avLst>
              <a:gd name="adj" fmla="val 5500"/>
            </a:avLst>
          </a:prstGeom>
          <a:solidFill>
            <a:srgbClr val="5E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0EEE6"/>
                </a:solidFill>
                <a:latin typeface="Helvetica Neue"/>
              </a:rPr>
              <a:t>Score</a:t>
            </a:r>
          </a:p>
        </p:txBody>
      </p:sp>
      <p:sp>
        <p:nvSpPr>
          <p:cNvPr id="17" name="TextBox 16"/>
          <p:cNvSpPr txBox="1"/>
          <p:nvPr/>
        </p:nvSpPr>
        <p:spPr>
          <a:xfrm>
            <a:off x="6172200" y="2505456"/>
            <a:ext cx="3291840" cy="548640"/>
          </a:xfrm>
          <a:prstGeom prst="rect">
            <a:avLst/>
          </a:prstGeom>
          <a:noFill/>
        </p:spPr>
        <p:txBody>
          <a:bodyPr wrap="square" anchor="t" lIns="0" rIns="0" tIns="0" bIns="0">
            <a:spAutoFit/>
          </a:bodyPr>
          <a:lstStyle/>
          <a:p>
            <a:pPr algn="l">
              <a:lnSpc>
                <a:spcPct val="105000"/>
              </a:lnSpc>
            </a:pPr>
            <a:r>
              <a:rPr sz="1150" b="0" i="0">
                <a:solidFill>
                  <a:srgbClr val="1F1E1D"/>
                </a:solidFill>
                <a:latin typeface="Helvetica Neue"/>
              </a:rPr>
              <a:t>How frustrated does the customer appear?</a:t>
            </a:r>
          </a:p>
        </p:txBody>
      </p:sp>
      <p:sp>
        <p:nvSpPr>
          <p:cNvPr id="18" name="TextBox 17"/>
          <p:cNvSpPr txBox="1"/>
          <p:nvPr/>
        </p:nvSpPr>
        <p:spPr>
          <a:xfrm>
            <a:off x="9555480" y="2505456"/>
            <a:ext cx="2011680" cy="292608"/>
          </a:xfrm>
          <a:prstGeom prst="rect">
            <a:avLst/>
          </a:prstGeom>
          <a:noFill/>
        </p:spPr>
        <p:txBody>
          <a:bodyPr wrap="square" anchor="t" lIns="0" rIns="0" tIns="0" bIns="0">
            <a:spAutoFit/>
          </a:bodyPr>
          <a:lstStyle/>
          <a:p>
            <a:pPr algn="l">
              <a:lnSpc>
                <a:spcPct val="100000"/>
              </a:lnSpc>
            </a:pPr>
            <a:r>
              <a:rPr sz="1300" b="1" i="0">
                <a:solidFill>
                  <a:srgbClr val="1F1E1D"/>
                </a:solidFill>
                <a:latin typeface="Helvetica Neue"/>
              </a:rPr>
              <a:t>0.67 of 2</a:t>
            </a:r>
          </a:p>
        </p:txBody>
      </p:sp>
      <p:sp>
        <p:nvSpPr>
          <p:cNvPr id="19" name="TextBox 18"/>
          <p:cNvSpPr txBox="1"/>
          <p:nvPr/>
        </p:nvSpPr>
        <p:spPr>
          <a:xfrm>
            <a:off x="9555480" y="2807208"/>
            <a:ext cx="2057400" cy="274320"/>
          </a:xfrm>
          <a:prstGeom prst="rect">
            <a:avLst/>
          </a:prstGeom>
          <a:noFill/>
        </p:spPr>
        <p:txBody>
          <a:bodyPr wrap="square" anchor="t" lIns="0" rIns="0" tIns="0" bIns="0">
            <a:spAutoFit/>
          </a:bodyPr>
          <a:lstStyle/>
          <a:p>
            <a:pPr algn="l">
              <a:lnSpc>
                <a:spcPct val="100000"/>
              </a:lnSpc>
            </a:pPr>
            <a:r>
              <a:rPr sz="950" b="0" i="1">
                <a:solidFill>
                  <a:srgbClr val="8A8780"/>
                </a:solidFill>
                <a:latin typeface="Helvetica Neue"/>
              </a:rPr>
              <a:t>leaning 'frustrated but civil'</a:t>
            </a:r>
          </a:p>
        </p:txBody>
      </p:sp>
      <p:sp>
        <p:nvSpPr>
          <p:cNvPr id="20" name="Rounded Rectangle 19"/>
          <p:cNvSpPr/>
          <p:nvPr/>
        </p:nvSpPr>
        <p:spPr>
          <a:xfrm>
            <a:off x="4983480" y="3246120"/>
            <a:ext cx="6720840" cy="694944"/>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66360" y="3429000"/>
            <a:ext cx="868680"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0EEE6"/>
                </a:solidFill>
                <a:latin typeface="Helvetica Neue"/>
              </a:rPr>
              <a:t>Noul</a:t>
            </a:r>
          </a:p>
        </p:txBody>
      </p:sp>
      <p:sp>
        <p:nvSpPr>
          <p:cNvPr id="22" name="TextBox 21"/>
          <p:cNvSpPr txBox="1"/>
          <p:nvPr/>
        </p:nvSpPr>
        <p:spPr>
          <a:xfrm>
            <a:off x="6172200" y="3328415"/>
            <a:ext cx="3291840" cy="548640"/>
          </a:xfrm>
          <a:prstGeom prst="rect">
            <a:avLst/>
          </a:prstGeom>
          <a:noFill/>
        </p:spPr>
        <p:txBody>
          <a:bodyPr wrap="square" anchor="t" lIns="0" rIns="0" tIns="0" bIns="0">
            <a:spAutoFit/>
          </a:bodyPr>
          <a:lstStyle/>
          <a:p>
            <a:pPr algn="l">
              <a:lnSpc>
                <a:spcPct val="105000"/>
              </a:lnSpc>
            </a:pPr>
            <a:r>
              <a:rPr sz="1150" b="0" i="0">
                <a:solidFill>
                  <a:srgbClr val="1F1E1D"/>
                </a:solidFill>
                <a:latin typeface="Helvetica Neue"/>
              </a:rPr>
              <a:t>The message conveys urgency</a:t>
            </a:r>
          </a:p>
        </p:txBody>
      </p:sp>
      <p:sp>
        <p:nvSpPr>
          <p:cNvPr id="23" name="TextBox 22"/>
          <p:cNvSpPr txBox="1"/>
          <p:nvPr/>
        </p:nvSpPr>
        <p:spPr>
          <a:xfrm>
            <a:off x="9555480" y="3328415"/>
            <a:ext cx="2011680" cy="292608"/>
          </a:xfrm>
          <a:prstGeom prst="rect">
            <a:avLst/>
          </a:prstGeom>
          <a:noFill/>
        </p:spPr>
        <p:txBody>
          <a:bodyPr wrap="square" anchor="t" lIns="0" rIns="0" tIns="0" bIns="0">
            <a:spAutoFit/>
          </a:bodyPr>
          <a:lstStyle/>
          <a:p>
            <a:pPr algn="l">
              <a:lnSpc>
                <a:spcPct val="100000"/>
              </a:lnSpc>
            </a:pPr>
            <a:r>
              <a:rPr sz="1300" b="1" i="0">
                <a:solidFill>
                  <a:srgbClr val="1F1E1D"/>
                </a:solidFill>
                <a:latin typeface="Helvetica Neue"/>
              </a:rPr>
              <a:t>0.99</a:t>
            </a:r>
          </a:p>
        </p:txBody>
      </p:sp>
      <p:sp>
        <p:nvSpPr>
          <p:cNvPr id="24" name="TextBox 23"/>
          <p:cNvSpPr txBox="1"/>
          <p:nvPr/>
        </p:nvSpPr>
        <p:spPr>
          <a:xfrm>
            <a:off x="9555480" y="3630168"/>
            <a:ext cx="2057400" cy="274320"/>
          </a:xfrm>
          <a:prstGeom prst="rect">
            <a:avLst/>
          </a:prstGeom>
          <a:noFill/>
        </p:spPr>
        <p:txBody>
          <a:bodyPr wrap="square" anchor="t" lIns="0" rIns="0" tIns="0" bIns="0">
            <a:spAutoFit/>
          </a:bodyPr>
          <a:lstStyle/>
          <a:p>
            <a:pPr algn="l">
              <a:lnSpc>
                <a:spcPct val="100000"/>
              </a:lnSpc>
            </a:pPr>
            <a:r>
              <a:rPr sz="950" b="0" i="1">
                <a:solidFill>
                  <a:srgbClr val="8A8780"/>
                </a:solidFill>
                <a:latin typeface="Helvetica Neue"/>
              </a:rPr>
              <a:t>about as yes as it gets</a:t>
            </a:r>
          </a:p>
        </p:txBody>
      </p:sp>
      <p:sp>
        <p:nvSpPr>
          <p:cNvPr id="25" name="TextBox 24"/>
          <p:cNvSpPr txBox="1"/>
          <p:nvPr/>
        </p:nvSpPr>
        <p:spPr>
          <a:xfrm>
            <a:off x="502920" y="4160520"/>
            <a:ext cx="11155680" cy="914400"/>
          </a:xfrm>
          <a:prstGeom prst="rect">
            <a:avLst/>
          </a:prstGeom>
          <a:noFill/>
        </p:spPr>
        <p:txBody>
          <a:bodyPr wrap="square" anchor="t" lIns="0" rIns="0" tIns="0" bIns="0">
            <a:spAutoFit/>
          </a:bodyPr>
          <a:lstStyle/>
          <a:p>
            <a:pPr algn="l">
              <a:lnSpc>
                <a:spcPct val="125000"/>
              </a:lnSpc>
            </a:pPr>
            <a:r>
              <a:rPr sz="1500" b="1" i="0">
                <a:solidFill>
                  <a:srgbClr val="1F1E1D"/>
                </a:solidFill>
                <a:latin typeface="Helvetica Neue"/>
              </a:rPr>
              <a:t>One request. 428 input tokens. $0.000018. </a:t>
            </a:r>
            <a:r>
              <a:rPr sz="1500" b="0" i="0">
                <a:solidFill>
                  <a:srgbClr val="1F1E1D"/>
                </a:solidFill>
                <a:latin typeface="Helvetica Neue"/>
              </a:rPr>
              <a:t>The support lead's two-second read is now a programmable reflex that runs on every ticket, every time, with its uncertainty attached. (Answers above are the documented quickstart output for this exact ticket.)</a:t>
            </a:r>
          </a:p>
        </p:txBody>
      </p:sp>
      <p:sp>
        <p:nvSpPr>
          <p:cNvPr id="26" name="TextBox 25"/>
          <p:cNvSpPr txBox="1"/>
          <p:nvPr/>
        </p:nvSpPr>
        <p:spPr>
          <a:xfrm>
            <a:off x="502920" y="5257800"/>
            <a:ext cx="11155680" cy="594360"/>
          </a:xfrm>
          <a:prstGeom prst="rect">
            <a:avLst/>
          </a:prstGeom>
          <a:noFill/>
        </p:spPr>
        <p:txBody>
          <a:bodyPr wrap="square" anchor="t" lIns="0" rIns="0" tIns="0" bIns="0">
            <a:spAutoFit/>
          </a:bodyPr>
          <a:lstStyle/>
          <a:p>
            <a:pPr algn="l">
              <a:lnSpc>
                <a:spcPct val="100000"/>
              </a:lnSpc>
            </a:pPr>
            <a:r>
              <a:rPr sz="1300" b="0" i="1">
                <a:solidFill>
                  <a:srgbClr val="BD5D3A"/>
                </a:solidFill>
                <a:latin typeface="Helvetica Neue"/>
              </a:rPr>
              <a:t>Walk the mapping out loud: the ticket is the state, each thing the human 'just knew' became one typed question, and each answer is a value code can branch 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20</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2  |  PRIMITIVE 1 OF 4</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Choice: one option from a defined set</a:t>
            </a:r>
          </a:p>
        </p:txBody>
      </p:sp>
      <p:sp>
        <p:nvSpPr>
          <p:cNvPr id="7" name="TextBox 6"/>
          <p:cNvSpPr txBox="1"/>
          <p:nvPr/>
        </p:nvSpPr>
        <p:spPr>
          <a:xfrm>
            <a:off x="502920" y="1645920"/>
            <a:ext cx="5760720" cy="5486400"/>
          </a:xfrm>
          <a:prstGeom prst="rect">
            <a:avLst/>
          </a:prstGeom>
          <a:noFill/>
        </p:spPr>
        <p:txBody>
          <a:bodyPr wrap="square" anchor="t" lIns="0" rIns="0" tIns="0" bIns="0">
            <a:spAutoFit/>
          </a:bodyPr>
          <a:lstStyle/>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criteria </a:t>
            </a:r>
            <a:r>
              <a:rPr sz="1500" b="0" i="0">
                <a:solidFill>
                  <a:srgbClr val="1F1E1D"/>
                </a:solidFill>
                <a:latin typeface="Helvetica Neue"/>
              </a:rPr>
              <a:t>is a map of option name to description. Both are sent to the model; write descriptions that separate neighbors. Use None when the name is enough.</a:t>
            </a:r>
          </a:p>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Always add an escape hatch. </a:t>
            </a:r>
            <a:r>
              <a:rPr sz="1500" b="0" i="0">
                <a:solidFill>
                  <a:srgbClr val="1F1E1D"/>
                </a:solidFill>
                <a:latin typeface="Helvetica Neue"/>
              </a:rPr>
              <a:t>An “other / none of the above” option gives honest probability somewhere to go.</a:t>
            </a:r>
          </a:p>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The distribution is the feature. </a:t>
            </a:r>
            <a:r>
              <a:rPr sz="1500" b="0" i="0">
                <a:solidFill>
                  <a:srgbClr val="1F1E1D"/>
                </a:solidFill>
                <a:latin typeface="Helvetica Neue"/>
              </a:rPr>
              <a:t>An ambiguous ticket splits probability; code can CC the runner-up team when its share is over 0.25.</a:t>
            </a:r>
          </a:p>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Structured descriptions </a:t>
            </a:r>
            <a:r>
              <a:rPr sz="1500" b="0" i="0">
                <a:solidFill>
                  <a:srgbClr val="1F1E1D"/>
                </a:solidFill>
                <a:latin typeface="Helvetica Neue"/>
              </a:rPr>
              <a:t>(what / not_for / examples) sharpen confusable options.</a:t>
            </a:r>
          </a:p>
        </p:txBody>
      </p:sp>
      <p:pic>
        <p:nvPicPr>
          <p:cNvPr id="8" name="Picture 7" descr="choice_dist.png"/>
          <p:cNvPicPr>
            <a:picLocks noChangeAspect="1"/>
          </p:cNvPicPr>
          <p:nvPr/>
        </p:nvPicPr>
        <p:blipFill>
          <a:blip r:embed="rId2"/>
          <a:stretch>
            <a:fillRect/>
          </a:stretch>
        </p:blipFill>
        <p:spPr>
          <a:xfrm>
            <a:off x="6492240" y="1691640"/>
            <a:ext cx="5212080" cy="3365462"/>
          </a:xfrm>
          <a:prstGeom prst="rect">
            <a:avLst/>
          </a:prstGeom>
        </p:spPr>
      </p:pic>
      <p:sp>
        <p:nvSpPr>
          <p:cNvPr id="9" name="Rounded Rectangle 8"/>
          <p:cNvSpPr/>
          <p:nvPr/>
        </p:nvSpPr>
        <p:spPr>
          <a:xfrm>
            <a:off x="6492240" y="4572000"/>
            <a:ext cx="5212080" cy="1600200"/>
          </a:xfrm>
          <a:prstGeom prst="roundRect">
            <a:avLst>
              <a:gd name="adj" fmla="val 5500"/>
            </a:avLst>
          </a:prstGeom>
          <a:solidFill>
            <a:srgbClr val="2A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93407" y="4773168"/>
            <a:ext cx="4809744" cy="1197864"/>
          </a:xfrm>
          <a:prstGeom prst="rect">
            <a:avLst/>
          </a:prstGeom>
          <a:noFill/>
        </p:spPr>
        <p:txBody>
          <a:bodyPr wrap="square" anchor="t" lIns="0" rIns="0" tIns="0" bIns="0">
            <a:spAutoFit/>
          </a:bodyPr>
          <a:lstStyle/>
          <a:p>
            <a:pPr algn="l">
              <a:lnSpc>
                <a:spcPct val="112000"/>
              </a:lnSpc>
            </a:pPr>
            <a:r>
              <a:rPr sz="1250" b="0" i="0">
                <a:solidFill>
                  <a:srgbClr val="EDEAE3"/>
                </a:solidFill>
                <a:latin typeface="Menlo"/>
              </a:rPr>
              <a:t>Choice(</a:t>
            </a:r>
          </a:p>
          <a:p>
            <a:pPr algn="l">
              <a:lnSpc>
                <a:spcPct val="112000"/>
              </a:lnSpc>
            </a:pPr>
            <a:r>
              <a:rPr sz="1250" b="0" i="0">
                <a:solidFill>
                  <a:srgbClr val="EDEAE3"/>
                </a:solidFill>
                <a:latin typeface="Menlo"/>
              </a:rPr>
              <a:t>  instructions="Which team should handle this?",</a:t>
            </a:r>
          </a:p>
          <a:p>
            <a:pPr algn="l">
              <a:lnSpc>
                <a:spcPct val="112000"/>
              </a:lnSpc>
            </a:pPr>
            <a:r>
              <a:rPr sz="1250" b="0" i="0">
                <a:solidFill>
                  <a:srgbClr val="EDEAE3"/>
                </a:solidFill>
                <a:latin typeface="Menlo"/>
              </a:rPr>
              <a:t>  criteria={</a:t>
            </a:r>
          </a:p>
          <a:p>
            <a:pPr algn="l">
              <a:lnSpc>
                <a:spcPct val="112000"/>
              </a:lnSpc>
            </a:pPr>
            <a:r>
              <a:rPr sz="1250" b="0" i="0">
                <a:solidFill>
                  <a:srgbClr val="EDEAE3"/>
                </a:solidFill>
                <a:latin typeface="Menlo"/>
              </a:rPr>
              <a:t>    "returns":  "Exchanges, wrong or damaged items",</a:t>
            </a:r>
          </a:p>
          <a:p>
            <a:pPr algn="l">
              <a:lnSpc>
                <a:spcPct val="112000"/>
              </a:lnSpc>
            </a:pPr>
            <a:r>
              <a:rPr sz="1250" b="0" i="0">
                <a:solidFill>
                  <a:srgbClr val="EDEAE3"/>
                </a:solidFill>
                <a:latin typeface="Menlo"/>
              </a:rPr>
              <a:t>    "shipping": "Delivery status, delays, lost packages",</a:t>
            </a:r>
          </a:p>
          <a:p>
            <a:pPr algn="l">
              <a:lnSpc>
                <a:spcPct val="112000"/>
              </a:lnSpc>
            </a:pPr>
            <a:r>
              <a:rPr sz="1250" b="0" i="0">
                <a:solidFill>
                  <a:srgbClr val="EDEAE3"/>
                </a:solidFill>
                <a:latin typeface="Menlo"/>
              </a:rPr>
              <a:t>    "billing":  "Charges, invoices, payment problems",</a:t>
            </a:r>
          </a:p>
          <a:p>
            <a:pPr algn="l">
              <a:lnSpc>
                <a:spcPct val="112000"/>
              </a:lnSpc>
            </a:pPr>
            <a:r>
              <a:rPr sz="1250" b="0" i="0">
                <a:solidFill>
                  <a:srgbClr val="EDEAE3"/>
                </a:solidFill>
                <a:latin typeface="Menlo"/>
              </a:rPr>
              <a:t>  },</a:t>
            </a:r>
          </a:p>
          <a:p>
            <a:pPr algn="l">
              <a:lnSpc>
                <a:spcPct val="112000"/>
              </a:lnSpc>
            </a:pPr>
            <a:r>
              <a:rPr sz="1250" b="0" i="0">
                <a:solidFill>
                  <a:srgbClr val="EDEAE3"/>
                </a:solidFill>
                <a:latin typeface="Menlo"/>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21</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2  |  PRIMITIVE 2 OF 4</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Score: a position on a rubric you define</a:t>
            </a:r>
          </a:p>
        </p:txBody>
      </p:sp>
      <p:sp>
        <p:nvSpPr>
          <p:cNvPr id="7" name="TextBox 6"/>
          <p:cNvSpPr txBox="1"/>
          <p:nvPr/>
        </p:nvSpPr>
        <p:spPr>
          <a:xfrm>
            <a:off x="502920" y="1645920"/>
            <a:ext cx="5760720" cy="5486400"/>
          </a:xfrm>
          <a:prstGeom prst="rect">
            <a:avLst/>
          </a:prstGeom>
          <a:noFill/>
        </p:spPr>
        <p:txBody>
          <a:bodyPr wrap="square" anchor="t" lIns="0" rIns="0" tIns="0" bIns="0">
            <a:spAutoFit/>
          </a:bodyPr>
          <a:lstStyle/>
          <a:p>
            <a:pPr algn="l">
              <a:lnSpc>
                <a:spcPct val="108000"/>
              </a:lnSpc>
              <a:spcAft>
                <a:spcPts val="1100"/>
              </a:spcAft>
            </a:pPr>
            <a:r>
              <a:rPr sz="1500" b="1" i="0">
                <a:solidFill>
                  <a:srgbClr val="D97757"/>
                </a:solidFill>
                <a:latin typeface="Helvetica Neue"/>
              </a:rPr>
              <a:t>–  </a:t>
            </a:r>
            <a:r>
              <a:rPr sz="1500" b="1" i="0">
                <a:solidFill>
                  <a:srgbClr val="1F1E1D"/>
                </a:solidFill>
                <a:latin typeface="Helvetica Neue"/>
              </a:rPr>
              <a:t>criteria </a:t>
            </a:r>
            <a:r>
              <a:rPr sz="1500" b="0" i="0">
                <a:solidFill>
                  <a:srgbClr val="1F1E1D"/>
                </a:solidFill>
                <a:latin typeface="Helvetica Neue"/>
              </a:rPr>
              <a:t>is an ordered list, low to high: 2 to 10 levels. A level's number is its array position.</a:t>
            </a:r>
          </a:p>
          <a:p>
            <a:pPr algn="l">
              <a:lnSpc>
                <a:spcPct val="108000"/>
              </a:lnSpc>
              <a:spcAft>
                <a:spcPts val="1100"/>
              </a:spcAft>
            </a:pPr>
            <a:r>
              <a:rPr sz="1500" b="1" i="0">
                <a:solidFill>
                  <a:srgbClr val="D97757"/>
                </a:solidFill>
                <a:latin typeface="Helvetica Neue"/>
              </a:rPr>
              <a:t>–  </a:t>
            </a:r>
            <a:r>
              <a:rPr sz="1500" b="1" i="0">
                <a:solidFill>
                  <a:srgbClr val="1F1E1D"/>
                </a:solidFill>
                <a:latin typeface="Helvetica Neue"/>
              </a:rPr>
              <a:t>score is the probability-weighted mean </a:t>
            </a:r>
            <a:r>
              <a:rPr sz="1500" b="0" i="0">
                <a:solidFill>
                  <a:srgbClr val="1F1E1D"/>
                </a:solidFill>
                <a:latin typeface="Helvetica Neue"/>
              </a:rPr>
              <a:t>of level numbers, so it can land between levels: 1*0.57 + 2*0.43 = 1.43.</a:t>
            </a:r>
          </a:p>
          <a:p>
            <a:pPr algn="l">
              <a:lnSpc>
                <a:spcPct val="108000"/>
              </a:lnSpc>
              <a:spcAft>
                <a:spcPts val="1100"/>
              </a:spcAft>
            </a:pPr>
            <a:r>
              <a:rPr sz="1500" b="1" i="0">
                <a:solidFill>
                  <a:srgbClr val="D97757"/>
                </a:solidFill>
                <a:latin typeface="Helvetica Neue"/>
              </a:rPr>
              <a:t>–  </a:t>
            </a:r>
            <a:r>
              <a:rPr sz="1500" b="1" i="0">
                <a:solidFill>
                  <a:srgbClr val="1F1E1D"/>
                </a:solidFill>
                <a:latin typeface="Helvetica Neue"/>
              </a:rPr>
              <a:t>Describe situations, not degrees. </a:t>
            </a:r>
            <a:r>
              <a:rPr sz="1500" b="0" i="0">
                <a:solidFill>
                  <a:srgbClr val="1F1E1D"/>
                </a:solidFill>
                <a:latin typeface="Helvetica Neue"/>
              </a:rPr>
              <a:t>“Broken, but a workaround exists” beats “moderately severe”. Levels that are bare numbers return noise (live anti-example in notebook 02).</a:t>
            </a:r>
          </a:p>
          <a:p>
            <a:pPr algn="l">
              <a:lnSpc>
                <a:spcPct val="108000"/>
              </a:lnSpc>
              <a:spcAft>
                <a:spcPts val="1100"/>
              </a:spcAft>
            </a:pPr>
            <a:r>
              <a:rPr sz="1500" b="1" i="0">
                <a:solidFill>
                  <a:srgbClr val="D97757"/>
                </a:solidFill>
                <a:latin typeface="Helvetica Neue"/>
              </a:rPr>
              <a:t>–  </a:t>
            </a:r>
            <a:r>
              <a:rPr sz="1500" b="1" i="0">
                <a:solidFill>
                  <a:srgbClr val="1F1E1D"/>
                </a:solidFill>
                <a:latin typeface="Helvetica Neue"/>
              </a:rPr>
              <a:t>One dimension per question. </a:t>
            </a:r>
            <a:r>
              <a:rPr sz="1500" b="0" i="0">
                <a:solidFill>
                  <a:srgbClr val="1F1E1D"/>
                </a:solidFill>
                <a:latin typeface="Helvetica Neue"/>
              </a:rPr>
              <a:t>“Punctual and smart” is two questions; split and weight in code.</a:t>
            </a:r>
          </a:p>
          <a:p>
            <a:pPr algn="l">
              <a:lnSpc>
                <a:spcPct val="108000"/>
              </a:lnSpc>
              <a:spcAft>
                <a:spcPts val="1100"/>
              </a:spcAft>
            </a:pPr>
            <a:r>
              <a:rPr sz="1500" b="1" i="0">
                <a:solidFill>
                  <a:srgbClr val="D97757"/>
                </a:solidFill>
                <a:latin typeface="Helvetica Neue"/>
              </a:rPr>
              <a:t>–  </a:t>
            </a:r>
            <a:r>
              <a:rPr sz="1500" b="1" i="0">
                <a:solidFill>
                  <a:srgbClr val="1F1E1D"/>
                </a:solidFill>
                <a:latin typeface="Helvetica Neue"/>
              </a:rPr>
              <a:t>Normalize before combining: </a:t>
            </a:r>
            <a:r>
              <a:rPr sz="1500" b="0" i="0">
                <a:solidFill>
                  <a:srgbClr val="1F1E1D"/>
                </a:solidFill>
                <a:latin typeface="Helvetica Neue"/>
              </a:rPr>
              <a:t>divide by len(criteria) - 1.</a:t>
            </a:r>
          </a:p>
        </p:txBody>
      </p:sp>
      <p:pic>
        <p:nvPicPr>
          <p:cNvPr id="8" name="Picture 7" descr="score_dist.png"/>
          <p:cNvPicPr>
            <a:picLocks noChangeAspect="1"/>
          </p:cNvPicPr>
          <p:nvPr/>
        </p:nvPicPr>
        <p:blipFill>
          <a:blip r:embed="rId2"/>
          <a:stretch>
            <a:fillRect/>
          </a:stretch>
        </p:blipFill>
        <p:spPr>
          <a:xfrm>
            <a:off x="6492240" y="1783080"/>
            <a:ext cx="5212080" cy="3674770"/>
          </a:xfrm>
          <a:prstGeom prst="rect">
            <a:avLst/>
          </a:prstGeom>
        </p:spPr>
      </p:pic>
      <p:sp>
        <p:nvSpPr>
          <p:cNvPr id="9" name="TextBox 8"/>
          <p:cNvSpPr txBox="1"/>
          <p:nvPr/>
        </p:nvSpPr>
        <p:spPr>
          <a:xfrm>
            <a:off x="6492240" y="5120640"/>
            <a:ext cx="5212080" cy="822960"/>
          </a:xfrm>
          <a:prstGeom prst="rect">
            <a:avLst/>
          </a:prstGeom>
          <a:noFill/>
        </p:spPr>
        <p:txBody>
          <a:bodyPr wrap="square" anchor="t" lIns="0" rIns="0" tIns="0" bIns="0">
            <a:spAutoFit/>
          </a:bodyPr>
          <a:lstStyle/>
          <a:p>
            <a:pPr algn="l">
              <a:lnSpc>
                <a:spcPct val="100000"/>
              </a:lnSpc>
            </a:pPr>
            <a:r>
              <a:rPr sz="1250" b="0" i="1">
                <a:solidFill>
                  <a:srgbClr val="5E6B7A"/>
                </a:solidFill>
                <a:latin typeface="Helvetica Neue"/>
              </a:rPr>
              <a:t>Same score can hide different distributions: 1.0 may be “all on level 1” or “half on 0, half on 2”. Read probabilities and confidence alongside score.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22</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2  |  PRIMITIVE 3 OF 4</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Noul: the probability that a statement is true</a:t>
            </a:r>
          </a:p>
        </p:txBody>
      </p:sp>
      <p:sp>
        <p:nvSpPr>
          <p:cNvPr id="7" name="TextBox 6"/>
          <p:cNvSpPr txBox="1"/>
          <p:nvPr/>
        </p:nvSpPr>
        <p:spPr>
          <a:xfrm>
            <a:off x="502920" y="1645920"/>
            <a:ext cx="5120640" cy="5486400"/>
          </a:xfrm>
          <a:prstGeom prst="rect">
            <a:avLst/>
          </a:prstGeom>
          <a:noFill/>
        </p:spPr>
        <p:txBody>
          <a:bodyPr wrap="square" anchor="t" lIns="0" rIns="0" tIns="0" bIns="0">
            <a:spAutoFit/>
          </a:bodyPr>
          <a:lstStyle/>
          <a:p>
            <a:pPr algn="l">
              <a:lnSpc>
                <a:spcPct val="108000"/>
              </a:lnSpc>
              <a:spcAft>
                <a:spcPts val="1100"/>
              </a:spcAft>
            </a:pPr>
            <a:r>
              <a:rPr sz="1450" b="1" i="0">
                <a:solidFill>
                  <a:srgbClr val="D97757"/>
                </a:solidFill>
                <a:latin typeface="Helvetica Neue"/>
              </a:rPr>
              <a:t>–  </a:t>
            </a:r>
            <a:r>
              <a:rPr sz="1450" b="1" i="0">
                <a:solidFill>
                  <a:srgbClr val="1F1E1D"/>
                </a:solidFill>
                <a:latin typeface="Helvetica Neue"/>
              </a:rPr>
              <a:t>One number. </a:t>
            </a:r>
            <a:r>
              <a:rPr sz="1450" b="0" i="0">
                <a:solidFill>
                  <a:srgbClr val="1F1E1D"/>
                </a:solidFill>
                <a:latin typeface="Helvetica Neue"/>
              </a:rPr>
              <a:t>Near 1: strong yes. Near 0: strong no. Near 0.5: the model is telling you it cannot tell. No separate confidence; with two outcomes the value says it all.</a:t>
            </a:r>
          </a:p>
          <a:p>
            <a:pPr algn="l">
              <a:lnSpc>
                <a:spcPct val="108000"/>
              </a:lnSpc>
              <a:spcAft>
                <a:spcPts val="1100"/>
              </a:spcAft>
            </a:pPr>
            <a:r>
              <a:rPr sz="1450" b="1" i="0">
                <a:solidFill>
                  <a:srgbClr val="D97757"/>
                </a:solidFill>
                <a:latin typeface="Helvetica Neue"/>
              </a:rPr>
              <a:t>–  </a:t>
            </a:r>
            <a:r>
              <a:rPr sz="1450" b="1" i="0">
                <a:solidFill>
                  <a:srgbClr val="1F1E1D"/>
                </a:solidFill>
                <a:latin typeface="Helvetica Neue"/>
              </a:rPr>
              <a:t>Phrase high = yes. </a:t>
            </a:r>
            <a:r>
              <a:rPr sz="1450" b="0" i="0">
                <a:solidFill>
                  <a:srgbClr val="1F1E1D"/>
                </a:solidFill>
                <a:latin typeface="Helvetica Neue"/>
              </a:rPr>
              <a:t>“Is the message free of personal data?” inverts your thresholds.</a:t>
            </a:r>
          </a:p>
          <a:p>
            <a:pPr algn="l">
              <a:lnSpc>
                <a:spcPct val="108000"/>
              </a:lnSpc>
              <a:spcAft>
                <a:spcPts val="1100"/>
              </a:spcAft>
            </a:pPr>
            <a:r>
              <a:rPr sz="1450" b="1" i="0">
                <a:solidFill>
                  <a:srgbClr val="D97757"/>
                </a:solidFill>
                <a:latin typeface="Helvetica Neue"/>
              </a:rPr>
              <a:t>–  </a:t>
            </a:r>
            <a:r>
              <a:rPr sz="1450" b="1" i="0">
                <a:solidFill>
                  <a:srgbClr val="1F1E1D"/>
                </a:solidFill>
                <a:latin typeface="Helvetica Neue"/>
              </a:rPr>
              <a:t>One proposition per Noul. </a:t>
            </a:r>
            <a:r>
              <a:rPr sz="1450" b="0" i="0">
                <a:solidFill>
                  <a:srgbClr val="1F1E1D"/>
                </a:solidFill>
                <a:latin typeface="Helvetica Neue"/>
              </a:rPr>
              <a:t>“Angry AND wants a refund” is two questions.</a:t>
            </a:r>
          </a:p>
          <a:p>
            <a:pPr algn="l">
              <a:lnSpc>
                <a:spcPct val="108000"/>
              </a:lnSpc>
              <a:spcAft>
                <a:spcPts val="1100"/>
              </a:spcAft>
            </a:pPr>
            <a:r>
              <a:rPr sz="1450" b="1" i="0">
                <a:solidFill>
                  <a:srgbClr val="D97757"/>
                </a:solidFill>
                <a:latin typeface="Helvetica Neue"/>
              </a:rPr>
              <a:t>–  </a:t>
            </a:r>
            <a:r>
              <a:rPr sz="1450" b="1" i="0">
                <a:solidFill>
                  <a:srgbClr val="1F1E1D"/>
                </a:solidFill>
                <a:latin typeface="Helvetica Neue"/>
              </a:rPr>
              <a:t>It is not a dial. </a:t>
            </a:r>
            <a:r>
              <a:rPr sz="1450" b="0" i="0">
                <a:solidFill>
                  <a:srgbClr val="1F1E1D"/>
                </a:solidFill>
                <a:latin typeface="Helvetica Neue"/>
              </a:rPr>
              <a:t>The value is probability of yes, never a measure of degree. Measuring degree is a Score's job.</a:t>
            </a:r>
          </a:p>
          <a:p>
            <a:pPr algn="l">
              <a:lnSpc>
                <a:spcPct val="108000"/>
              </a:lnSpc>
              <a:spcAft>
                <a:spcPts val="1100"/>
              </a:spcAft>
            </a:pPr>
            <a:r>
              <a:rPr sz="1450" b="1" i="0">
                <a:solidFill>
                  <a:srgbClr val="D97757"/>
                </a:solidFill>
                <a:latin typeface="Helvetica Neue"/>
              </a:rPr>
              <a:t>–  </a:t>
            </a:r>
            <a:r>
              <a:rPr sz="1450" b="1" i="0">
                <a:solidFill>
                  <a:srgbClr val="1F1E1D"/>
                </a:solidFill>
                <a:latin typeface="Helvetica Neue"/>
              </a:rPr>
              <a:t>Optional criteria </a:t>
            </a:r>
            <a:r>
              <a:rPr sz="1450" b="0" i="0">
                <a:solidFill>
                  <a:srgbClr val="1F1E1D"/>
                </a:solidFill>
                <a:latin typeface="Helvetica Neue"/>
              </a:rPr>
              <a:t>pin down a subtle yes/no boundary with explicit true and false descriptions.</a:t>
            </a:r>
          </a:p>
        </p:txBody>
      </p:sp>
      <p:pic>
        <p:nvPicPr>
          <p:cNvPr id="8" name="Picture 7" descr="noul_ladder.png"/>
          <p:cNvPicPr>
            <a:picLocks noChangeAspect="1"/>
          </p:cNvPicPr>
          <p:nvPr/>
        </p:nvPicPr>
        <p:blipFill>
          <a:blip r:embed="rId2"/>
          <a:stretch>
            <a:fillRect/>
          </a:stretch>
        </p:blipFill>
        <p:spPr>
          <a:xfrm>
            <a:off x="5852160" y="1783080"/>
            <a:ext cx="5852160" cy="220057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23</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2  |  PREVIEW CAPABILITY</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Images: pictures go anywhere text goes</a:t>
            </a:r>
          </a:p>
        </p:txBody>
      </p:sp>
      <p:sp>
        <p:nvSpPr>
          <p:cNvPr id="7" name="TextBox 6"/>
          <p:cNvSpPr txBox="1"/>
          <p:nvPr/>
        </p:nvSpPr>
        <p:spPr>
          <a:xfrm>
            <a:off x="502920" y="1645920"/>
            <a:ext cx="6309360" cy="5486400"/>
          </a:xfrm>
          <a:prstGeom prst="rect">
            <a:avLst/>
          </a:prstGeom>
          <a:noFill/>
        </p:spPr>
        <p:txBody>
          <a:bodyPr wrap="square" anchor="t" lIns="0" rIns="0" tIns="0" bIns="0">
            <a:spAutoFit/>
          </a:bodyPr>
          <a:lstStyle/>
          <a:p>
            <a:pPr algn="l">
              <a:lnSpc>
                <a:spcPct val="108000"/>
              </a:lnSpc>
              <a:spcAft>
                <a:spcPts val="1100"/>
              </a:spcAft>
            </a:pPr>
            <a:r>
              <a:rPr sz="1400" b="1" i="0">
                <a:solidFill>
                  <a:srgbClr val="D97757"/>
                </a:solidFill>
                <a:latin typeface="Helvetica Neue"/>
              </a:rPr>
              <a:t>–  </a:t>
            </a:r>
            <a:r>
              <a:rPr sz="1400" b="1" i="0">
                <a:solidFill>
                  <a:srgbClr val="1F1E1D"/>
                </a:solidFill>
                <a:latin typeface="Helvetica Neue"/>
              </a:rPr>
              <a:t>Placement: </a:t>
            </a:r>
            <a:r>
              <a:rPr sz="1400" b="0" i="0">
                <a:solidFill>
                  <a:srgbClr val="1F1E1D"/>
                </a:solidFill>
                <a:latin typeface="Helvetica Neue"/>
              </a:rPr>
              <a:t>an image can sit in the state, inside a question's instructions, or as the criteria themselves: define Choice options by example pictures.</a:t>
            </a:r>
          </a:p>
          <a:p>
            <a:pPr algn="l">
              <a:lnSpc>
                <a:spcPct val="108000"/>
              </a:lnSpc>
              <a:spcAft>
                <a:spcPts val="1100"/>
              </a:spcAft>
            </a:pPr>
            <a:r>
              <a:rPr sz="1400" b="1" i="0">
                <a:solidFill>
                  <a:srgbClr val="D97757"/>
                </a:solidFill>
                <a:latin typeface="Helvetica Neue"/>
              </a:rPr>
              <a:t>–  </a:t>
            </a:r>
            <a:r>
              <a:rPr sz="1400" b="1" i="0">
                <a:solidFill>
                  <a:srgbClr val="1F1E1D"/>
                </a:solidFill>
                <a:latin typeface="Helvetica Neue"/>
              </a:rPr>
              <a:t>Mechanics: </a:t>
            </a:r>
            <a:r>
              <a:rPr sz="1400" b="0" i="0">
                <a:solidFill>
                  <a:srgbClr val="1F1E1D"/>
                </a:solidFill>
                <a:latin typeface="Helvetica Neue"/>
              </a:rPr>
              <a:t>list each image once in the request's assets map under a reference string; write the reference wherever the image belongs. The SDKs do this for you: Image(Path("door.jpg")).</a:t>
            </a:r>
          </a:p>
          <a:p>
            <a:pPr algn="l">
              <a:lnSpc>
                <a:spcPct val="108000"/>
              </a:lnSpc>
              <a:spcAft>
                <a:spcPts val="1100"/>
              </a:spcAft>
            </a:pPr>
            <a:r>
              <a:rPr sz="1400" b="1" i="0">
                <a:solidFill>
                  <a:srgbClr val="D97757"/>
                </a:solidFill>
                <a:latin typeface="Helvetica Neue"/>
              </a:rPr>
              <a:t>–  </a:t>
            </a:r>
            <a:r>
              <a:rPr sz="1400" b="1" i="0">
                <a:solidFill>
                  <a:srgbClr val="1F1E1D"/>
                </a:solidFill>
                <a:latin typeface="Helvetica Neue"/>
              </a:rPr>
              <a:t>Opt-in and experimental: </a:t>
            </a:r>
            <a:r>
              <a:rPr sz="1400" b="0" i="0">
                <a:solidFill>
                  <a:srgbClr val="1F1E1D"/>
                </a:solidFill>
                <a:latin typeface="Helvetica Neue"/>
              </a:rPr>
              <a:t>every image request needs the header TypeSafe-Danger-Zone-Images: true. “Dreamer-ready”: prototypes yes, production not yet.</a:t>
            </a:r>
          </a:p>
          <a:p>
            <a:pPr algn="l">
              <a:lnSpc>
                <a:spcPct val="108000"/>
              </a:lnSpc>
              <a:spcAft>
                <a:spcPts val="1100"/>
              </a:spcAft>
            </a:pPr>
            <a:r>
              <a:rPr sz="1400" b="1" i="0">
                <a:solidFill>
                  <a:srgbClr val="D97757"/>
                </a:solidFill>
                <a:latin typeface="Helvetica Neue"/>
              </a:rPr>
              <a:t>–  </a:t>
            </a:r>
            <a:r>
              <a:rPr sz="1400" b="1" i="0">
                <a:solidFill>
                  <a:srgbClr val="1F1E1D"/>
                </a:solidFill>
                <a:latin typeface="Helvetica Neue"/>
              </a:rPr>
              <a:t>Limits: </a:t>
            </a:r>
            <a:r>
              <a:rPr sz="1400" b="0" i="0">
                <a:solidFill>
                  <a:srgbClr val="1F1E1D"/>
                </a:solidFill>
                <a:latin typeface="Helvetica Neue"/>
              </a:rPr>
              <a:t>PNG/JPEG only, 16 MiB per file, sides 280 to 1568 px, 32 MiB per request. Billed as ordinary input tokens.</a:t>
            </a:r>
          </a:p>
          <a:p>
            <a:pPr algn="l">
              <a:lnSpc>
                <a:spcPct val="108000"/>
              </a:lnSpc>
              <a:spcAft>
                <a:spcPts val="1100"/>
              </a:spcAft>
            </a:pPr>
            <a:r>
              <a:rPr sz="1400" b="1" i="0">
                <a:solidFill>
                  <a:srgbClr val="D97757"/>
                </a:solidFill>
                <a:latin typeface="Helvetica Neue"/>
              </a:rPr>
              <a:t>–  </a:t>
            </a:r>
            <a:r>
              <a:rPr sz="1400" b="1" i="0">
                <a:solidFill>
                  <a:srgbClr val="1F1E1D"/>
                </a:solidFill>
                <a:latin typeface="Helvetica Neue"/>
              </a:rPr>
              <a:t>Field report from building this deck: </a:t>
            </a:r>
            <a:r>
              <a:rPr sz="1400" b="0" i="0">
                <a:solidFill>
                  <a:srgbClr val="1F1E1D"/>
                </a:solidFill>
                <a:latin typeface="Helvetica Neue"/>
              </a:rPr>
              <a:t>image calls run seconds, not milliseconds; raise the SDK timeout or the default 10 s cap plus retries will stack into minutes.</a:t>
            </a:r>
          </a:p>
        </p:txBody>
      </p:sp>
      <p:sp>
        <p:nvSpPr>
          <p:cNvPr id="8" name="Rounded Rectangle 7"/>
          <p:cNvSpPr/>
          <p:nvPr/>
        </p:nvSpPr>
        <p:spPr>
          <a:xfrm>
            <a:off x="7086600" y="1600200"/>
            <a:ext cx="4617720" cy="452628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ocs_image_anatomy.png"/>
          <p:cNvPicPr>
            <a:picLocks noChangeAspect="1"/>
          </p:cNvPicPr>
          <p:nvPr/>
        </p:nvPicPr>
        <p:blipFill>
          <a:blip r:embed="rId2"/>
          <a:stretch>
            <a:fillRect/>
          </a:stretch>
        </p:blipFill>
        <p:spPr>
          <a:xfrm>
            <a:off x="7543800" y="1783080"/>
            <a:ext cx="3703320" cy="4042791"/>
          </a:xfrm>
          <a:prstGeom prst="rect">
            <a:avLst/>
          </a:prstGeom>
        </p:spPr>
      </p:pic>
      <p:sp>
        <p:nvSpPr>
          <p:cNvPr id="10" name="TextBox 9"/>
          <p:cNvSpPr txBox="1"/>
          <p:nvPr/>
        </p:nvSpPr>
        <p:spPr>
          <a:xfrm>
            <a:off x="7315200" y="5623560"/>
            <a:ext cx="4206240" cy="457200"/>
          </a:xfrm>
          <a:prstGeom prst="rect">
            <a:avLst/>
          </a:prstGeom>
          <a:noFill/>
        </p:spPr>
        <p:txBody>
          <a:bodyPr wrap="square" anchor="t" lIns="0" rIns="0" tIns="0" bIns="0">
            <a:spAutoFit/>
          </a:bodyPr>
          <a:lstStyle/>
          <a:p>
            <a:pPr algn="l">
              <a:lnSpc>
                <a:spcPct val="112000"/>
              </a:lnSpc>
            </a:pPr>
            <a:r>
              <a:rPr sz="1100" b="0" i="1">
                <a:solidFill>
                  <a:srgbClr val="5E6B7A"/>
                </a:solidFill>
                <a:latin typeface="Helvetica Neue"/>
              </a:rPr>
              <a:t>Official diagram: one request, three image placements (state, instructions, criteria), all declared in assets.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24</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2  |  PRIMITIVE 4 OF 4, PREVIEW</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Box: where is it in the image?</a:t>
            </a:r>
          </a:p>
        </p:txBody>
      </p:sp>
      <p:sp>
        <p:nvSpPr>
          <p:cNvPr id="7" name="TextBox 6"/>
          <p:cNvSpPr txBox="1"/>
          <p:nvPr/>
        </p:nvSpPr>
        <p:spPr>
          <a:xfrm>
            <a:off x="502920" y="1645920"/>
            <a:ext cx="5943600" cy="5486400"/>
          </a:xfrm>
          <a:prstGeom prst="rect">
            <a:avLst/>
          </a:prstGeom>
          <a:noFill/>
        </p:spPr>
        <p:txBody>
          <a:bodyPr wrap="square" anchor="t" lIns="0" rIns="0" tIns="0" bIns="0">
            <a:spAutoFit/>
          </a:bodyPr>
          <a:lstStyle/>
          <a:p>
            <a:pPr algn="l">
              <a:lnSpc>
                <a:spcPct val="108000"/>
              </a:lnSpc>
              <a:spcAft>
                <a:spcPts val="1100"/>
              </a:spcAft>
            </a:pPr>
            <a:r>
              <a:rPr sz="1400" b="1" i="0">
                <a:solidFill>
                  <a:srgbClr val="D97757"/>
                </a:solidFill>
                <a:latin typeface="Helvetica Neue"/>
              </a:rPr>
              <a:t>–  </a:t>
            </a:r>
            <a:r>
              <a:rPr sz="1400" b="1" i="0">
                <a:solidFill>
                  <a:srgbClr val="1F1E1D"/>
                </a:solidFill>
                <a:latin typeface="Helvetica Neue"/>
              </a:rPr>
              <a:t>What it returns: </a:t>
            </a:r>
            <a:r>
              <a:rPr sz="1400" b="0" i="0">
                <a:solidFill>
                  <a:srgbClr val="1F1E1D"/>
                </a:solidFill>
                <a:latin typeface="Helvetica Neue"/>
              </a:rPr>
              <a:t>the smallest rectangle around the target: four edges (top, bottom, left, right) as fractions of image size, plus confidence. Resolution-independent by construction.</a:t>
            </a:r>
          </a:p>
          <a:p>
            <a:pPr algn="l">
              <a:lnSpc>
                <a:spcPct val="108000"/>
              </a:lnSpc>
              <a:spcAft>
                <a:spcPts val="1100"/>
              </a:spcAft>
            </a:pPr>
            <a:r>
              <a:rPr sz="1400" b="1" i="0">
                <a:solidFill>
                  <a:srgbClr val="D97757"/>
                </a:solidFill>
                <a:latin typeface="Helvetica Neue"/>
              </a:rPr>
              <a:t>–  </a:t>
            </a:r>
            <a:r>
              <a:rPr sz="1400" b="1" i="0">
                <a:solidFill>
                  <a:srgbClr val="1F1E1D"/>
                </a:solidFill>
                <a:latin typeface="Helvetica Neue"/>
              </a:rPr>
              <a:t>Needs Jev 1.14: </a:t>
            </a:r>
            <a:r>
              <a:rPr sz="1400" b="0" i="0">
                <a:solidFill>
                  <a:srgbClr val="1F1E1D"/>
                </a:solidFill>
                <a:latin typeface="Helvetica Neue"/>
              </a:rPr>
              <a:t>send model="jev-preview" plus the images header. Box takes no criteria; instructions need not be a question: “the coffee mug in `photo`” is enough.</a:t>
            </a:r>
          </a:p>
          <a:p>
            <a:pPr algn="l">
              <a:lnSpc>
                <a:spcPct val="108000"/>
              </a:lnSpc>
              <a:spcAft>
                <a:spcPts val="1100"/>
              </a:spcAft>
            </a:pPr>
            <a:r>
              <a:rPr sz="1400" b="1" i="0">
                <a:solidFill>
                  <a:srgbClr val="D97757"/>
                </a:solidFill>
                <a:latin typeface="Helvetica Neue"/>
              </a:rPr>
              <a:t>–  </a:t>
            </a:r>
            <a:r>
              <a:rPr sz="1400" b="1" i="0">
                <a:solidFill>
                  <a:srgbClr val="1F1E1D"/>
                </a:solidFill>
                <a:latin typeface="Helvetica Neue"/>
              </a:rPr>
              <a:t>There is no “not found”. </a:t>
            </a:r>
            <a:r>
              <a:rPr sz="1400" b="0" i="0">
                <a:solidFill>
                  <a:srgbClr val="1F1E1D"/>
                </a:solidFill>
                <a:latin typeface="Helvetica Neue"/>
              </a:rPr>
              <a:t>A Box always returns edges, even for an absent target. Pair it with a Noul (“Is there a mug in `photo`?”) and ignore the box when the Noul is low.</a:t>
            </a:r>
          </a:p>
          <a:p>
            <a:pPr algn="l">
              <a:lnSpc>
                <a:spcPct val="108000"/>
              </a:lnSpc>
              <a:spcAft>
                <a:spcPts val="1100"/>
              </a:spcAft>
            </a:pPr>
            <a:r>
              <a:rPr sz="1400" b="1" i="0">
                <a:solidFill>
                  <a:srgbClr val="D97757"/>
                </a:solidFill>
                <a:latin typeface="Helvetica Neue"/>
              </a:rPr>
              <a:t>–  </a:t>
            </a:r>
            <a:r>
              <a:rPr sz="1400" b="1" i="0">
                <a:solidFill>
                  <a:srgbClr val="1F1E1D"/>
                </a:solidFill>
                <a:latin typeface="Helvetica Neue"/>
              </a:rPr>
              <a:t>Low confidence has remedies: </a:t>
            </a:r>
            <a:r>
              <a:rPr sz="1400" b="0" i="0">
                <a:solidFill>
                  <a:srgbClr val="1F1E1D"/>
                </a:solidFill>
                <a:latin typeface="Helvetica Neue"/>
              </a:rPr>
              <a:t>re-ask on a crop, pad the box before cropping, or verify each edge with a Noul (“does the mug continue past the left edge?”).</a:t>
            </a:r>
          </a:p>
        </p:txBody>
      </p:sp>
      <p:sp>
        <p:nvSpPr>
          <p:cNvPr id="8" name="Rounded Rectangle 7"/>
          <p:cNvSpPr/>
          <p:nvPr/>
        </p:nvSpPr>
        <p:spPr>
          <a:xfrm>
            <a:off x="6812280" y="1600200"/>
            <a:ext cx="4892040" cy="288036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ocs_box_edges.png"/>
          <p:cNvPicPr>
            <a:picLocks noChangeAspect="1"/>
          </p:cNvPicPr>
          <p:nvPr/>
        </p:nvPicPr>
        <p:blipFill>
          <a:blip r:embed="rId2"/>
          <a:stretch>
            <a:fillRect/>
          </a:stretch>
        </p:blipFill>
        <p:spPr>
          <a:xfrm>
            <a:off x="7543800" y="1755648"/>
            <a:ext cx="3429000" cy="2336006"/>
          </a:xfrm>
          <a:prstGeom prst="rect">
            <a:avLst/>
          </a:prstGeom>
        </p:spPr>
      </p:pic>
      <p:sp>
        <p:nvSpPr>
          <p:cNvPr id="10" name="TextBox 9"/>
          <p:cNvSpPr txBox="1"/>
          <p:nvPr/>
        </p:nvSpPr>
        <p:spPr>
          <a:xfrm>
            <a:off x="7040880" y="4133087"/>
            <a:ext cx="4480560" cy="320040"/>
          </a:xfrm>
          <a:prstGeom prst="rect">
            <a:avLst/>
          </a:prstGeom>
          <a:noFill/>
        </p:spPr>
        <p:txBody>
          <a:bodyPr wrap="square" anchor="t" lIns="0" rIns="0" tIns="0" bIns="0">
            <a:spAutoFit/>
          </a:bodyPr>
          <a:lstStyle/>
          <a:p>
            <a:pPr algn="l">
              <a:lnSpc>
                <a:spcPct val="100000"/>
              </a:lnSpc>
            </a:pPr>
            <a:r>
              <a:rPr sz="1050" b="0" i="1">
                <a:solidFill>
                  <a:srgbClr val="5E6B7A"/>
                </a:solidFill>
                <a:latin typeface="Helvetica Neue"/>
              </a:rPr>
              <a:t>Official diagram: edges as fractions from the top-left corner.</a:t>
            </a:r>
          </a:p>
        </p:txBody>
      </p:sp>
      <p:pic>
        <p:nvPicPr>
          <p:cNvPr id="11" name="Picture 10" descr="box_annotated.png"/>
          <p:cNvPicPr>
            <a:picLocks noChangeAspect="1"/>
          </p:cNvPicPr>
          <p:nvPr/>
        </p:nvPicPr>
        <p:blipFill>
          <a:blip r:embed="rId3"/>
          <a:stretch>
            <a:fillRect/>
          </a:stretch>
        </p:blipFill>
        <p:spPr>
          <a:xfrm>
            <a:off x="6812280" y="4572000"/>
            <a:ext cx="2286000" cy="1714500"/>
          </a:xfrm>
          <a:prstGeom prst="rect">
            <a:avLst/>
          </a:prstGeom>
        </p:spPr>
      </p:pic>
      <p:sp>
        <p:nvSpPr>
          <p:cNvPr id="12" name="TextBox 11"/>
          <p:cNvSpPr txBox="1"/>
          <p:nvPr/>
        </p:nvSpPr>
        <p:spPr>
          <a:xfrm>
            <a:off x="9235440" y="4663440"/>
            <a:ext cx="2468880" cy="1554480"/>
          </a:xfrm>
          <a:prstGeom prst="rect">
            <a:avLst/>
          </a:prstGeom>
          <a:noFill/>
        </p:spPr>
        <p:txBody>
          <a:bodyPr wrap="square" anchor="t" lIns="0" rIns="0" tIns="0" bIns="0">
            <a:spAutoFit/>
          </a:bodyPr>
          <a:lstStyle/>
          <a:p>
            <a:pPr algn="l">
              <a:lnSpc>
                <a:spcPct val="115000"/>
              </a:lnSpc>
            </a:pPr>
            <a:r>
              <a:rPr sz="1100" b="0" i="1">
                <a:solidFill>
                  <a:srgbClr val="5E6B7A"/>
                </a:solidFill>
                <a:latin typeface="Helvetica Neue"/>
              </a:rPr>
              <a:t>Our live test (notebook 02): Jev 1.14 boxed the red circle; vertical edges accurate, horizontal loose, confidence honestly reported at 0.24.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25</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SCENARIO 2  |  IMAGE</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The doorbell camera: four questions about one photo</a:t>
            </a:r>
          </a:p>
        </p:txBody>
      </p:sp>
      <p:pic>
        <p:nvPicPr>
          <p:cNvPr id="7" name="Picture 6" descr="porch_annotated.png"/>
          <p:cNvPicPr>
            <a:picLocks noChangeAspect="1"/>
          </p:cNvPicPr>
          <p:nvPr/>
        </p:nvPicPr>
        <p:blipFill>
          <a:blip r:embed="rId2"/>
          <a:stretch>
            <a:fillRect/>
          </a:stretch>
        </p:blipFill>
        <p:spPr>
          <a:xfrm>
            <a:off x="502920" y="1645920"/>
            <a:ext cx="4754880" cy="3566160"/>
          </a:xfrm>
          <a:prstGeom prst="rect">
            <a:avLst/>
          </a:prstGeom>
        </p:spPr>
      </p:pic>
      <p:sp>
        <p:nvSpPr>
          <p:cNvPr id="8" name="TextBox 7"/>
          <p:cNvSpPr txBox="1"/>
          <p:nvPr/>
        </p:nvSpPr>
        <p:spPr>
          <a:xfrm>
            <a:off x="502920" y="5349240"/>
            <a:ext cx="4754880" cy="548640"/>
          </a:xfrm>
          <a:prstGeom prst="rect">
            <a:avLst/>
          </a:prstGeom>
          <a:noFill/>
        </p:spPr>
        <p:txBody>
          <a:bodyPr wrap="square" anchor="t" lIns="0" rIns="0" tIns="0" bIns="0">
            <a:spAutoFit/>
          </a:bodyPr>
          <a:lstStyle/>
          <a:p>
            <a:pPr algn="l">
              <a:lnSpc>
                <a:spcPct val="100000"/>
              </a:lnSpc>
            </a:pPr>
            <a:r>
              <a:rPr sz="1150" b="0" i="1">
                <a:solidFill>
                  <a:srgbClr val="5E6B7A"/>
                </a:solidFill>
                <a:latin typeface="Helvetica Neue"/>
              </a:rPr>
              <a:t>The green box is Jev's answer, drawn by our code: left 0.50, top 0.67, right 0.70, bottom 0.87.</a:t>
            </a:r>
          </a:p>
        </p:txBody>
      </p:sp>
      <p:sp>
        <p:nvSpPr>
          <p:cNvPr id="9" name="Rounded Rectangle 8"/>
          <p:cNvSpPr/>
          <p:nvPr/>
        </p:nvSpPr>
        <p:spPr>
          <a:xfrm>
            <a:off x="5577840" y="1645920"/>
            <a:ext cx="6126480" cy="713232"/>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760720" y="1837944"/>
            <a:ext cx="868680" cy="310896"/>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0EEE6"/>
                </a:solidFill>
                <a:latin typeface="Helvetica Neue"/>
              </a:rPr>
              <a:t>Noul</a:t>
            </a:r>
          </a:p>
        </p:txBody>
      </p:sp>
      <p:sp>
        <p:nvSpPr>
          <p:cNvPr id="11" name="TextBox 10"/>
          <p:cNvSpPr txBox="1"/>
          <p:nvPr/>
        </p:nvSpPr>
        <p:spPr>
          <a:xfrm>
            <a:off x="6766560" y="1719072"/>
            <a:ext cx="2743200" cy="594360"/>
          </a:xfrm>
          <a:prstGeom prst="rect">
            <a:avLst/>
          </a:prstGeom>
          <a:noFill/>
        </p:spPr>
        <p:txBody>
          <a:bodyPr wrap="square" anchor="t" lIns="0" rIns="0" tIns="0" bIns="0">
            <a:spAutoFit/>
          </a:bodyPr>
          <a:lstStyle/>
          <a:p>
            <a:pPr algn="l">
              <a:lnSpc>
                <a:spcPct val="105000"/>
              </a:lnSpc>
            </a:pPr>
            <a:r>
              <a:rPr sz="1100" b="0" i="0">
                <a:solidFill>
                  <a:srgbClr val="1F1E1D"/>
                </a:solidFill>
                <a:latin typeface="Helvetica Neue"/>
              </a:rPr>
              <a:t>Is there a person in `porch`?</a:t>
            </a:r>
          </a:p>
        </p:txBody>
      </p:sp>
      <p:sp>
        <p:nvSpPr>
          <p:cNvPr id="12" name="TextBox 11"/>
          <p:cNvSpPr txBox="1"/>
          <p:nvPr/>
        </p:nvSpPr>
        <p:spPr>
          <a:xfrm>
            <a:off x="9601200" y="1719072"/>
            <a:ext cx="1920240" cy="274320"/>
          </a:xfrm>
          <a:prstGeom prst="rect">
            <a:avLst/>
          </a:prstGeom>
          <a:noFill/>
        </p:spPr>
        <p:txBody>
          <a:bodyPr wrap="square" anchor="t" lIns="0" rIns="0" tIns="0" bIns="0">
            <a:spAutoFit/>
          </a:bodyPr>
          <a:lstStyle/>
          <a:p>
            <a:pPr algn="l">
              <a:lnSpc>
                <a:spcPct val="100000"/>
              </a:lnSpc>
            </a:pPr>
            <a:r>
              <a:rPr sz="1250" b="1" i="0">
                <a:solidFill>
                  <a:srgbClr val="1F1E1D"/>
                </a:solidFill>
                <a:latin typeface="Helvetica Neue"/>
              </a:rPr>
              <a:t>0.05</a:t>
            </a:r>
          </a:p>
        </p:txBody>
      </p:sp>
      <p:sp>
        <p:nvSpPr>
          <p:cNvPr id="13" name="TextBox 12"/>
          <p:cNvSpPr txBox="1"/>
          <p:nvPr/>
        </p:nvSpPr>
        <p:spPr>
          <a:xfrm>
            <a:off x="9601200" y="2011680"/>
            <a:ext cx="2011680" cy="320040"/>
          </a:xfrm>
          <a:prstGeom prst="rect">
            <a:avLst/>
          </a:prstGeom>
          <a:noFill/>
        </p:spPr>
        <p:txBody>
          <a:bodyPr wrap="square" anchor="t" lIns="0" rIns="0" tIns="0" bIns="0">
            <a:spAutoFit/>
          </a:bodyPr>
          <a:lstStyle/>
          <a:p>
            <a:pPr algn="l">
              <a:lnSpc>
                <a:spcPct val="100000"/>
              </a:lnSpc>
            </a:pPr>
            <a:r>
              <a:rPr sz="900" b="0" i="1">
                <a:solidFill>
                  <a:srgbClr val="8A8780"/>
                </a:solidFill>
                <a:latin typeface="Helvetica Neue"/>
              </a:rPr>
              <a:t>nobody there: do not ping the phone</a:t>
            </a:r>
          </a:p>
        </p:txBody>
      </p:sp>
      <p:sp>
        <p:nvSpPr>
          <p:cNvPr id="14" name="Rounded Rectangle 13"/>
          <p:cNvSpPr/>
          <p:nvPr/>
        </p:nvSpPr>
        <p:spPr>
          <a:xfrm>
            <a:off x="5577840" y="2487168"/>
            <a:ext cx="6126480" cy="713232"/>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760720" y="2679192"/>
            <a:ext cx="868680" cy="310896"/>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0EEE6"/>
                </a:solidFill>
                <a:latin typeface="Helvetica Neue"/>
              </a:rPr>
              <a:t>Noul</a:t>
            </a:r>
          </a:p>
        </p:txBody>
      </p:sp>
      <p:sp>
        <p:nvSpPr>
          <p:cNvPr id="16" name="TextBox 15"/>
          <p:cNvSpPr txBox="1"/>
          <p:nvPr/>
        </p:nvSpPr>
        <p:spPr>
          <a:xfrm>
            <a:off x="6766560" y="2560320"/>
            <a:ext cx="2743200" cy="594360"/>
          </a:xfrm>
          <a:prstGeom prst="rect">
            <a:avLst/>
          </a:prstGeom>
          <a:noFill/>
        </p:spPr>
        <p:txBody>
          <a:bodyPr wrap="square" anchor="t" lIns="0" rIns="0" tIns="0" bIns="0">
            <a:spAutoFit/>
          </a:bodyPr>
          <a:lstStyle/>
          <a:p>
            <a:pPr algn="l">
              <a:lnSpc>
                <a:spcPct val="105000"/>
              </a:lnSpc>
            </a:pPr>
            <a:r>
              <a:rPr sz="1100" b="0" i="0">
                <a:solidFill>
                  <a:srgbClr val="1F1E1D"/>
                </a:solidFill>
                <a:latin typeface="Helvetica Neue"/>
              </a:rPr>
              <a:t>Is there a delivered package in `porch`?</a:t>
            </a:r>
          </a:p>
        </p:txBody>
      </p:sp>
      <p:sp>
        <p:nvSpPr>
          <p:cNvPr id="17" name="TextBox 16"/>
          <p:cNvSpPr txBox="1"/>
          <p:nvPr/>
        </p:nvSpPr>
        <p:spPr>
          <a:xfrm>
            <a:off x="9601200" y="2560320"/>
            <a:ext cx="1920240" cy="274320"/>
          </a:xfrm>
          <a:prstGeom prst="rect">
            <a:avLst/>
          </a:prstGeom>
          <a:noFill/>
        </p:spPr>
        <p:txBody>
          <a:bodyPr wrap="square" anchor="t" lIns="0" rIns="0" tIns="0" bIns="0">
            <a:spAutoFit/>
          </a:bodyPr>
          <a:lstStyle/>
          <a:p>
            <a:pPr algn="l">
              <a:lnSpc>
                <a:spcPct val="100000"/>
              </a:lnSpc>
            </a:pPr>
            <a:r>
              <a:rPr sz="1250" b="1" i="0">
                <a:solidFill>
                  <a:srgbClr val="1F1E1D"/>
                </a:solidFill>
                <a:latin typeface="Helvetica Neue"/>
              </a:rPr>
              <a:t>0.97</a:t>
            </a:r>
          </a:p>
        </p:txBody>
      </p:sp>
      <p:sp>
        <p:nvSpPr>
          <p:cNvPr id="18" name="TextBox 17"/>
          <p:cNvSpPr txBox="1"/>
          <p:nvPr/>
        </p:nvSpPr>
        <p:spPr>
          <a:xfrm>
            <a:off x="9601200" y="2852928"/>
            <a:ext cx="2011680" cy="320040"/>
          </a:xfrm>
          <a:prstGeom prst="rect">
            <a:avLst/>
          </a:prstGeom>
          <a:noFill/>
        </p:spPr>
        <p:txBody>
          <a:bodyPr wrap="square" anchor="t" lIns="0" rIns="0" tIns="0" bIns="0">
            <a:spAutoFit/>
          </a:bodyPr>
          <a:lstStyle/>
          <a:p>
            <a:pPr algn="l">
              <a:lnSpc>
                <a:spcPct val="100000"/>
              </a:lnSpc>
            </a:pPr>
            <a:r>
              <a:rPr sz="900" b="0" i="1">
                <a:solidFill>
                  <a:srgbClr val="8A8780"/>
                </a:solidFill>
                <a:latin typeface="Helvetica Neue"/>
              </a:rPr>
              <a:t>notify: 'package delivered'</a:t>
            </a:r>
          </a:p>
        </p:txBody>
      </p:sp>
      <p:sp>
        <p:nvSpPr>
          <p:cNvPr id="19" name="Rounded Rectangle 18"/>
          <p:cNvSpPr/>
          <p:nvPr/>
        </p:nvSpPr>
        <p:spPr>
          <a:xfrm>
            <a:off x="5577840" y="3328416"/>
            <a:ext cx="6126480" cy="713232"/>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760720" y="3520440"/>
            <a:ext cx="868680" cy="310896"/>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0EEE6"/>
                </a:solidFill>
                <a:latin typeface="Helvetica Neue"/>
              </a:rPr>
              <a:t>Choice</a:t>
            </a:r>
          </a:p>
        </p:txBody>
      </p:sp>
      <p:sp>
        <p:nvSpPr>
          <p:cNvPr id="21" name="TextBox 20"/>
          <p:cNvSpPr txBox="1"/>
          <p:nvPr/>
        </p:nvSpPr>
        <p:spPr>
          <a:xfrm>
            <a:off x="6766560" y="3401568"/>
            <a:ext cx="2743200" cy="594360"/>
          </a:xfrm>
          <a:prstGeom prst="rect">
            <a:avLst/>
          </a:prstGeom>
          <a:noFill/>
        </p:spPr>
        <p:txBody>
          <a:bodyPr wrap="square" anchor="t" lIns="0" rIns="0" tIns="0" bIns="0">
            <a:spAutoFit/>
          </a:bodyPr>
          <a:lstStyle/>
          <a:p>
            <a:pPr algn="l">
              <a:lnSpc>
                <a:spcPct val="105000"/>
              </a:lnSpc>
            </a:pPr>
            <a:r>
              <a:rPr sz="1100" b="0" i="0">
                <a:solidFill>
                  <a:srgbClr val="1F1E1D"/>
                </a:solidFill>
                <a:latin typeface="Helvetica Neue"/>
              </a:rPr>
              <a:t>Is the door open or closed?</a:t>
            </a:r>
          </a:p>
        </p:txBody>
      </p:sp>
      <p:sp>
        <p:nvSpPr>
          <p:cNvPr id="22" name="TextBox 21"/>
          <p:cNvSpPr txBox="1"/>
          <p:nvPr/>
        </p:nvSpPr>
        <p:spPr>
          <a:xfrm>
            <a:off x="9601200" y="3401568"/>
            <a:ext cx="1920240" cy="274320"/>
          </a:xfrm>
          <a:prstGeom prst="rect">
            <a:avLst/>
          </a:prstGeom>
          <a:noFill/>
        </p:spPr>
        <p:txBody>
          <a:bodyPr wrap="square" anchor="t" lIns="0" rIns="0" tIns="0" bIns="0">
            <a:spAutoFit/>
          </a:bodyPr>
          <a:lstStyle/>
          <a:p>
            <a:pPr algn="l">
              <a:lnSpc>
                <a:spcPct val="100000"/>
              </a:lnSpc>
            </a:pPr>
            <a:r>
              <a:rPr sz="1250" b="1" i="0">
                <a:solidFill>
                  <a:srgbClr val="1F1E1D"/>
                </a:solidFill>
                <a:latin typeface="Helvetica Neue"/>
              </a:rPr>
              <a:t>closed 0.99</a:t>
            </a:r>
          </a:p>
        </p:txBody>
      </p:sp>
      <p:sp>
        <p:nvSpPr>
          <p:cNvPr id="23" name="TextBox 22"/>
          <p:cNvSpPr txBox="1"/>
          <p:nvPr/>
        </p:nvSpPr>
        <p:spPr>
          <a:xfrm>
            <a:off x="9601200" y="3694176"/>
            <a:ext cx="2011680" cy="320040"/>
          </a:xfrm>
          <a:prstGeom prst="rect">
            <a:avLst/>
          </a:prstGeom>
          <a:noFill/>
        </p:spPr>
        <p:txBody>
          <a:bodyPr wrap="square" anchor="t" lIns="0" rIns="0" tIns="0" bIns="0">
            <a:spAutoFit/>
          </a:bodyPr>
          <a:lstStyle/>
          <a:p>
            <a:pPr algn="l">
              <a:lnSpc>
                <a:spcPct val="100000"/>
              </a:lnSpc>
            </a:pPr>
            <a:r>
              <a:rPr sz="900" b="0" i="1">
                <a:solidFill>
                  <a:srgbClr val="8A8780"/>
                </a:solidFill>
                <a:latin typeface="Helvetica Neue"/>
              </a:rPr>
              <a:t>no alert needed</a:t>
            </a:r>
          </a:p>
        </p:txBody>
      </p:sp>
      <p:sp>
        <p:nvSpPr>
          <p:cNvPr id="24" name="Rounded Rectangle 23"/>
          <p:cNvSpPr/>
          <p:nvPr/>
        </p:nvSpPr>
        <p:spPr>
          <a:xfrm>
            <a:off x="5577840" y="4169664"/>
            <a:ext cx="6126480" cy="713232"/>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760720" y="4361688"/>
            <a:ext cx="868680" cy="310896"/>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a:solidFill>
                  <a:srgbClr val="F0EEE6"/>
                </a:solidFill>
                <a:latin typeface="Helvetica Neue"/>
              </a:rPr>
              <a:t>Box</a:t>
            </a:r>
          </a:p>
        </p:txBody>
      </p:sp>
      <p:sp>
        <p:nvSpPr>
          <p:cNvPr id="26" name="TextBox 25"/>
          <p:cNvSpPr txBox="1"/>
          <p:nvPr/>
        </p:nvSpPr>
        <p:spPr>
          <a:xfrm>
            <a:off x="6766560" y="4242816"/>
            <a:ext cx="2743200" cy="594360"/>
          </a:xfrm>
          <a:prstGeom prst="rect">
            <a:avLst/>
          </a:prstGeom>
          <a:noFill/>
        </p:spPr>
        <p:txBody>
          <a:bodyPr wrap="square" anchor="t" lIns="0" rIns="0" tIns="0" bIns="0">
            <a:spAutoFit/>
          </a:bodyPr>
          <a:lstStyle/>
          <a:p>
            <a:pPr algn="l">
              <a:lnSpc>
                <a:spcPct val="105000"/>
              </a:lnSpc>
            </a:pPr>
            <a:r>
              <a:rPr sz="1100" b="0" i="0">
                <a:solidFill>
                  <a:srgbClr val="1F1E1D"/>
                </a:solidFill>
                <a:latin typeface="Helvetica Neue"/>
              </a:rPr>
              <a:t>the parcel on the mat in `porch`</a:t>
            </a:r>
          </a:p>
        </p:txBody>
      </p:sp>
      <p:sp>
        <p:nvSpPr>
          <p:cNvPr id="27" name="TextBox 26"/>
          <p:cNvSpPr txBox="1"/>
          <p:nvPr/>
        </p:nvSpPr>
        <p:spPr>
          <a:xfrm>
            <a:off x="9601200" y="4242816"/>
            <a:ext cx="1920240" cy="274320"/>
          </a:xfrm>
          <a:prstGeom prst="rect">
            <a:avLst/>
          </a:prstGeom>
          <a:noFill/>
        </p:spPr>
        <p:txBody>
          <a:bodyPr wrap="square" anchor="t" lIns="0" rIns="0" tIns="0" bIns="0">
            <a:spAutoFit/>
          </a:bodyPr>
          <a:lstStyle/>
          <a:p>
            <a:pPr algn="l">
              <a:lnSpc>
                <a:spcPct val="100000"/>
              </a:lnSpc>
            </a:pPr>
            <a:r>
              <a:rPr sz="1250" b="1" i="0">
                <a:solidFill>
                  <a:srgbClr val="1F1E1D"/>
                </a:solidFill>
                <a:latin typeface="Helvetica Neue"/>
              </a:rPr>
              <a:t>see photo</a:t>
            </a:r>
          </a:p>
        </p:txBody>
      </p:sp>
      <p:sp>
        <p:nvSpPr>
          <p:cNvPr id="28" name="TextBox 27"/>
          <p:cNvSpPr txBox="1"/>
          <p:nvPr/>
        </p:nvSpPr>
        <p:spPr>
          <a:xfrm>
            <a:off x="9601200" y="4535424"/>
            <a:ext cx="2011680" cy="320040"/>
          </a:xfrm>
          <a:prstGeom prst="rect">
            <a:avLst/>
          </a:prstGeom>
          <a:noFill/>
        </p:spPr>
        <p:txBody>
          <a:bodyPr wrap="square" anchor="t" lIns="0" rIns="0" tIns="0" bIns="0">
            <a:spAutoFit/>
          </a:bodyPr>
          <a:lstStyle/>
          <a:p>
            <a:pPr algn="l">
              <a:lnSpc>
                <a:spcPct val="100000"/>
              </a:lnSpc>
            </a:pPr>
            <a:r>
              <a:rPr sz="900" b="0" i="1">
                <a:solidFill>
                  <a:srgbClr val="8A8780"/>
                </a:solidFill>
                <a:latin typeface="Helvetica Neue"/>
              </a:rPr>
              <a:t>confidence 0.85: crop it for the thumbnail</a:t>
            </a:r>
          </a:p>
        </p:txBody>
      </p:sp>
      <p:sp>
        <p:nvSpPr>
          <p:cNvPr id="29" name="TextBox 28"/>
          <p:cNvSpPr txBox="1"/>
          <p:nvPr/>
        </p:nvSpPr>
        <p:spPr>
          <a:xfrm>
            <a:off x="502920" y="5760720"/>
            <a:ext cx="11155680" cy="640080"/>
          </a:xfrm>
          <a:prstGeom prst="rect">
            <a:avLst/>
          </a:prstGeom>
          <a:noFill/>
        </p:spPr>
        <p:txBody>
          <a:bodyPr wrap="square" anchor="t" lIns="0" rIns="0" tIns="0" bIns="0">
            <a:spAutoFit/>
          </a:bodyPr>
          <a:lstStyle/>
          <a:p>
            <a:pPr algn="l">
              <a:lnSpc>
                <a:spcPct val="120000"/>
              </a:lnSpc>
            </a:pPr>
            <a:r>
              <a:rPr sz="1300" b="1" i="0">
                <a:solidFill>
                  <a:srgbClr val="1F1E1D"/>
                </a:solidFill>
                <a:latin typeface="Helvetica Neue"/>
              </a:rPr>
              <a:t>We ran this exact call while building this deck </a:t>
            </a:r>
            <a:r>
              <a:rPr sz="1300" b="0" i="0">
                <a:solidFill>
                  <a:srgbClr val="1F1E1D"/>
                </a:solidFill>
                <a:latin typeface="Helvetica Neue"/>
              </a:rPr>
              <a:t>(jev-1.14.0, one request, 1,229 input tokens, about $0.00005). Four judgments about one frame, and the fourth answer is a location the code can crop to. Every doorbell, every frame, for less than a cent a 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26</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QUICK CHECK  |  YOU CALL IT</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Which primitive would you reach for?</a:t>
            </a:r>
          </a:p>
        </p:txBody>
      </p:sp>
      <p:sp>
        <p:nvSpPr>
          <p:cNvPr id="7" name="Rounded Rectangle 6"/>
          <p:cNvSpPr/>
          <p:nvPr/>
        </p:nvSpPr>
        <p:spPr>
          <a:xfrm>
            <a:off x="502920" y="1645920"/>
            <a:ext cx="5440680" cy="1600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 y="1847088"/>
            <a:ext cx="384048"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A</a:t>
            </a:r>
          </a:p>
        </p:txBody>
      </p:sp>
      <p:sp>
        <p:nvSpPr>
          <p:cNvPr id="9" name="TextBox 8"/>
          <p:cNvSpPr txBox="1"/>
          <p:nvPr/>
        </p:nvSpPr>
        <p:spPr>
          <a:xfrm>
            <a:off x="1280160" y="1828800"/>
            <a:ext cx="4480560" cy="1280160"/>
          </a:xfrm>
          <a:prstGeom prst="rect">
            <a:avLst/>
          </a:prstGeom>
          <a:noFill/>
        </p:spPr>
        <p:txBody>
          <a:bodyPr wrap="square" anchor="t" lIns="0" rIns="0" tIns="0" bIns="0">
            <a:spAutoFit/>
          </a:bodyPr>
          <a:lstStyle/>
          <a:p>
            <a:pPr algn="l">
              <a:lnSpc>
                <a:spcPct val="120000"/>
              </a:lnSpc>
            </a:pPr>
            <a:r>
              <a:rPr sz="1400" b="0" i="1">
                <a:solidFill>
                  <a:srgbClr val="1F1E1D"/>
                </a:solidFill>
                <a:latin typeface="Georgia"/>
              </a:rPr>
              <a:t>“Does this outbound email contain a password, API key, or other secret?”</a:t>
            </a:r>
          </a:p>
        </p:txBody>
      </p:sp>
      <p:sp>
        <p:nvSpPr>
          <p:cNvPr id="10" name="Rounded Rectangle 9"/>
          <p:cNvSpPr/>
          <p:nvPr/>
        </p:nvSpPr>
        <p:spPr>
          <a:xfrm>
            <a:off x="6263640" y="1645920"/>
            <a:ext cx="5440680" cy="1600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64807" y="1847088"/>
            <a:ext cx="384048"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B</a:t>
            </a:r>
          </a:p>
        </p:txBody>
      </p:sp>
      <p:sp>
        <p:nvSpPr>
          <p:cNvPr id="12" name="TextBox 11"/>
          <p:cNvSpPr txBox="1"/>
          <p:nvPr/>
        </p:nvSpPr>
        <p:spPr>
          <a:xfrm>
            <a:off x="7040879" y="1828800"/>
            <a:ext cx="4480560" cy="1280160"/>
          </a:xfrm>
          <a:prstGeom prst="rect">
            <a:avLst/>
          </a:prstGeom>
          <a:noFill/>
        </p:spPr>
        <p:txBody>
          <a:bodyPr wrap="square" anchor="t" lIns="0" rIns="0" tIns="0" bIns="0">
            <a:spAutoFit/>
          </a:bodyPr>
          <a:lstStyle/>
          <a:p>
            <a:pPr algn="l">
              <a:lnSpc>
                <a:spcPct val="120000"/>
              </a:lnSpc>
            </a:pPr>
            <a:r>
              <a:rPr sz="1400" b="0" i="1">
                <a:solidFill>
                  <a:srgbClr val="1F1E1D"/>
                </a:solidFill>
                <a:latin typeface="Georgia"/>
              </a:rPr>
              <a:t>“Which of our 40 product categories does this new listing belong to?”</a:t>
            </a:r>
          </a:p>
        </p:txBody>
      </p:sp>
      <p:sp>
        <p:nvSpPr>
          <p:cNvPr id="13" name="Rounded Rectangle 12"/>
          <p:cNvSpPr/>
          <p:nvPr/>
        </p:nvSpPr>
        <p:spPr>
          <a:xfrm>
            <a:off x="502920" y="3429000"/>
            <a:ext cx="5440680" cy="1600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4088" y="3630168"/>
            <a:ext cx="384048"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C</a:t>
            </a:r>
          </a:p>
        </p:txBody>
      </p:sp>
      <p:sp>
        <p:nvSpPr>
          <p:cNvPr id="15" name="TextBox 14"/>
          <p:cNvSpPr txBox="1"/>
          <p:nvPr/>
        </p:nvSpPr>
        <p:spPr>
          <a:xfrm>
            <a:off x="1280160" y="3611880"/>
            <a:ext cx="4480560" cy="1280160"/>
          </a:xfrm>
          <a:prstGeom prst="rect">
            <a:avLst/>
          </a:prstGeom>
          <a:noFill/>
        </p:spPr>
        <p:txBody>
          <a:bodyPr wrap="square" anchor="t" lIns="0" rIns="0" tIns="0" bIns="0">
            <a:spAutoFit/>
          </a:bodyPr>
          <a:lstStyle/>
          <a:p>
            <a:pPr algn="l">
              <a:lnSpc>
                <a:spcPct val="120000"/>
              </a:lnSpc>
            </a:pPr>
            <a:r>
              <a:rPr sz="1400" b="0" i="1">
                <a:solidFill>
                  <a:srgbClr val="1F1E1D"/>
                </a:solidFill>
                <a:latin typeface="Georgia"/>
              </a:rPr>
              <a:t>“How complete is this bug report, from 'just says broken' to 'steps plus environment'?”</a:t>
            </a:r>
          </a:p>
        </p:txBody>
      </p:sp>
      <p:sp>
        <p:nvSpPr>
          <p:cNvPr id="16" name="Rounded Rectangle 15"/>
          <p:cNvSpPr/>
          <p:nvPr/>
        </p:nvSpPr>
        <p:spPr>
          <a:xfrm>
            <a:off x="6263640" y="3429000"/>
            <a:ext cx="5440680" cy="1600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64807" y="3630168"/>
            <a:ext cx="384048"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D</a:t>
            </a:r>
          </a:p>
        </p:txBody>
      </p:sp>
      <p:sp>
        <p:nvSpPr>
          <p:cNvPr id="18" name="TextBox 17"/>
          <p:cNvSpPr txBox="1"/>
          <p:nvPr/>
        </p:nvSpPr>
        <p:spPr>
          <a:xfrm>
            <a:off x="7040879" y="3611880"/>
            <a:ext cx="4480560" cy="1280160"/>
          </a:xfrm>
          <a:prstGeom prst="rect">
            <a:avLst/>
          </a:prstGeom>
          <a:noFill/>
        </p:spPr>
        <p:txBody>
          <a:bodyPr wrap="square" anchor="t" lIns="0" rIns="0" tIns="0" bIns="0">
            <a:spAutoFit/>
          </a:bodyPr>
          <a:lstStyle/>
          <a:p>
            <a:pPr algn="l">
              <a:lnSpc>
                <a:spcPct val="120000"/>
              </a:lnSpc>
            </a:pPr>
            <a:r>
              <a:rPr sz="1400" b="0" i="1">
                <a:solidFill>
                  <a:srgbClr val="1F1E1D"/>
                </a:solidFill>
                <a:latin typeface="Georgia"/>
              </a:rPr>
              <a:t>“Where is the signature on this scanned contract, and is it even signed?”</a:t>
            </a:r>
          </a:p>
        </p:txBody>
      </p:sp>
      <p:cxnSp>
        <p:nvCxnSpPr>
          <p:cNvPr id="19" name="Connector 18"/>
          <p:cNvCxnSpPr/>
          <p:nvPr/>
        </p:nvCxnSpPr>
        <p:spPr>
          <a:xfrm>
            <a:off x="502920" y="5349240"/>
            <a:ext cx="11155680" cy="0"/>
          </a:xfrm>
          <a:prstGeom prst="line">
            <a:avLst/>
          </a:prstGeom>
          <a:ln w="15240">
            <a:solidFill>
              <a:srgbClr val="DEDACE"/>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2920" y="5532120"/>
            <a:ext cx="11155680" cy="640080"/>
          </a:xfrm>
          <a:prstGeom prst="rect">
            <a:avLst/>
          </a:prstGeom>
          <a:noFill/>
        </p:spPr>
        <p:txBody>
          <a:bodyPr wrap="square" anchor="t" lIns="0" rIns="0" tIns="0" bIns="0">
            <a:spAutoFit/>
          </a:bodyPr>
          <a:lstStyle/>
          <a:p>
            <a:pPr algn="l">
              <a:lnSpc>
                <a:spcPct val="120000"/>
              </a:lnSpc>
            </a:pPr>
            <a:r>
              <a:rPr sz="1250" b="1" i="0">
                <a:solidFill>
                  <a:srgbClr val="BD5D3A"/>
                </a:solidFill>
                <a:latin typeface="Helvetica Neue"/>
              </a:rPr>
              <a:t>Answers  </a:t>
            </a:r>
            <a:r>
              <a:rPr sz="1250" b="0" i="0">
                <a:solidFill>
                  <a:srgbClr val="1F1E1D"/>
                </a:solidFill>
                <a:latin typeface="Helvetica Neue"/>
              </a:rPr>
              <a:t>A: Noul (threshold it; phrase so high = yes).  B: Choice with a none_of_the_above escape option.  C: Score with described situations as levels.  D: a Box paired with a Noul, because a Box always returns edges, even on an unsigned page.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27</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3  |  THE TWO NUMBERS</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Probability tells you what. Confidence tells you whether to act.</a:t>
            </a:r>
          </a:p>
        </p:txBody>
      </p:sp>
      <p:sp>
        <p:nvSpPr>
          <p:cNvPr id="7" name="Rounded Rectangle 6"/>
          <p:cNvSpPr/>
          <p:nvPr/>
        </p:nvSpPr>
        <p:spPr>
          <a:xfrm>
            <a:off x="502920" y="1600200"/>
            <a:ext cx="5486400" cy="2103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83080"/>
            <a:ext cx="5029200" cy="320040"/>
          </a:xfrm>
          <a:prstGeom prst="rect">
            <a:avLst/>
          </a:prstGeom>
          <a:noFill/>
        </p:spPr>
        <p:txBody>
          <a:bodyPr wrap="square" anchor="t" lIns="0" rIns="0" tIns="0" bIns="0">
            <a:spAutoFit/>
          </a:bodyPr>
          <a:lstStyle/>
          <a:p>
            <a:pPr algn="l">
              <a:lnSpc>
                <a:spcPct val="100000"/>
              </a:lnSpc>
            </a:pPr>
            <a:r>
              <a:rPr sz="1500" b="1" i="0">
                <a:solidFill>
                  <a:srgbClr val="D97757"/>
                </a:solidFill>
                <a:latin typeface="Helvetica Neue"/>
              </a:rPr>
              <a:t>probabilities</a:t>
            </a:r>
          </a:p>
        </p:txBody>
      </p:sp>
      <p:sp>
        <p:nvSpPr>
          <p:cNvPr id="9" name="TextBox 8"/>
          <p:cNvSpPr txBox="1"/>
          <p:nvPr/>
        </p:nvSpPr>
        <p:spPr>
          <a:xfrm>
            <a:off x="731520" y="2194560"/>
            <a:ext cx="5029200" cy="731520"/>
          </a:xfrm>
          <a:prstGeom prst="rect">
            <a:avLst/>
          </a:prstGeom>
          <a:noFill/>
        </p:spPr>
        <p:txBody>
          <a:bodyPr wrap="square" anchor="t" lIns="0" rIns="0" tIns="0" bIns="0">
            <a:spAutoFit/>
          </a:bodyPr>
          <a:lstStyle/>
          <a:p>
            <a:pPr algn="l">
              <a:lnSpc>
                <a:spcPct val="115000"/>
              </a:lnSpc>
            </a:pPr>
            <a:r>
              <a:rPr sz="1350" b="0" i="0">
                <a:solidFill>
                  <a:srgbClr val="1F1E1D"/>
                </a:solidFill>
                <a:latin typeface="Helvetica Neue"/>
              </a:rPr>
              <a:t>The answer's full distribution over YOUR options or levels. Sums to 1. What the model believes.</a:t>
            </a:r>
          </a:p>
        </p:txBody>
      </p:sp>
      <p:sp>
        <p:nvSpPr>
          <p:cNvPr id="10" name="TextBox 9"/>
          <p:cNvSpPr txBox="1"/>
          <p:nvPr/>
        </p:nvSpPr>
        <p:spPr>
          <a:xfrm>
            <a:off x="731520" y="3063240"/>
            <a:ext cx="5029200" cy="457200"/>
          </a:xfrm>
          <a:prstGeom prst="rect">
            <a:avLst/>
          </a:prstGeom>
          <a:noFill/>
        </p:spPr>
        <p:txBody>
          <a:bodyPr wrap="square" anchor="t" lIns="0" rIns="0" tIns="0" bIns="0">
            <a:spAutoFit/>
          </a:bodyPr>
          <a:lstStyle/>
          <a:p>
            <a:pPr algn="l">
              <a:lnSpc>
                <a:spcPct val="100000"/>
              </a:lnSpc>
            </a:pPr>
            <a:r>
              <a:rPr sz="1250" b="0" i="1">
                <a:solidFill>
                  <a:srgbClr val="5E6B7A"/>
                </a:solidFill>
                <a:latin typeface="Helvetica Neue"/>
              </a:rPr>
              <a:t>Never a value outside the schema you supplied.</a:t>
            </a:r>
          </a:p>
        </p:txBody>
      </p:sp>
      <p:sp>
        <p:nvSpPr>
          <p:cNvPr id="11" name="Rounded Rectangle 10"/>
          <p:cNvSpPr/>
          <p:nvPr/>
        </p:nvSpPr>
        <p:spPr>
          <a:xfrm>
            <a:off x="6263640" y="1600200"/>
            <a:ext cx="5486400" cy="2103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83080"/>
            <a:ext cx="5029200" cy="320040"/>
          </a:xfrm>
          <a:prstGeom prst="rect">
            <a:avLst/>
          </a:prstGeom>
          <a:noFill/>
        </p:spPr>
        <p:txBody>
          <a:bodyPr wrap="square" anchor="t" lIns="0" rIns="0" tIns="0" bIns="0">
            <a:spAutoFit/>
          </a:bodyPr>
          <a:lstStyle/>
          <a:p>
            <a:pPr algn="l">
              <a:lnSpc>
                <a:spcPct val="100000"/>
              </a:lnSpc>
            </a:pPr>
            <a:r>
              <a:rPr sz="1500" b="1" i="0">
                <a:solidFill>
                  <a:srgbClr val="5E6B7A"/>
                </a:solidFill>
                <a:latin typeface="Helvetica Neue"/>
              </a:rPr>
              <a:t>confidence</a:t>
            </a:r>
          </a:p>
        </p:txBody>
      </p:sp>
      <p:sp>
        <p:nvSpPr>
          <p:cNvPr id="13" name="TextBox 12"/>
          <p:cNvSpPr txBox="1"/>
          <p:nvPr/>
        </p:nvSpPr>
        <p:spPr>
          <a:xfrm>
            <a:off x="6492240" y="2194560"/>
            <a:ext cx="5029200" cy="731520"/>
          </a:xfrm>
          <a:prstGeom prst="rect">
            <a:avLst/>
          </a:prstGeom>
          <a:noFill/>
        </p:spPr>
        <p:txBody>
          <a:bodyPr wrap="square" anchor="t" lIns="0" rIns="0" tIns="0" bIns="0">
            <a:spAutoFit/>
          </a:bodyPr>
          <a:lstStyle/>
          <a:p>
            <a:pPr algn="l">
              <a:lnSpc>
                <a:spcPct val="115000"/>
              </a:lnSpc>
            </a:pPr>
            <a:r>
              <a:rPr sz="1350" b="0" i="0">
                <a:solidFill>
                  <a:srgbClr val="1F1E1D"/>
                </a:solidFill>
                <a:latin typeface="Helvetica Neue"/>
              </a:rPr>
              <a:t>One 0-to-1 statistic computed from that distribution's shape: 1 when probability piles on one outcome, 0 when spread evenly.</a:t>
            </a:r>
          </a:p>
        </p:txBody>
      </p:sp>
      <p:sp>
        <p:nvSpPr>
          <p:cNvPr id="14" name="TextBox 13"/>
          <p:cNvSpPr txBox="1"/>
          <p:nvPr/>
        </p:nvSpPr>
        <p:spPr>
          <a:xfrm>
            <a:off x="6492240" y="3063240"/>
            <a:ext cx="5029200" cy="457200"/>
          </a:xfrm>
          <a:prstGeom prst="rect">
            <a:avLst/>
          </a:prstGeom>
          <a:noFill/>
        </p:spPr>
        <p:txBody>
          <a:bodyPr wrap="square" anchor="t" lIns="0" rIns="0" tIns="0" bIns="0">
            <a:spAutoFit/>
          </a:bodyPr>
          <a:lstStyle/>
          <a:p>
            <a:pPr algn="l">
              <a:lnSpc>
                <a:spcPct val="100000"/>
              </a:lnSpc>
            </a:pPr>
            <a:r>
              <a:rPr sz="1250" b="0" i="1">
                <a:solidFill>
                  <a:srgbClr val="5E6B7A"/>
                </a:solidFill>
                <a:latin typeface="Helvetica Neue"/>
              </a:rPr>
              <a:t>A sensible default, not magic: the formulas are published.</a:t>
            </a:r>
          </a:p>
        </p:txBody>
      </p:sp>
      <p:sp>
        <p:nvSpPr>
          <p:cNvPr id="15" name="TextBox 14"/>
          <p:cNvSpPr txBox="1"/>
          <p:nvPr/>
        </p:nvSpPr>
        <p:spPr>
          <a:xfrm>
            <a:off x="502920" y="3977639"/>
            <a:ext cx="10972800" cy="365760"/>
          </a:xfrm>
          <a:prstGeom prst="rect">
            <a:avLst/>
          </a:prstGeom>
          <a:noFill/>
        </p:spPr>
        <p:txBody>
          <a:bodyPr wrap="square" anchor="t" lIns="0" rIns="0" tIns="0" bIns="0">
            <a:spAutoFit/>
          </a:bodyPr>
          <a:lstStyle/>
          <a:p>
            <a:pPr algn="l">
              <a:lnSpc>
                <a:spcPct val="100000"/>
              </a:lnSpc>
            </a:pPr>
            <a:r>
              <a:rPr sz="1400" b="1" i="0">
                <a:solidFill>
                  <a:srgbClr val="1F1E1D"/>
                </a:solidFill>
                <a:latin typeface="Helvetica Neue"/>
              </a:rPr>
              <a:t>The published formulas (verified against the API in notebook 03):</a:t>
            </a:r>
          </a:p>
        </p:txBody>
      </p:sp>
      <p:graphicFrame>
        <p:nvGraphicFramePr>
          <p:cNvPr id="16" name="Table 15"/>
          <p:cNvGraphicFramePr>
            <a:graphicFrameLocks noGrp="1"/>
          </p:cNvGraphicFramePr>
          <p:nvPr/>
        </p:nvGraphicFramePr>
        <p:xfrm>
          <a:off x="502920" y="4434840"/>
          <a:ext cx="11155680" cy="1901952"/>
        </p:xfrm>
        <a:graphic>
          <a:graphicData uri="http://schemas.openxmlformats.org/drawingml/2006/table">
            <a:tbl>
              <a:tblPr>
                <a:tableStyleId>{5C22544A-7EE6-4342-B048-85BDC9FD1C3A}</a:tableStyleId>
              </a:tblPr>
              <a:tblGrid>
                <a:gridCol w="1280160"/>
                <a:gridCol w="5669280"/>
                <a:gridCol w="4206240"/>
              </a:tblGrid>
              <a:tr h="475488">
                <a:tc>
                  <a:txBody>
                    <a:bodyPr wrap="square"/>
                    <a:lstStyle/>
                    <a:p>
                      <a:r>
                        <a:rPr sz="1250" b="1">
                          <a:solidFill>
                            <a:srgbClr val="F0EEE6"/>
                          </a:solidFill>
                          <a:latin typeface="Helvetica Neue"/>
                        </a:rPr>
                        <a:t>Type</a:t>
                      </a:r>
                    </a:p>
                  </a:txBody>
                  <a:tcPr marL="73152" marR="73152" marT="27432" marB="27432" anchor="ctr">
                    <a:solidFill>
                      <a:srgbClr val="1F1E1D"/>
                    </a:solidFill>
                  </a:tcPr>
                </a:tc>
                <a:tc>
                  <a:txBody>
                    <a:bodyPr wrap="square"/>
                    <a:lstStyle/>
                    <a:p>
                      <a:r>
                        <a:rPr sz="1250" b="1">
                          <a:solidFill>
                            <a:srgbClr val="F0EEE6"/>
                          </a:solidFill>
                          <a:latin typeface="Helvetica Neue"/>
                        </a:rPr>
                        <a:t>Formula</a:t>
                      </a:r>
                    </a:p>
                  </a:txBody>
                  <a:tcPr marL="73152" marR="73152" marT="27432" marB="27432" anchor="ctr">
                    <a:solidFill>
                      <a:srgbClr val="1F1E1D"/>
                    </a:solidFill>
                  </a:tcPr>
                </a:tc>
                <a:tc>
                  <a:txBody>
                    <a:bodyPr wrap="square"/>
                    <a:lstStyle/>
                    <a:p>
                      <a:r>
                        <a:rPr sz="1250" b="1">
                          <a:solidFill>
                            <a:srgbClr val="F0EEE6"/>
                          </a:solidFill>
                          <a:latin typeface="Helvetica Neue"/>
                        </a:rPr>
                        <a:t>Intuition</a:t>
                      </a:r>
                    </a:p>
                  </a:txBody>
                  <a:tcPr marL="73152" marR="73152" marT="27432" marB="27432" anchor="ctr">
                    <a:solidFill>
                      <a:srgbClr val="1F1E1D"/>
                    </a:solidFill>
                  </a:tcPr>
                </a:tc>
              </a:tr>
              <a:tr h="475488">
                <a:tc>
                  <a:txBody>
                    <a:bodyPr wrap="square"/>
                    <a:lstStyle/>
                    <a:p>
                      <a:r>
                        <a:rPr sz="1250" b="0">
                          <a:solidFill>
                            <a:srgbClr val="1F1E1D"/>
                          </a:solidFill>
                          <a:latin typeface="Helvetica Neue"/>
                        </a:rPr>
                        <a:t>Choice</a:t>
                      </a:r>
                    </a:p>
                  </a:txBody>
                  <a:tcPr marL="73152" marR="73152" marT="27432" marB="27432" anchor="ctr">
                    <a:solidFill>
                      <a:srgbClr val="FAF9F5"/>
                    </a:solidFill>
                  </a:tcPr>
                </a:tc>
                <a:tc>
                  <a:txBody>
                    <a:bodyPr wrap="square"/>
                    <a:lstStyle/>
                    <a:p>
                      <a:r>
                        <a:rPr sz="1250" b="0">
                          <a:solidFill>
                            <a:srgbClr val="1F1E1D"/>
                          </a:solidFill>
                          <a:latin typeface="Helvetica Neue"/>
                        </a:rPr>
                        <a:t>(p_max - 1/n) / (1 - 1/n)</a:t>
                      </a:r>
                    </a:p>
                  </a:txBody>
                  <a:tcPr marL="73152" marR="73152" marT="27432" marB="27432" anchor="ctr">
                    <a:solidFill>
                      <a:srgbClr val="FAF9F5"/>
                    </a:solidFill>
                  </a:tcPr>
                </a:tc>
                <a:tc>
                  <a:txBody>
                    <a:bodyPr wrap="square"/>
                    <a:lstStyle/>
                    <a:p>
                      <a:r>
                        <a:rPr sz="1250" b="0">
                          <a:solidFill>
                            <a:srgbClr val="1F1E1D"/>
                          </a:solidFill>
                          <a:latin typeface="Helvetica Neue"/>
                        </a:rPr>
                        <a:t>how far the winner sits above an even split</a:t>
                      </a:r>
                    </a:p>
                  </a:txBody>
                  <a:tcPr marL="73152" marR="73152" marT="27432" marB="27432" anchor="ctr">
                    <a:solidFill>
                      <a:srgbClr val="FAF9F5"/>
                    </a:solidFill>
                  </a:tcPr>
                </a:tc>
              </a:tr>
              <a:tr h="475488">
                <a:tc>
                  <a:txBody>
                    <a:bodyPr wrap="square"/>
                    <a:lstStyle/>
                    <a:p>
                      <a:r>
                        <a:rPr sz="1250" b="0">
                          <a:solidFill>
                            <a:srgbClr val="1F1E1D"/>
                          </a:solidFill>
                          <a:latin typeface="Helvetica Neue"/>
                        </a:rPr>
                        <a:t>Score</a:t>
                      </a:r>
                    </a:p>
                  </a:txBody>
                  <a:tcPr marL="73152" marR="73152" marT="27432" marB="27432" anchor="ctr">
                    <a:solidFill>
                      <a:srgbClr val="E9E6DC"/>
                    </a:solidFill>
                  </a:tcPr>
                </a:tc>
                <a:tc>
                  <a:txBody>
                    <a:bodyPr wrap="square"/>
                    <a:lstStyle/>
                    <a:p>
                      <a:r>
                        <a:rPr sz="1250" b="0">
                          <a:solidFill>
                            <a:srgbClr val="1F1E1D"/>
                          </a:solidFill>
                          <a:latin typeface="Helvetica Neue"/>
                        </a:rPr>
                        <a:t>1 - (prob-weighted distance from top level) / (even-spread distance)</a:t>
                      </a:r>
                    </a:p>
                  </a:txBody>
                  <a:tcPr marL="73152" marR="73152" marT="27432" marB="27432" anchor="ctr">
                    <a:solidFill>
                      <a:srgbClr val="E9E6DC"/>
                    </a:solidFill>
                  </a:tcPr>
                </a:tc>
                <a:tc>
                  <a:txBody>
                    <a:bodyPr wrap="square"/>
                    <a:lstStyle/>
                    <a:p>
                      <a:r>
                        <a:rPr sz="1250" b="0">
                          <a:solidFill>
                            <a:srgbClr val="1F1E1D"/>
                          </a:solidFill>
                          <a:latin typeface="Helvetica Neue"/>
                        </a:rPr>
                        <a:t>nearby probability hurts less than far-away probability</a:t>
                      </a:r>
                    </a:p>
                  </a:txBody>
                  <a:tcPr marL="73152" marR="73152" marT="27432" marB="27432" anchor="ctr">
                    <a:solidFill>
                      <a:srgbClr val="E9E6DC"/>
                    </a:solidFill>
                  </a:tcPr>
                </a:tc>
              </a:tr>
              <a:tr h="475488">
                <a:tc>
                  <a:txBody>
                    <a:bodyPr wrap="square"/>
                    <a:lstStyle/>
                    <a:p>
                      <a:r>
                        <a:rPr sz="1250" b="0">
                          <a:solidFill>
                            <a:srgbClr val="1F1E1D"/>
                          </a:solidFill>
                          <a:latin typeface="Helvetica Neue"/>
                        </a:rPr>
                        <a:t>Noul</a:t>
                      </a:r>
                    </a:p>
                  </a:txBody>
                  <a:tcPr marL="73152" marR="73152" marT="27432" marB="27432" anchor="ctr">
                    <a:solidFill>
                      <a:srgbClr val="FAF9F5"/>
                    </a:solidFill>
                  </a:tcPr>
                </a:tc>
                <a:tc>
                  <a:txBody>
                    <a:bodyPr wrap="square"/>
                    <a:lstStyle/>
                    <a:p>
                      <a:r>
                        <a:rPr sz="1250" b="0">
                          <a:solidFill>
                            <a:srgbClr val="1F1E1D"/>
                          </a:solidFill>
                          <a:latin typeface="Helvetica Neue"/>
                        </a:rPr>
                        <a:t>none returned; use |2p - 1| if you need one</a:t>
                      </a:r>
                    </a:p>
                  </a:txBody>
                  <a:tcPr marL="73152" marR="73152" marT="27432" marB="27432" anchor="ctr">
                    <a:solidFill>
                      <a:srgbClr val="FAF9F5"/>
                    </a:solidFill>
                  </a:tcPr>
                </a:tc>
                <a:tc>
                  <a:txBody>
                    <a:bodyPr wrap="square"/>
                    <a:lstStyle/>
                    <a:p>
                      <a:r>
                        <a:rPr sz="1250" b="0">
                          <a:solidFill>
                            <a:srgbClr val="1F1E1D"/>
                          </a:solidFill>
                          <a:latin typeface="Helvetica Neue"/>
                        </a:rPr>
                        <a:t>distance from a coin flip</a:t>
                      </a:r>
                    </a:p>
                  </a:txBody>
                  <a:tcPr marL="73152" marR="73152" marT="27432" marB="27432" anchor="ctr">
                    <a:solidFill>
                      <a:srgbClr val="FAF9F5"/>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28</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3  |  USING IT</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Three paths, and thresholds that scale with risk</a:t>
            </a:r>
          </a:p>
        </p:txBody>
      </p:sp>
      <p:graphicFrame>
        <p:nvGraphicFramePr>
          <p:cNvPr id="7" name="Table 6"/>
          <p:cNvGraphicFramePr>
            <a:graphicFrameLocks noGrp="1"/>
          </p:cNvGraphicFramePr>
          <p:nvPr/>
        </p:nvGraphicFramePr>
        <p:xfrm>
          <a:off x="502920" y="1600200"/>
          <a:ext cx="6675120" cy="2267712"/>
        </p:xfrm>
        <a:graphic>
          <a:graphicData uri="http://schemas.openxmlformats.org/drawingml/2006/table">
            <a:tbl>
              <a:tblPr>
                <a:tableStyleId>{5C22544A-7EE6-4342-B048-85BDC9FD1C3A}</a:tableStyleId>
              </a:tblPr>
              <a:tblGrid>
                <a:gridCol w="1371600"/>
                <a:gridCol w="2377440"/>
                <a:gridCol w="2926080"/>
              </a:tblGrid>
              <a:tr h="566928">
                <a:tc>
                  <a:txBody>
                    <a:bodyPr wrap="square"/>
                    <a:lstStyle/>
                    <a:p>
                      <a:r>
                        <a:rPr sz="1350" b="1">
                          <a:solidFill>
                            <a:srgbClr val="F0EEE6"/>
                          </a:solidFill>
                          <a:latin typeface="Helvetica Neue"/>
                        </a:rPr>
                        <a:t>Confidence</a:t>
                      </a:r>
                    </a:p>
                  </a:txBody>
                  <a:tcPr marL="73152" marR="73152" marT="27432" marB="27432" anchor="ctr">
                    <a:solidFill>
                      <a:srgbClr val="1F1E1D"/>
                    </a:solidFill>
                  </a:tcPr>
                </a:tc>
                <a:tc>
                  <a:txBody>
                    <a:bodyPr wrap="square"/>
                    <a:lstStyle/>
                    <a:p>
                      <a:r>
                        <a:rPr sz="1350" b="1">
                          <a:solidFill>
                            <a:srgbClr val="F0EEE6"/>
                          </a:solidFill>
                          <a:latin typeface="Helvetica Neue"/>
                        </a:rPr>
                        <a:t>Behavior</a:t>
                      </a:r>
                    </a:p>
                  </a:txBody>
                  <a:tcPr marL="73152" marR="73152" marT="27432" marB="27432" anchor="ctr">
                    <a:solidFill>
                      <a:srgbClr val="1F1E1D"/>
                    </a:solidFill>
                  </a:tcPr>
                </a:tc>
                <a:tc>
                  <a:txBody>
                    <a:bodyPr wrap="square"/>
                    <a:lstStyle/>
                    <a:p>
                      <a:r>
                        <a:rPr sz="1350" b="1">
                          <a:solidFill>
                            <a:srgbClr val="F0EEE6"/>
                          </a:solidFill>
                          <a:latin typeface="Helvetica Neue"/>
                        </a:rPr>
                        <a:t>Example</a:t>
                      </a:r>
                    </a:p>
                  </a:txBody>
                  <a:tcPr marL="73152" marR="73152" marT="27432" marB="27432" anchor="ctr">
                    <a:solidFill>
                      <a:srgbClr val="1F1E1D"/>
                    </a:solidFill>
                  </a:tcPr>
                </a:tc>
              </a:tr>
              <a:tr h="566928">
                <a:tc>
                  <a:txBody>
                    <a:bodyPr wrap="square"/>
                    <a:lstStyle/>
                    <a:p>
                      <a:r>
                        <a:rPr sz="1350" b="0">
                          <a:solidFill>
                            <a:srgbClr val="1F1E1D"/>
                          </a:solidFill>
                          <a:latin typeface="Helvetica Neue"/>
                        </a:rPr>
                        <a:t>high</a:t>
                      </a:r>
                    </a:p>
                  </a:txBody>
                  <a:tcPr marL="73152" marR="73152" marT="27432" marB="27432" anchor="ctr">
                    <a:solidFill>
                      <a:srgbClr val="FAF9F5"/>
                    </a:solidFill>
                  </a:tcPr>
                </a:tc>
                <a:tc>
                  <a:txBody>
                    <a:bodyPr wrap="square"/>
                    <a:lstStyle/>
                    <a:p>
                      <a:r>
                        <a:rPr sz="1350" b="0">
                          <a:solidFill>
                            <a:srgbClr val="1F1E1D"/>
                          </a:solidFill>
                          <a:latin typeface="Helvetica Neue"/>
                        </a:rPr>
                        <a:t>act automatically</a:t>
                      </a:r>
                    </a:p>
                  </a:txBody>
                  <a:tcPr marL="73152" marR="73152" marT="27432" marB="27432" anchor="ctr">
                    <a:solidFill>
                      <a:srgbClr val="FAF9F5"/>
                    </a:solidFill>
                  </a:tcPr>
                </a:tc>
                <a:tc>
                  <a:txBody>
                    <a:bodyPr wrap="square"/>
                    <a:lstStyle/>
                    <a:p>
                      <a:r>
                        <a:rPr sz="1350" b="0">
                          <a:solidFill>
                            <a:srgbClr val="1F1E1D"/>
                          </a:solidFill>
                          <a:latin typeface="Helvetica Neue"/>
                        </a:rPr>
                        <a:t>route the ticket, show the balance</a:t>
                      </a:r>
                    </a:p>
                  </a:txBody>
                  <a:tcPr marL="73152" marR="73152" marT="27432" marB="27432" anchor="ctr">
                    <a:solidFill>
                      <a:srgbClr val="FAF9F5"/>
                    </a:solidFill>
                  </a:tcPr>
                </a:tc>
              </a:tr>
              <a:tr h="566928">
                <a:tc>
                  <a:txBody>
                    <a:bodyPr wrap="square"/>
                    <a:lstStyle/>
                    <a:p>
                      <a:r>
                        <a:rPr sz="1350" b="0">
                          <a:solidFill>
                            <a:srgbClr val="1F1E1D"/>
                          </a:solidFill>
                          <a:latin typeface="Helvetica Neue"/>
                        </a:rPr>
                        <a:t>medium</a:t>
                      </a:r>
                    </a:p>
                  </a:txBody>
                  <a:tcPr marL="73152" marR="73152" marT="27432" marB="27432" anchor="ctr">
                    <a:solidFill>
                      <a:srgbClr val="E9E6DC"/>
                    </a:solidFill>
                  </a:tcPr>
                </a:tc>
                <a:tc>
                  <a:txBody>
                    <a:bodyPr wrap="square"/>
                    <a:lstStyle/>
                    <a:p>
                      <a:r>
                        <a:rPr sz="1350" b="0">
                          <a:solidFill>
                            <a:srgbClr val="1F1E1D"/>
                          </a:solidFill>
                          <a:latin typeface="Helvetica Neue"/>
                        </a:rPr>
                        <a:t>proceed with caution</a:t>
                      </a:r>
                    </a:p>
                  </a:txBody>
                  <a:tcPr marL="73152" marR="73152" marT="27432" marB="27432" anchor="ctr">
                    <a:solidFill>
                      <a:srgbClr val="E9E6DC"/>
                    </a:solidFill>
                  </a:tcPr>
                </a:tc>
                <a:tc>
                  <a:txBody>
                    <a:bodyPr wrap="square"/>
                    <a:lstStyle/>
                    <a:p>
                      <a:r>
                        <a:rPr sz="1350" b="0">
                          <a:solidFill>
                            <a:srgbClr val="1F1E1D"/>
                          </a:solidFill>
                          <a:latin typeface="Helvetica Neue"/>
                        </a:rPr>
                        <a:t>ask the user to confirm, flag for review</a:t>
                      </a:r>
                    </a:p>
                  </a:txBody>
                  <a:tcPr marL="73152" marR="73152" marT="27432" marB="27432" anchor="ctr">
                    <a:solidFill>
                      <a:srgbClr val="E9E6DC"/>
                    </a:solidFill>
                  </a:tcPr>
                </a:tc>
              </a:tr>
              <a:tr h="566928">
                <a:tc>
                  <a:txBody>
                    <a:bodyPr wrap="square"/>
                    <a:lstStyle/>
                    <a:p>
                      <a:r>
                        <a:rPr sz="1350" b="0">
                          <a:solidFill>
                            <a:srgbClr val="1F1E1D"/>
                          </a:solidFill>
                          <a:latin typeface="Helvetica Neue"/>
                        </a:rPr>
                        <a:t>low</a:t>
                      </a:r>
                    </a:p>
                  </a:txBody>
                  <a:tcPr marL="73152" marR="73152" marT="27432" marB="27432" anchor="ctr">
                    <a:solidFill>
                      <a:srgbClr val="FAF9F5"/>
                    </a:solidFill>
                  </a:tcPr>
                </a:tc>
                <a:tc>
                  <a:txBody>
                    <a:bodyPr wrap="square"/>
                    <a:lstStyle/>
                    <a:p>
                      <a:r>
                        <a:rPr sz="1350" b="0">
                          <a:solidFill>
                            <a:srgbClr val="1F1E1D"/>
                          </a:solidFill>
                          <a:latin typeface="Helvetica Neue"/>
                        </a:rPr>
                        <a:t>do not act</a:t>
                      </a:r>
                    </a:p>
                  </a:txBody>
                  <a:tcPr marL="73152" marR="73152" marT="27432" marB="27432" anchor="ctr">
                    <a:solidFill>
                      <a:srgbClr val="FAF9F5"/>
                    </a:solidFill>
                  </a:tcPr>
                </a:tc>
                <a:tc>
                  <a:txBody>
                    <a:bodyPr wrap="square"/>
                    <a:lstStyle/>
                    <a:p>
                      <a:r>
                        <a:rPr sz="1350" b="0">
                          <a:solidFill>
                            <a:srgbClr val="1F1E1D"/>
                          </a:solidFill>
                          <a:latin typeface="Helvetica Neue"/>
                        </a:rPr>
                        <a:t>human agent, clarifying question, fallback system</a:t>
                      </a:r>
                    </a:p>
                  </a:txBody>
                  <a:tcPr marL="73152" marR="73152" marT="27432" marB="27432" anchor="ctr">
                    <a:solidFill>
                      <a:srgbClr val="FAF9F5"/>
                    </a:solidFill>
                  </a:tcPr>
                </a:tc>
              </a:tr>
            </a:tbl>
          </a:graphicData>
        </a:graphic>
      </p:graphicFrame>
      <p:sp>
        <p:nvSpPr>
          <p:cNvPr id="8" name="Rounded Rectangle 7"/>
          <p:cNvSpPr/>
          <p:nvPr/>
        </p:nvSpPr>
        <p:spPr>
          <a:xfrm>
            <a:off x="7452360" y="1600200"/>
            <a:ext cx="4251960" cy="3291840"/>
          </a:xfrm>
          <a:prstGeom prst="roundRect">
            <a:avLst>
              <a:gd name="adj" fmla="val 5500"/>
            </a:avLst>
          </a:prstGeom>
          <a:solidFill>
            <a:srgbClr val="2A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53528" y="1801368"/>
            <a:ext cx="3849624" cy="2889503"/>
          </a:xfrm>
          <a:prstGeom prst="rect">
            <a:avLst/>
          </a:prstGeom>
          <a:noFill/>
        </p:spPr>
        <p:txBody>
          <a:bodyPr wrap="square" anchor="t" lIns="0" rIns="0" tIns="0" bIns="0">
            <a:spAutoFit/>
          </a:bodyPr>
          <a:lstStyle/>
          <a:p>
            <a:pPr algn="l">
              <a:lnSpc>
                <a:spcPct val="112000"/>
              </a:lnSpc>
            </a:pPr>
            <a:r>
              <a:rPr sz="1250" b="0" i="0">
                <a:solidFill>
                  <a:srgbClr val="EDEAE3"/>
                </a:solidFill>
                <a:latin typeface="Menlo"/>
              </a:rPr>
              <a:t>a = r.choices["intent"]</a:t>
            </a:r>
          </a:p>
          <a:p>
            <a:pPr algn="l">
              <a:lnSpc>
                <a:spcPct val="112000"/>
              </a:lnSpc>
            </a:pPr>
            <a:r>
              <a:rPr sz="1250" b="0" i="0">
                <a:solidFill>
                  <a:srgbClr val="EDEAE3"/>
                </a:solidFill>
                <a:latin typeface="Menlo"/>
              </a:rPr>
              <a:t/>
            </a:r>
          </a:p>
          <a:p>
            <a:pPr algn="l">
              <a:lnSpc>
                <a:spcPct val="112000"/>
              </a:lnSpc>
            </a:pPr>
            <a:r>
              <a:rPr sz="1250" b="0" i="0">
                <a:solidFill>
                  <a:srgbClr val="EDEAE3"/>
                </a:solidFill>
                <a:latin typeface="Menlo"/>
              </a:rPr>
              <a:t>if a.confidence &lt; 0.5:</a:t>
            </a:r>
          </a:p>
          <a:p>
            <a:pPr algn="l">
              <a:lnSpc>
                <a:spcPct val="112000"/>
              </a:lnSpc>
            </a:pPr>
            <a:r>
              <a:rPr sz="1250" b="0" i="0">
                <a:solidFill>
                  <a:srgbClr val="EDEAE3"/>
                </a:solidFill>
                <a:latin typeface="Menlo"/>
              </a:rPr>
              <a:t>    route_to_human()            # genuinely unsure</a:t>
            </a:r>
          </a:p>
          <a:p>
            <a:pPr algn="l">
              <a:lnSpc>
                <a:spcPct val="112000"/>
              </a:lnSpc>
            </a:pPr>
            <a:r>
              <a:rPr sz="1250" b="0" i="0">
                <a:solidFill>
                  <a:srgbClr val="EDEAE3"/>
                </a:solidFill>
                <a:latin typeface="Menlo"/>
              </a:rPr>
              <a:t>elif a.choice == "check_balance":</a:t>
            </a:r>
          </a:p>
          <a:p>
            <a:pPr algn="l">
              <a:lnSpc>
                <a:spcPct val="112000"/>
              </a:lnSpc>
            </a:pPr>
            <a:r>
              <a:rPr sz="1250" b="0" i="0">
                <a:solidFill>
                  <a:srgbClr val="EDEAE3"/>
                </a:solidFill>
                <a:latin typeface="Menlo"/>
              </a:rPr>
              <a:t>    show_balance()              # low stakes: 0.5 ok</a:t>
            </a:r>
          </a:p>
          <a:p>
            <a:pPr algn="l">
              <a:lnSpc>
                <a:spcPct val="112000"/>
              </a:lnSpc>
            </a:pPr>
            <a:r>
              <a:rPr sz="1250" b="0" i="0">
                <a:solidFill>
                  <a:srgbClr val="EDEAE3"/>
                </a:solidFill>
                <a:latin typeface="Menlo"/>
              </a:rPr>
              <a:t>elif a.choice == "approve_transfer":</a:t>
            </a:r>
          </a:p>
          <a:p>
            <a:pPr algn="l">
              <a:lnSpc>
                <a:spcPct val="112000"/>
              </a:lnSpc>
            </a:pPr>
            <a:r>
              <a:rPr sz="1250" b="0" i="0">
                <a:solidFill>
                  <a:srgbClr val="EDEAE3"/>
                </a:solidFill>
                <a:latin typeface="Menlo"/>
              </a:rPr>
              <a:t>    if a.confidence &gt; 0.85:     # high stakes:</a:t>
            </a:r>
          </a:p>
          <a:p>
            <a:pPr algn="l">
              <a:lnSpc>
                <a:spcPct val="112000"/>
              </a:lnSpc>
            </a:pPr>
            <a:r>
              <a:rPr sz="1250" b="0" i="0">
                <a:solidFill>
                  <a:srgbClr val="EDEAE3"/>
                </a:solidFill>
                <a:latin typeface="Menlo"/>
              </a:rPr>
              <a:t>        confirm_then_execute()  #   high bar</a:t>
            </a:r>
          </a:p>
          <a:p>
            <a:pPr algn="l">
              <a:lnSpc>
                <a:spcPct val="112000"/>
              </a:lnSpc>
            </a:pPr>
            <a:r>
              <a:rPr sz="1250" b="0" i="0">
                <a:solidFill>
                  <a:srgbClr val="EDEAE3"/>
                </a:solidFill>
                <a:latin typeface="Menlo"/>
              </a:rPr>
              <a:t>    else:</a:t>
            </a:r>
          </a:p>
          <a:p>
            <a:pPr algn="l">
              <a:lnSpc>
                <a:spcPct val="112000"/>
              </a:lnSpc>
            </a:pPr>
            <a:r>
              <a:rPr sz="1250" b="0" i="0">
                <a:solidFill>
                  <a:srgbClr val="EDEAE3"/>
                </a:solidFill>
                <a:latin typeface="Menlo"/>
              </a:rPr>
              <a:t>        ask_user_to_confirm()</a:t>
            </a:r>
          </a:p>
        </p:txBody>
      </p:sp>
      <p:sp>
        <p:nvSpPr>
          <p:cNvPr id="10" name="TextBox 9"/>
          <p:cNvSpPr txBox="1"/>
          <p:nvPr/>
        </p:nvSpPr>
        <p:spPr>
          <a:xfrm>
            <a:off x="502920" y="4114800"/>
            <a:ext cx="6675120" cy="1463040"/>
          </a:xfrm>
          <a:prstGeom prst="rect">
            <a:avLst/>
          </a:prstGeom>
          <a:noFill/>
        </p:spPr>
        <p:txBody>
          <a:bodyPr wrap="square" anchor="t" lIns="0" rIns="0" tIns="0" bIns="0">
            <a:spAutoFit/>
          </a:bodyPr>
          <a:lstStyle/>
          <a:p>
            <a:pPr algn="l">
              <a:lnSpc>
                <a:spcPct val="120000"/>
              </a:lnSpc>
            </a:pPr>
            <a:r>
              <a:rPr sz="1450" b="1" i="0">
                <a:solidFill>
                  <a:srgbClr val="1F1E1D"/>
                </a:solidFill>
                <a:latin typeface="Helvetica Neue"/>
              </a:rPr>
              <a:t>One system, different gates per action. </a:t>
            </a:r>
            <a:r>
              <a:rPr sz="1450" b="0" i="0">
                <a:solidFill>
                  <a:srgbClr val="1F1E1D"/>
                </a:solidFill>
                <a:latin typeface="Helvetica Neue"/>
              </a:rPr>
              <a:t>Reading a balance at 0.6 risks a wrong screen; approving a transfer at 0.6 risks money. The risk tolerance lives in code, in named constants, reviewable in a pull request. Start conservative, test against your data, adjust.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29</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QUICK CHECK  |  SAME NUMBER, DIFFERENT ANSWER</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The model says: approve_transfer, confidence 0.55. Now what?</a:t>
            </a:r>
          </a:p>
        </p:txBody>
      </p:sp>
      <p:sp>
        <p:nvSpPr>
          <p:cNvPr id="7" name="Rounded Rectangle 6"/>
          <p:cNvSpPr/>
          <p:nvPr/>
        </p:nvSpPr>
        <p:spPr>
          <a:xfrm>
            <a:off x="502920" y="1645920"/>
            <a:ext cx="3611880" cy="14173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828800"/>
            <a:ext cx="347472" cy="310896"/>
          </a:xfrm>
          <a:prstGeom prst="roundRect">
            <a:avLst>
              <a:gd name="adj" fmla="val 5500"/>
            </a:avLst>
          </a:prstGeom>
          <a:solidFill>
            <a:srgbClr val="5E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1</a:t>
            </a:r>
          </a:p>
        </p:txBody>
      </p:sp>
      <p:sp>
        <p:nvSpPr>
          <p:cNvPr id="9" name="TextBox 8"/>
          <p:cNvSpPr txBox="1"/>
          <p:nvPr/>
        </p:nvSpPr>
        <p:spPr>
          <a:xfrm>
            <a:off x="1161288" y="1828800"/>
            <a:ext cx="2834640" cy="365760"/>
          </a:xfrm>
          <a:prstGeom prst="rect">
            <a:avLst/>
          </a:prstGeom>
          <a:noFill/>
        </p:spPr>
        <p:txBody>
          <a:bodyPr wrap="square" anchor="t" lIns="0" rIns="0" tIns="0" bIns="0">
            <a:spAutoFit/>
          </a:bodyPr>
          <a:lstStyle/>
          <a:p>
            <a:pPr algn="l">
              <a:lnSpc>
                <a:spcPct val="100000"/>
              </a:lnSpc>
            </a:pPr>
            <a:r>
              <a:rPr sz="1450" b="1" i="0">
                <a:solidFill>
                  <a:srgbClr val="1F1E1D"/>
                </a:solidFill>
                <a:latin typeface="Georgia"/>
              </a:rPr>
              <a:t>Approve it</a:t>
            </a:r>
          </a:p>
        </p:txBody>
      </p:sp>
      <p:sp>
        <p:nvSpPr>
          <p:cNvPr id="10" name="TextBox 9"/>
          <p:cNvSpPr txBox="1"/>
          <p:nvPr/>
        </p:nvSpPr>
        <p:spPr>
          <a:xfrm>
            <a:off x="685800" y="2286000"/>
            <a:ext cx="3246120" cy="640080"/>
          </a:xfrm>
          <a:prstGeom prst="rect">
            <a:avLst/>
          </a:prstGeom>
          <a:noFill/>
        </p:spPr>
        <p:txBody>
          <a:bodyPr wrap="square" anchor="t" lIns="0" rIns="0" tIns="0" bIns="0">
            <a:spAutoFit/>
          </a:bodyPr>
          <a:lstStyle/>
          <a:p>
            <a:pPr algn="l">
              <a:lnSpc>
                <a:spcPct val="112000"/>
              </a:lnSpc>
            </a:pPr>
            <a:r>
              <a:rPr sz="1200" b="0" i="1">
                <a:solidFill>
                  <a:srgbClr val="5E6B7A"/>
                </a:solidFill>
                <a:latin typeface="Helvetica Neue"/>
              </a:rPr>
              <a:t>the model did pick approve_transfer, after all</a:t>
            </a:r>
          </a:p>
        </p:txBody>
      </p:sp>
      <p:sp>
        <p:nvSpPr>
          <p:cNvPr id="11" name="Rounded Rectangle 10"/>
          <p:cNvSpPr/>
          <p:nvPr/>
        </p:nvSpPr>
        <p:spPr>
          <a:xfrm>
            <a:off x="4325112" y="1645920"/>
            <a:ext cx="3611880" cy="14173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07992" y="1828800"/>
            <a:ext cx="347472" cy="310896"/>
          </a:xfrm>
          <a:prstGeom prst="roundRect">
            <a:avLst>
              <a:gd name="adj" fmla="val 5500"/>
            </a:avLst>
          </a:prstGeom>
          <a:solidFill>
            <a:srgbClr val="5E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2</a:t>
            </a:r>
          </a:p>
        </p:txBody>
      </p:sp>
      <p:sp>
        <p:nvSpPr>
          <p:cNvPr id="13" name="TextBox 12"/>
          <p:cNvSpPr txBox="1"/>
          <p:nvPr/>
        </p:nvSpPr>
        <p:spPr>
          <a:xfrm>
            <a:off x="4983479" y="1828800"/>
            <a:ext cx="2834640" cy="365760"/>
          </a:xfrm>
          <a:prstGeom prst="rect">
            <a:avLst/>
          </a:prstGeom>
          <a:noFill/>
        </p:spPr>
        <p:txBody>
          <a:bodyPr wrap="square" anchor="t" lIns="0" rIns="0" tIns="0" bIns="0">
            <a:spAutoFit/>
          </a:bodyPr>
          <a:lstStyle/>
          <a:p>
            <a:pPr algn="l">
              <a:lnSpc>
                <a:spcPct val="100000"/>
              </a:lnSpc>
            </a:pPr>
            <a:r>
              <a:rPr sz="1450" b="1" i="0">
                <a:solidFill>
                  <a:srgbClr val="1F1E1D"/>
                </a:solidFill>
                <a:latin typeface="Georgia"/>
              </a:rPr>
              <a:t>Ask the user to confirm</a:t>
            </a:r>
          </a:p>
        </p:txBody>
      </p:sp>
      <p:sp>
        <p:nvSpPr>
          <p:cNvPr id="14" name="TextBox 13"/>
          <p:cNvSpPr txBox="1"/>
          <p:nvPr/>
        </p:nvSpPr>
        <p:spPr>
          <a:xfrm>
            <a:off x="4507992" y="2286000"/>
            <a:ext cx="3246120" cy="640080"/>
          </a:xfrm>
          <a:prstGeom prst="rect">
            <a:avLst/>
          </a:prstGeom>
          <a:noFill/>
        </p:spPr>
        <p:txBody>
          <a:bodyPr wrap="square" anchor="t" lIns="0" rIns="0" tIns="0" bIns="0">
            <a:spAutoFit/>
          </a:bodyPr>
          <a:lstStyle/>
          <a:p>
            <a:pPr algn="l">
              <a:lnSpc>
                <a:spcPct val="112000"/>
              </a:lnSpc>
            </a:pPr>
            <a:r>
              <a:rPr sz="1200" b="0" i="1">
                <a:solidFill>
                  <a:srgbClr val="5E6B7A"/>
                </a:solidFill>
                <a:latin typeface="Helvetica Neue"/>
              </a:rPr>
              <a:t>act, but put a human click in the loop</a:t>
            </a:r>
          </a:p>
        </p:txBody>
      </p:sp>
      <p:sp>
        <p:nvSpPr>
          <p:cNvPr id="15" name="Rounded Rectangle 14"/>
          <p:cNvSpPr/>
          <p:nvPr/>
        </p:nvSpPr>
        <p:spPr>
          <a:xfrm>
            <a:off x="8147304" y="1645920"/>
            <a:ext cx="3611880" cy="14173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30183" y="1828800"/>
            <a:ext cx="347472" cy="310896"/>
          </a:xfrm>
          <a:prstGeom prst="roundRect">
            <a:avLst>
              <a:gd name="adj" fmla="val 5500"/>
            </a:avLst>
          </a:prstGeom>
          <a:solidFill>
            <a:srgbClr val="5E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0EEE6"/>
                </a:solidFill>
                <a:latin typeface="Helvetica Neue"/>
              </a:rPr>
              <a:t>3</a:t>
            </a:r>
          </a:p>
        </p:txBody>
      </p:sp>
      <p:sp>
        <p:nvSpPr>
          <p:cNvPr id="17" name="TextBox 16"/>
          <p:cNvSpPr txBox="1"/>
          <p:nvPr/>
        </p:nvSpPr>
        <p:spPr>
          <a:xfrm>
            <a:off x="8805672" y="1828800"/>
            <a:ext cx="2834640" cy="365760"/>
          </a:xfrm>
          <a:prstGeom prst="rect">
            <a:avLst/>
          </a:prstGeom>
          <a:noFill/>
        </p:spPr>
        <p:txBody>
          <a:bodyPr wrap="square" anchor="t" lIns="0" rIns="0" tIns="0" bIns="0">
            <a:spAutoFit/>
          </a:bodyPr>
          <a:lstStyle/>
          <a:p>
            <a:pPr algn="l">
              <a:lnSpc>
                <a:spcPct val="100000"/>
              </a:lnSpc>
            </a:pPr>
            <a:r>
              <a:rPr sz="1450" b="1" i="0">
                <a:solidFill>
                  <a:srgbClr val="1F1E1D"/>
                </a:solidFill>
                <a:latin typeface="Georgia"/>
              </a:rPr>
              <a:t>Route to a person</a:t>
            </a:r>
          </a:p>
        </p:txBody>
      </p:sp>
      <p:sp>
        <p:nvSpPr>
          <p:cNvPr id="18" name="TextBox 17"/>
          <p:cNvSpPr txBox="1"/>
          <p:nvPr/>
        </p:nvSpPr>
        <p:spPr>
          <a:xfrm>
            <a:off x="8330183" y="2286000"/>
            <a:ext cx="3246120" cy="640080"/>
          </a:xfrm>
          <a:prstGeom prst="rect">
            <a:avLst/>
          </a:prstGeom>
          <a:noFill/>
        </p:spPr>
        <p:txBody>
          <a:bodyPr wrap="square" anchor="t" lIns="0" rIns="0" tIns="0" bIns="0">
            <a:spAutoFit/>
          </a:bodyPr>
          <a:lstStyle/>
          <a:p>
            <a:pPr algn="l">
              <a:lnSpc>
                <a:spcPct val="112000"/>
              </a:lnSpc>
            </a:pPr>
            <a:r>
              <a:rPr sz="1200" b="0" i="1">
                <a:solidFill>
                  <a:srgbClr val="5E6B7A"/>
                </a:solidFill>
                <a:latin typeface="Helvetica Neue"/>
              </a:rPr>
              <a:t>0.55 is barely better than a shrug</a:t>
            </a:r>
          </a:p>
        </p:txBody>
      </p:sp>
      <p:sp>
        <p:nvSpPr>
          <p:cNvPr id="19" name="Rounded Rectangle 18"/>
          <p:cNvSpPr/>
          <p:nvPr/>
        </p:nvSpPr>
        <p:spPr>
          <a:xfrm>
            <a:off x="502920" y="3429000"/>
            <a:ext cx="11155680" cy="1463040"/>
          </a:xfrm>
          <a:prstGeom prst="roundRect">
            <a:avLst>
              <a:gd name="adj" fmla="val 5500"/>
            </a:avLst>
          </a:prstGeom>
          <a:solidFill>
            <a:srgbClr val="EAD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611880"/>
            <a:ext cx="10698480" cy="1188720"/>
          </a:xfrm>
          <a:prstGeom prst="rect">
            <a:avLst/>
          </a:prstGeom>
          <a:noFill/>
        </p:spPr>
        <p:txBody>
          <a:bodyPr wrap="square" anchor="t" lIns="0" rIns="0" tIns="0" bIns="0">
            <a:spAutoFit/>
          </a:bodyPr>
          <a:lstStyle/>
          <a:p>
            <a:pPr algn="l">
              <a:lnSpc>
                <a:spcPct val="125000"/>
              </a:lnSpc>
            </a:pPr>
            <a:r>
              <a:rPr sz="1400" b="1" i="0">
                <a:solidFill>
                  <a:srgbClr val="BD5D3A"/>
                </a:solidFill>
                <a:latin typeface="Helvetica Neue"/>
              </a:rPr>
              <a:t>Trick question: the number alone cannot tell you. </a:t>
            </a:r>
            <a:r>
              <a:rPr sz="1400" b="0" i="0">
                <a:solidFill>
                  <a:srgbClr val="1F1E1D"/>
                </a:solidFill>
                <a:latin typeface="Helvetica Neue"/>
              </a:rPr>
              <a:t>The same 0.55 means 'go ahead' for showing a balance (worst case: a wrong screen) and 'absolutely not' for moving money (worst case: an irreversible transfer). Thresholds are priced by the cost of being wrong, per action. For a transfer, 0.55 clears no sane bar: option 2 or 3, never 1.</a:t>
            </a:r>
          </a:p>
        </p:txBody>
      </p:sp>
      <p:sp>
        <p:nvSpPr>
          <p:cNvPr id="21" name="TextBox 20"/>
          <p:cNvSpPr txBox="1"/>
          <p:nvPr/>
        </p:nvSpPr>
        <p:spPr>
          <a:xfrm>
            <a:off x="502920" y="5120640"/>
            <a:ext cx="11155680" cy="548640"/>
          </a:xfrm>
          <a:prstGeom prst="rect">
            <a:avLst/>
          </a:prstGeom>
          <a:noFill/>
        </p:spPr>
        <p:txBody>
          <a:bodyPr wrap="square" anchor="t" lIns="0" rIns="0" tIns="0" bIns="0">
            <a:spAutoFit/>
          </a:bodyPr>
          <a:lstStyle/>
          <a:p>
            <a:pPr algn="l">
              <a:lnSpc>
                <a:spcPct val="100000"/>
              </a:lnSpc>
            </a:pPr>
            <a:r>
              <a:rPr sz="1300" b="0" i="1">
                <a:solidFill>
                  <a:srgbClr val="BD5D3A"/>
                </a:solidFill>
                <a:latin typeface="Helvetica Neue"/>
              </a:rPr>
              <a:t>Second round, same number: choice = check_balance, confidence 0.55. Hands up for 'just show it'. (Correct: yes. Worst case is a re-ask.)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30</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SCENARIO 3  |  SCALE</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9:00 am, Monday: 500 tickets in the queue</a:t>
            </a:r>
          </a:p>
        </p:txBody>
      </p:sp>
      <p:sp>
        <p:nvSpPr>
          <p:cNvPr id="7" name="Rounded Rectangle 6"/>
          <p:cNvSpPr/>
          <p:nvPr/>
        </p:nvSpPr>
        <p:spPr>
          <a:xfrm>
            <a:off x="685800" y="1783080"/>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252728" y="1783080"/>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819656" y="1783080"/>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386584" y="1783080"/>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53512" y="1783080"/>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20440" y="1783080"/>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350008"/>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252728" y="2350008"/>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819656" y="2350008"/>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386584" y="2350008"/>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53512" y="2350008"/>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0440" y="2350008"/>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5800" y="2916936"/>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252728" y="2916936"/>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819656" y="2916936"/>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386584" y="2916936"/>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953512" y="2916936"/>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520440" y="2916936"/>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3483863"/>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252728" y="3483863"/>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819656" y="3483863"/>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386584" y="3483863"/>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953512" y="3483863"/>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520440" y="3483863"/>
            <a:ext cx="457200" cy="4572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160520"/>
            <a:ext cx="3291840" cy="548640"/>
          </a:xfrm>
          <a:prstGeom prst="rect">
            <a:avLst/>
          </a:prstGeom>
          <a:noFill/>
        </p:spPr>
        <p:txBody>
          <a:bodyPr wrap="square" anchor="t" lIns="0" rIns="0" tIns="0" bIns="0">
            <a:spAutoFit/>
          </a:bodyPr>
          <a:lstStyle/>
          <a:p>
            <a:pPr algn="l">
              <a:lnSpc>
                <a:spcPct val="100000"/>
              </a:lnSpc>
            </a:pPr>
            <a:r>
              <a:rPr sz="1100" b="0" i="1">
                <a:solidFill>
                  <a:srgbClr val="8A8780"/>
                </a:solidFill>
                <a:latin typeface="Helvetica Neue"/>
              </a:rPr>
              <a:t>500 tickets</a:t>
            </a:r>
          </a:p>
          <a:p>
            <a:pPr algn="l">
              <a:lnSpc>
                <a:spcPct val="100000"/>
              </a:lnSpc>
            </a:pPr>
            <a:r>
              <a:rPr sz="1100" b="0" i="1">
                <a:solidFill>
                  <a:srgbClr val="8A8780"/>
                </a:solidFill>
                <a:latin typeface="Helvetica Neue"/>
              </a:rPr>
              <a:t>(24 drawn)</a:t>
            </a:r>
          </a:p>
        </p:txBody>
      </p:sp>
      <p:sp>
        <p:nvSpPr>
          <p:cNvPr id="32" name="Rectangle 31"/>
          <p:cNvSpPr/>
          <p:nvPr/>
        </p:nvSpPr>
        <p:spPr>
          <a:xfrm>
            <a:off x="4343400" y="2377440"/>
            <a:ext cx="45720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937760" y="1828800"/>
            <a:ext cx="2103120" cy="1188720"/>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0" y="2057400"/>
            <a:ext cx="2103120" cy="365760"/>
          </a:xfrm>
          <a:prstGeom prst="rect">
            <a:avLst/>
          </a:prstGeom>
          <a:noFill/>
        </p:spPr>
        <p:txBody>
          <a:bodyPr wrap="square" anchor="t" lIns="0" rIns="0" tIns="0" bIns="0">
            <a:spAutoFit/>
          </a:bodyPr>
          <a:lstStyle/>
          <a:p>
            <a:pPr algn="ctr">
              <a:lnSpc>
                <a:spcPct val="100000"/>
              </a:lnSpc>
            </a:pPr>
            <a:r>
              <a:rPr sz="1600" b="1" i="0">
                <a:solidFill>
                  <a:srgbClr val="F0EEE6"/>
                </a:solidFill>
                <a:latin typeface="Georgia"/>
              </a:rPr>
              <a:t>Jev</a:t>
            </a:r>
          </a:p>
        </p:txBody>
      </p:sp>
      <p:sp>
        <p:nvSpPr>
          <p:cNvPr id="35" name="TextBox 34"/>
          <p:cNvSpPr txBox="1"/>
          <p:nvPr/>
        </p:nvSpPr>
        <p:spPr>
          <a:xfrm>
            <a:off x="4937760" y="2468880"/>
            <a:ext cx="2103120" cy="457200"/>
          </a:xfrm>
          <a:prstGeom prst="rect">
            <a:avLst/>
          </a:prstGeom>
          <a:noFill/>
        </p:spPr>
        <p:txBody>
          <a:bodyPr wrap="square" anchor="t" lIns="0" rIns="0" tIns="0" bIns="0">
            <a:spAutoFit/>
          </a:bodyPr>
          <a:lstStyle/>
          <a:p>
            <a:pPr algn="ctr">
              <a:lnSpc>
                <a:spcPct val="100000"/>
              </a:lnSpc>
            </a:pPr>
            <a:r>
              <a:rPr sz="1000" b="0" i="0">
                <a:solidFill>
                  <a:srgbClr val="CFCBC2"/>
                </a:solidFill>
                <a:latin typeface="Helvetica Neue"/>
              </a:rPr>
              <a:t>5 questions each,</a:t>
            </a:r>
          </a:p>
          <a:p>
            <a:pPr algn="ctr">
              <a:lnSpc>
                <a:spcPct val="100000"/>
              </a:lnSpc>
            </a:pPr>
            <a:r>
              <a:rPr sz="1000" b="0" i="0">
                <a:solidFill>
                  <a:srgbClr val="CFCBC2"/>
                </a:solidFill>
                <a:latin typeface="Helvetica Neue"/>
              </a:rPr>
              <a:t>one call per ticket</a:t>
            </a:r>
          </a:p>
        </p:txBody>
      </p:sp>
      <p:sp>
        <p:nvSpPr>
          <p:cNvPr id="36" name="Rectangle 35"/>
          <p:cNvSpPr/>
          <p:nvPr/>
        </p:nvSpPr>
        <p:spPr>
          <a:xfrm>
            <a:off x="7178040" y="2377440"/>
            <a:ext cx="45720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772400" y="1691640"/>
            <a:ext cx="3931920" cy="566928"/>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955279" y="1819656"/>
            <a:ext cx="1463040" cy="310896"/>
          </a:xfrm>
          <a:prstGeom prst="roundRect">
            <a:avLst>
              <a:gd name="adj" fmla="val 5500"/>
            </a:avLst>
          </a:prstGeom>
          <a:solidFill>
            <a:srgbClr val="7D8B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050" b="1">
                <a:solidFill>
                  <a:srgbClr val="F0EEE6"/>
                </a:solidFill>
                <a:latin typeface="Helvetica Neue"/>
              </a:rPr>
              <a:t>technical</a:t>
            </a:r>
          </a:p>
        </p:txBody>
      </p:sp>
      <p:sp>
        <p:nvSpPr>
          <p:cNvPr id="39" name="TextBox 38"/>
          <p:cNvSpPr txBox="1"/>
          <p:nvPr/>
        </p:nvSpPr>
        <p:spPr>
          <a:xfrm>
            <a:off x="9601200" y="1819656"/>
            <a:ext cx="1920240" cy="320040"/>
          </a:xfrm>
          <a:prstGeom prst="rect">
            <a:avLst/>
          </a:prstGeom>
          <a:noFill/>
        </p:spPr>
        <p:txBody>
          <a:bodyPr wrap="square" anchor="t" lIns="0" rIns="0" tIns="0" bIns="0">
            <a:spAutoFit/>
          </a:bodyPr>
          <a:lstStyle/>
          <a:p>
            <a:pPr algn="l">
              <a:lnSpc>
                <a:spcPct val="100000"/>
              </a:lnSpc>
            </a:pPr>
            <a:r>
              <a:rPr sz="1200" b="1" i="0">
                <a:solidFill>
                  <a:srgbClr val="1F1E1D"/>
                </a:solidFill>
                <a:latin typeface="Helvetica Neue"/>
              </a:rPr>
              <a:t>187 tickets</a:t>
            </a:r>
          </a:p>
        </p:txBody>
      </p:sp>
      <p:sp>
        <p:nvSpPr>
          <p:cNvPr id="40" name="Rounded Rectangle 39"/>
          <p:cNvSpPr/>
          <p:nvPr/>
        </p:nvSpPr>
        <p:spPr>
          <a:xfrm>
            <a:off x="7772400" y="2404872"/>
            <a:ext cx="3931920" cy="566928"/>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955279" y="2532888"/>
            <a:ext cx="1463040" cy="310896"/>
          </a:xfrm>
          <a:prstGeom prst="roundRect">
            <a:avLst>
              <a:gd name="adj" fmla="val 5500"/>
            </a:avLst>
          </a:prstGeom>
          <a:solidFill>
            <a:srgbClr val="5E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050" b="1">
                <a:solidFill>
                  <a:srgbClr val="F0EEE6"/>
                </a:solidFill>
                <a:latin typeface="Helvetica Neue"/>
              </a:rPr>
              <a:t>billing</a:t>
            </a:r>
          </a:p>
        </p:txBody>
      </p:sp>
      <p:sp>
        <p:nvSpPr>
          <p:cNvPr id="42" name="TextBox 41"/>
          <p:cNvSpPr txBox="1"/>
          <p:nvPr/>
        </p:nvSpPr>
        <p:spPr>
          <a:xfrm>
            <a:off x="9601200" y="2532888"/>
            <a:ext cx="1920240" cy="320040"/>
          </a:xfrm>
          <a:prstGeom prst="rect">
            <a:avLst/>
          </a:prstGeom>
          <a:noFill/>
        </p:spPr>
        <p:txBody>
          <a:bodyPr wrap="square" anchor="t" lIns="0" rIns="0" tIns="0" bIns="0">
            <a:spAutoFit/>
          </a:bodyPr>
          <a:lstStyle/>
          <a:p>
            <a:pPr algn="l">
              <a:lnSpc>
                <a:spcPct val="100000"/>
              </a:lnSpc>
            </a:pPr>
            <a:r>
              <a:rPr sz="1200" b="1" i="0">
                <a:solidFill>
                  <a:srgbClr val="1F1E1D"/>
                </a:solidFill>
                <a:latin typeface="Helvetica Neue"/>
              </a:rPr>
              <a:t>154 tickets</a:t>
            </a:r>
          </a:p>
        </p:txBody>
      </p:sp>
      <p:sp>
        <p:nvSpPr>
          <p:cNvPr id="43" name="Rounded Rectangle 42"/>
          <p:cNvSpPr/>
          <p:nvPr/>
        </p:nvSpPr>
        <p:spPr>
          <a:xfrm>
            <a:off x="7772400" y="3118104"/>
            <a:ext cx="3931920" cy="566928"/>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955279" y="3246120"/>
            <a:ext cx="1463040" cy="310896"/>
          </a:xfrm>
          <a:prstGeom prst="roundRect">
            <a:avLst>
              <a:gd name="adj" fmla="val 5500"/>
            </a:avLst>
          </a:prstGeom>
          <a:solidFill>
            <a:srgbClr val="8A87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050" b="1">
                <a:solidFill>
                  <a:srgbClr val="F0EEE6"/>
                </a:solidFill>
                <a:latin typeface="Helvetica Neue"/>
              </a:rPr>
              <a:t>sales</a:t>
            </a:r>
          </a:p>
        </p:txBody>
      </p:sp>
      <p:sp>
        <p:nvSpPr>
          <p:cNvPr id="45" name="TextBox 44"/>
          <p:cNvSpPr txBox="1"/>
          <p:nvPr/>
        </p:nvSpPr>
        <p:spPr>
          <a:xfrm>
            <a:off x="9601200" y="3246120"/>
            <a:ext cx="1920240" cy="320040"/>
          </a:xfrm>
          <a:prstGeom prst="rect">
            <a:avLst/>
          </a:prstGeom>
          <a:noFill/>
        </p:spPr>
        <p:txBody>
          <a:bodyPr wrap="square" anchor="t" lIns="0" rIns="0" tIns="0" bIns="0">
            <a:spAutoFit/>
          </a:bodyPr>
          <a:lstStyle/>
          <a:p>
            <a:pPr algn="l">
              <a:lnSpc>
                <a:spcPct val="100000"/>
              </a:lnSpc>
            </a:pPr>
            <a:r>
              <a:rPr sz="1200" b="1" i="0">
                <a:solidFill>
                  <a:srgbClr val="1F1E1D"/>
                </a:solidFill>
                <a:latin typeface="Helvetica Neue"/>
              </a:rPr>
              <a:t>121 tickets</a:t>
            </a:r>
          </a:p>
        </p:txBody>
      </p:sp>
      <p:sp>
        <p:nvSpPr>
          <p:cNvPr id="46" name="Rounded Rectangle 45"/>
          <p:cNvSpPr/>
          <p:nvPr/>
        </p:nvSpPr>
        <p:spPr>
          <a:xfrm>
            <a:off x="7772400" y="3831335"/>
            <a:ext cx="3931920" cy="566928"/>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955279" y="3959351"/>
            <a:ext cx="1463040" cy="310896"/>
          </a:xfrm>
          <a:prstGeom prst="roundRect">
            <a:avLst>
              <a:gd name="adj" fmla="val 55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050" b="1">
                <a:solidFill>
                  <a:srgbClr val="F0EEE6"/>
                </a:solidFill>
                <a:latin typeface="Helvetica Neue"/>
              </a:rPr>
              <a:t>human review</a:t>
            </a:r>
          </a:p>
        </p:txBody>
      </p:sp>
      <p:sp>
        <p:nvSpPr>
          <p:cNvPr id="48" name="TextBox 47"/>
          <p:cNvSpPr txBox="1"/>
          <p:nvPr/>
        </p:nvSpPr>
        <p:spPr>
          <a:xfrm>
            <a:off x="9601200" y="3959351"/>
            <a:ext cx="1920240" cy="320040"/>
          </a:xfrm>
          <a:prstGeom prst="rect">
            <a:avLst/>
          </a:prstGeom>
          <a:noFill/>
        </p:spPr>
        <p:txBody>
          <a:bodyPr wrap="square" anchor="t" lIns="0" rIns="0" tIns="0" bIns="0">
            <a:spAutoFit/>
          </a:bodyPr>
          <a:lstStyle/>
          <a:p>
            <a:pPr algn="l">
              <a:lnSpc>
                <a:spcPct val="100000"/>
              </a:lnSpc>
            </a:pPr>
            <a:r>
              <a:rPr sz="1200" b="1" i="0">
                <a:solidFill>
                  <a:srgbClr val="1F1E1D"/>
                </a:solidFill>
                <a:latin typeface="Helvetica Neue"/>
              </a:rPr>
              <a:t>38 tickets</a:t>
            </a:r>
          </a:p>
        </p:txBody>
      </p:sp>
      <p:sp>
        <p:nvSpPr>
          <p:cNvPr id="49" name="TextBox 48"/>
          <p:cNvSpPr txBox="1"/>
          <p:nvPr/>
        </p:nvSpPr>
        <p:spPr>
          <a:xfrm>
            <a:off x="7772400" y="4572000"/>
            <a:ext cx="3931920" cy="502920"/>
          </a:xfrm>
          <a:prstGeom prst="rect">
            <a:avLst/>
          </a:prstGeom>
          <a:noFill/>
        </p:spPr>
        <p:txBody>
          <a:bodyPr wrap="square" anchor="t" lIns="0" rIns="0" tIns="0" bIns="0">
            <a:spAutoFit/>
          </a:bodyPr>
          <a:lstStyle/>
          <a:p>
            <a:pPr algn="l">
              <a:lnSpc>
                <a:spcPct val="100000"/>
              </a:lnSpc>
            </a:pPr>
            <a:r>
              <a:rPr sz="1000" b="0" i="1">
                <a:solidFill>
                  <a:srgbClr val="8A8780"/>
                </a:solidFill>
                <a:latin typeface="Helvetica Neue"/>
              </a:rPr>
              <a:t>illustrative split; the review lane is every low-confidence answer, surfaced instead of guessed</a:t>
            </a:r>
          </a:p>
        </p:txBody>
      </p:sp>
      <p:sp>
        <p:nvSpPr>
          <p:cNvPr id="50" name="TextBox 49"/>
          <p:cNvSpPr txBox="1"/>
          <p:nvPr/>
        </p:nvSpPr>
        <p:spPr>
          <a:xfrm>
            <a:off x="502920" y="4892040"/>
            <a:ext cx="11155680" cy="5486400"/>
          </a:xfrm>
          <a:prstGeom prst="rect">
            <a:avLst/>
          </a:prstGeom>
          <a:noFill/>
        </p:spPr>
        <p:txBody>
          <a:bodyPr wrap="square" anchor="t" lIns="0" rIns="0" tIns="0" bIns="0">
            <a:spAutoFit/>
          </a:bodyPr>
          <a:lstStyle/>
          <a:p>
            <a:pPr algn="l">
              <a:lnSpc>
                <a:spcPct val="108000"/>
              </a:lnSpc>
              <a:spcAft>
                <a:spcPts val="800"/>
              </a:spcAft>
            </a:pPr>
            <a:r>
              <a:rPr sz="1300" b="1" i="0">
                <a:solidFill>
                  <a:srgbClr val="D97757"/>
                </a:solidFill>
                <a:latin typeface="Helvetica Neue"/>
              </a:rPr>
              <a:t>–  </a:t>
            </a:r>
            <a:r>
              <a:rPr sz="1300" b="1" i="0">
                <a:solidFill>
                  <a:srgbClr val="1F1E1D"/>
                </a:solidFill>
                <a:latin typeface="Helvetica Neue"/>
              </a:rPr>
              <a:t>The bill: </a:t>
            </a:r>
            <a:r>
              <a:rPr sz="1300" b="0" i="0">
                <a:solidFill>
                  <a:srgbClr val="1F1E1D"/>
                </a:solidFill>
                <a:latin typeface="Helvetica Neue"/>
              </a:rPr>
              <a:t>500 calls x ~500 tokens = 250k tokens = about one cent. The entire Monday-morning queue, triaged with uncertainty attached, for $0.01.</a:t>
            </a:r>
          </a:p>
          <a:p>
            <a:pPr algn="l">
              <a:lnSpc>
                <a:spcPct val="108000"/>
              </a:lnSpc>
              <a:spcAft>
                <a:spcPts val="800"/>
              </a:spcAft>
            </a:pPr>
            <a:r>
              <a:rPr sz="1300" b="1" i="0">
                <a:solidFill>
                  <a:srgbClr val="D97757"/>
                </a:solidFill>
                <a:latin typeface="Helvetica Neue"/>
              </a:rPr>
              <a:t>–  </a:t>
            </a:r>
            <a:r>
              <a:rPr sz="1300" b="1" i="0">
                <a:solidFill>
                  <a:srgbClr val="1F1E1D"/>
                </a:solidFill>
                <a:latin typeface="Helvetica Neue"/>
              </a:rPr>
              <a:t>The time: </a:t>
            </a:r>
            <a:r>
              <a:rPr sz="1300" b="0" i="0">
                <a:solidFill>
                  <a:srgbClr val="1F1E1D"/>
                </a:solidFill>
                <a:latin typeface="Helvetica Neue"/>
              </a:rPr>
              <a:t>at ~0.3 s per call, under 3 minutes sequentially; seconds with a small concurrent pool (the Twitch cookbook runs 8-wide).</a:t>
            </a:r>
          </a:p>
          <a:p>
            <a:pPr algn="l">
              <a:lnSpc>
                <a:spcPct val="108000"/>
              </a:lnSpc>
              <a:spcAft>
                <a:spcPts val="800"/>
              </a:spcAft>
            </a:pPr>
            <a:r>
              <a:rPr sz="1300" b="1" i="0">
                <a:solidFill>
                  <a:srgbClr val="D97757"/>
                </a:solidFill>
                <a:latin typeface="Helvetica Neue"/>
              </a:rPr>
              <a:t>–  </a:t>
            </a:r>
            <a:r>
              <a:rPr sz="1300" b="1" i="0">
                <a:solidFill>
                  <a:srgbClr val="1F1E1D"/>
                </a:solidFill>
                <a:latin typeface="Helvetica Neue"/>
              </a:rPr>
              <a:t>The alternative you were pricing: </a:t>
            </a:r>
            <a:r>
              <a:rPr sz="1300" b="0" i="0">
                <a:solidFill>
                  <a:srgbClr val="1F1E1D"/>
                </a:solidFill>
                <a:latin typeface="Helvetica Neue"/>
              </a:rPr>
              <a:t>an LLM pass over 500 tickets costs dollars and minutes, so you ration it. At Jev prices, rationing stops being a design constraint.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31</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4  |  PROPERTIES THAT CHANGE ARCHITECTURE</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Fast enough for request paths, cheap enough for everywhere</a:t>
            </a:r>
          </a:p>
        </p:txBody>
      </p:sp>
      <p:pic>
        <p:nvPicPr>
          <p:cNvPr id="7" name="Picture 6" descr="price_compare.png"/>
          <p:cNvPicPr>
            <a:picLocks noChangeAspect="1"/>
          </p:cNvPicPr>
          <p:nvPr/>
        </p:nvPicPr>
        <p:blipFill>
          <a:blip r:embed="rId2"/>
          <a:stretch>
            <a:fillRect/>
          </a:stretch>
        </p:blipFill>
        <p:spPr>
          <a:xfrm>
            <a:off x="502920" y="1645920"/>
            <a:ext cx="6583680" cy="3425989"/>
          </a:xfrm>
          <a:prstGeom prst="rect">
            <a:avLst/>
          </a:prstGeom>
        </p:spPr>
      </p:pic>
      <p:sp>
        <p:nvSpPr>
          <p:cNvPr id="8" name="TextBox 7"/>
          <p:cNvSpPr txBox="1"/>
          <p:nvPr/>
        </p:nvSpPr>
        <p:spPr>
          <a:xfrm>
            <a:off x="7360920" y="1737360"/>
            <a:ext cx="4389120" cy="5486400"/>
          </a:xfrm>
          <a:prstGeom prst="rect">
            <a:avLst/>
          </a:prstGeom>
          <a:noFill/>
        </p:spPr>
        <p:txBody>
          <a:bodyPr wrap="square" anchor="t" lIns="0" rIns="0" tIns="0" bIns="0">
            <a:spAutoFit/>
          </a:bodyPr>
          <a:lstStyle/>
          <a:p>
            <a:pPr algn="l">
              <a:lnSpc>
                <a:spcPct val="108000"/>
              </a:lnSpc>
              <a:spcAft>
                <a:spcPts val="1100"/>
              </a:spcAft>
            </a:pPr>
            <a:r>
              <a:rPr sz="1350" b="1" i="0">
                <a:solidFill>
                  <a:srgbClr val="D97757"/>
                </a:solidFill>
                <a:latin typeface="Helvetica Neue"/>
              </a:rPr>
              <a:t>–  </a:t>
            </a:r>
            <a:r>
              <a:rPr sz="1350" b="1" i="0">
                <a:solidFill>
                  <a:srgbClr val="1F1E1D"/>
                </a:solidFill>
                <a:latin typeface="Helvetica Neue"/>
              </a:rPr>
              <a:t>Latency: </a:t>
            </a:r>
            <a:r>
              <a:rPr sz="1350" b="0" i="0">
                <a:solidFill>
                  <a:srgbClr val="1F1E1D"/>
                </a:solidFill>
                <a:latin typeface="Helvetica Neue"/>
              </a:rPr>
              <a:t>company claims 70 to 500 ms; our measurements from this workshop: ~280 ms per text call including network. Fast enough to sit in front of every LLM call.</a:t>
            </a:r>
          </a:p>
          <a:p>
            <a:pPr algn="l">
              <a:lnSpc>
                <a:spcPct val="108000"/>
              </a:lnSpc>
              <a:spcAft>
                <a:spcPts val="1100"/>
              </a:spcAft>
            </a:pPr>
            <a:r>
              <a:rPr sz="1350" b="1" i="0">
                <a:solidFill>
                  <a:srgbClr val="D97757"/>
                </a:solidFill>
                <a:latin typeface="Helvetica Neue"/>
              </a:rPr>
              <a:t>–  </a:t>
            </a:r>
            <a:r>
              <a:rPr sz="1350" b="1" i="0">
                <a:solidFill>
                  <a:srgbClr val="1F1E1D"/>
                </a:solidFill>
                <a:latin typeface="Helvetica Neue"/>
              </a:rPr>
              <a:t>Price: </a:t>
            </a:r>
            <a:r>
              <a:rPr sz="1350" b="0" i="0">
                <a:solidFill>
                  <a:srgbClr val="1F1E1D"/>
                </a:solidFill>
                <a:latin typeface="Helvetica Neue"/>
              </a:rPr>
              <a:t>$0.042 per million input tokens, output free. A 5-question triage request is ~500 tokens: about $21 per million tickets.</a:t>
            </a:r>
          </a:p>
          <a:p>
            <a:pPr algn="l">
              <a:lnSpc>
                <a:spcPct val="108000"/>
              </a:lnSpc>
              <a:spcAft>
                <a:spcPts val="1100"/>
              </a:spcAft>
            </a:pPr>
            <a:r>
              <a:rPr sz="1350" b="1" i="0">
                <a:solidFill>
                  <a:srgbClr val="D97757"/>
                </a:solidFill>
                <a:latin typeface="Helvetica Neue"/>
              </a:rPr>
              <a:t>–  </a:t>
            </a:r>
            <a:r>
              <a:rPr sz="1350" b="1" i="0">
                <a:solidFill>
                  <a:srgbClr val="1F1E1D"/>
                </a:solidFill>
                <a:latin typeface="Helvetica Neue"/>
              </a:rPr>
              <a:t>What this unlocks: </a:t>
            </a:r>
            <a:r>
              <a:rPr sz="1350" b="0" i="0">
                <a:solidFill>
                  <a:srgbClr val="1F1E1D"/>
                </a:solidFill>
                <a:latin typeface="Helvetica Neue"/>
              </a:rPr>
              <a:t>screen every message both directions, score every passage in RAG, classify entire agent traces, ask speculative questions by default.</a:t>
            </a:r>
          </a:p>
        </p:txBody>
      </p:sp>
      <p:sp>
        <p:nvSpPr>
          <p:cNvPr id="9" name="TextBox 8"/>
          <p:cNvSpPr txBox="1"/>
          <p:nvPr/>
        </p:nvSpPr>
        <p:spPr>
          <a:xfrm>
            <a:off x="502920" y="5760720"/>
            <a:ext cx="6583680" cy="365760"/>
          </a:xfrm>
          <a:prstGeom prst="rect">
            <a:avLst/>
          </a:prstGeom>
          <a:noFill/>
        </p:spPr>
        <p:txBody>
          <a:bodyPr wrap="square" anchor="t" lIns="0" rIns="0" tIns="0" bIns="0">
            <a:spAutoFit/>
          </a:bodyPr>
          <a:lstStyle/>
          <a:p>
            <a:pPr algn="l">
              <a:lnSpc>
                <a:spcPct val="100000"/>
              </a:lnSpc>
            </a:pPr>
            <a:r>
              <a:rPr sz="1100" b="0" i="1">
                <a:solidFill>
                  <a:srgbClr val="8A8780"/>
                </a:solidFill>
                <a:latin typeface="Helvetica Neue"/>
              </a:rPr>
              <a:t>Indicative LLM tier prices for scale; check current vendor pricing. The point is orders of magnitude, not decimals.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32</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4  |  WE MEASURED IT</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Batching questions: our live experiment</a:t>
            </a:r>
          </a:p>
        </p:txBody>
      </p:sp>
      <p:pic>
        <p:nvPicPr>
          <p:cNvPr id="7" name="Picture 6" descr="batching.png"/>
          <p:cNvPicPr>
            <a:picLocks noChangeAspect="1"/>
          </p:cNvPicPr>
          <p:nvPr/>
        </p:nvPicPr>
        <p:blipFill>
          <a:blip r:embed="rId2"/>
          <a:stretch>
            <a:fillRect/>
          </a:stretch>
        </p:blipFill>
        <p:spPr>
          <a:xfrm>
            <a:off x="502920" y="1645920"/>
            <a:ext cx="6766560" cy="2970582"/>
          </a:xfrm>
          <a:prstGeom prst="rect">
            <a:avLst/>
          </a:prstGeom>
        </p:spPr>
      </p:pic>
      <p:sp>
        <p:nvSpPr>
          <p:cNvPr id="8" name="TextBox 7"/>
          <p:cNvSpPr txBox="1"/>
          <p:nvPr/>
        </p:nvSpPr>
        <p:spPr>
          <a:xfrm>
            <a:off x="7452360" y="1737360"/>
            <a:ext cx="4297680" cy="5486400"/>
          </a:xfrm>
          <a:prstGeom prst="rect">
            <a:avLst/>
          </a:prstGeom>
          <a:noFill/>
        </p:spPr>
        <p:txBody>
          <a:bodyPr wrap="square" anchor="t" lIns="0" rIns="0" tIns="0" bIns="0">
            <a:spAutoFit/>
          </a:bodyPr>
          <a:lstStyle/>
          <a:p>
            <a:pPr algn="l">
              <a:lnSpc>
                <a:spcPct val="108000"/>
              </a:lnSpc>
              <a:spcAft>
                <a:spcPts val="1100"/>
              </a:spcAft>
            </a:pPr>
            <a:r>
              <a:rPr sz="1350" b="1" i="0">
                <a:solidFill>
                  <a:srgbClr val="D97757"/>
                </a:solidFill>
                <a:latin typeface="Helvetica Neue"/>
              </a:rPr>
              <a:t>–  </a:t>
            </a:r>
            <a:r>
              <a:rPr sz="1350" b="1" i="0">
                <a:solidFill>
                  <a:srgbClr val="1F1E1D"/>
                </a:solidFill>
                <a:latin typeface="Helvetica Neue"/>
              </a:rPr>
              <a:t>The setup: </a:t>
            </a:r>
            <a:r>
              <a:rPr sz="1350" b="0" i="0">
                <a:solidFill>
                  <a:srgbClr val="1F1E1D"/>
                </a:solidFill>
                <a:latin typeface="Helvetica Neue"/>
              </a:rPr>
              <a:t>an 8-question compliance checklist over one policy paragraph; 8 separate calls vs 1 call with 8 questions.</a:t>
            </a:r>
          </a:p>
          <a:p>
            <a:pPr algn="l">
              <a:lnSpc>
                <a:spcPct val="108000"/>
              </a:lnSpc>
              <a:spcAft>
                <a:spcPts val="1100"/>
              </a:spcAft>
            </a:pPr>
            <a:r>
              <a:rPr sz="1350" b="1" i="0">
                <a:solidFill>
                  <a:srgbClr val="D97757"/>
                </a:solidFill>
                <a:latin typeface="Helvetica Neue"/>
              </a:rPr>
              <a:t>–  </a:t>
            </a:r>
            <a:r>
              <a:rPr sz="1350" b="1" i="0">
                <a:solidFill>
                  <a:srgbClr val="1F1E1D"/>
                </a:solidFill>
                <a:latin typeface="Helvetica Neue"/>
              </a:rPr>
              <a:t>Result: </a:t>
            </a:r>
            <a:r>
              <a:rPr sz="1350" b="0" i="0">
                <a:solidFill>
                  <a:srgbClr val="1F1E1D"/>
                </a:solidFill>
                <a:latin typeface="Helvetica Neue"/>
              </a:rPr>
              <a:t>6.8x faster, 6.1x fewer input tokens, answers numerically identical (within 0.01).</a:t>
            </a:r>
          </a:p>
          <a:p>
            <a:pPr algn="l">
              <a:lnSpc>
                <a:spcPct val="108000"/>
              </a:lnSpc>
              <a:spcAft>
                <a:spcPts val="1100"/>
              </a:spcAft>
            </a:pPr>
            <a:r>
              <a:rPr sz="1350" b="1" i="0">
                <a:solidFill>
                  <a:srgbClr val="D97757"/>
                </a:solidFill>
                <a:latin typeface="Helvetica Neue"/>
              </a:rPr>
              <a:t>–  </a:t>
            </a:r>
            <a:r>
              <a:rPr sz="1350" b="1" i="0">
                <a:solidFill>
                  <a:srgbClr val="1F1E1D"/>
                </a:solidFill>
                <a:latin typeface="Helvetica Neue"/>
              </a:rPr>
              <a:t>Why: </a:t>
            </a:r>
            <a:r>
              <a:rPr sz="1350" b="0" i="0">
                <a:solidFill>
                  <a:srgbClr val="1F1E1D"/>
                </a:solidFill>
                <a:latin typeface="Helvetica Neue"/>
              </a:rPr>
              <a:t>every call pays to resend the state and a round trip; a batch pays once.</a:t>
            </a:r>
          </a:p>
          <a:p>
            <a:pPr algn="l">
              <a:lnSpc>
                <a:spcPct val="108000"/>
              </a:lnSpc>
              <a:spcAft>
                <a:spcPts val="1100"/>
              </a:spcAft>
            </a:pPr>
            <a:r>
              <a:rPr sz="1350" b="1" i="0">
                <a:solidFill>
                  <a:srgbClr val="D97757"/>
                </a:solidFill>
                <a:latin typeface="Helvetica Neue"/>
              </a:rPr>
              <a:t>–  </a:t>
            </a:r>
            <a:r>
              <a:rPr sz="1350" b="1" i="0">
                <a:solidFill>
                  <a:srgbClr val="1F1E1D"/>
                </a:solidFill>
                <a:latin typeface="Helvetica Neue"/>
              </a:rPr>
              <a:t>Docs' version at 13 questions: </a:t>
            </a:r>
            <a:r>
              <a:rPr sz="1350" b="0" i="0">
                <a:solidFill>
                  <a:srgbClr val="1F1E1D"/>
                </a:solidFill>
                <a:latin typeface="Helvetica Neue"/>
              </a:rPr>
              <a:t>11.5x cheaper, 9.6x faster. The ratio grows with question count and state size.</a:t>
            </a:r>
          </a:p>
        </p:txBody>
      </p:sp>
      <p:sp>
        <p:nvSpPr>
          <p:cNvPr id="9" name="TextBox 8"/>
          <p:cNvSpPr txBox="1"/>
          <p:nvPr/>
        </p:nvSpPr>
        <p:spPr>
          <a:xfrm>
            <a:off x="502920" y="5760720"/>
            <a:ext cx="10972800" cy="365760"/>
          </a:xfrm>
          <a:prstGeom prst="rect">
            <a:avLst/>
          </a:prstGeom>
          <a:noFill/>
        </p:spPr>
        <p:txBody>
          <a:bodyPr wrap="square" anchor="t" lIns="0" rIns="0" tIns="0" bIns="0">
            <a:spAutoFit/>
          </a:bodyPr>
          <a:lstStyle/>
          <a:p>
            <a:pPr algn="l">
              <a:lnSpc>
                <a:spcPct val="100000"/>
              </a:lnSpc>
            </a:pPr>
            <a:r>
              <a:rPr sz="1200" b="0" i="1">
                <a:solidFill>
                  <a:srgbClr val="8A8780"/>
                </a:solidFill>
                <a:latin typeface="Helvetica Neue"/>
              </a:rPr>
              <a:t>Run it yourself: notebook 04, cell 6. No limit on questions per request; the bound is context (64k per request, 32k state plus any one question).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33</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4  |  PATTERN 1 OF 4</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Speculative fan-out: ask everything, let code choose</a:t>
            </a:r>
          </a:p>
        </p:txBody>
      </p:sp>
      <p:sp>
        <p:nvSpPr>
          <p:cNvPr id="7" name="TextBox 6"/>
          <p:cNvSpPr txBox="1"/>
          <p:nvPr/>
        </p:nvSpPr>
        <p:spPr>
          <a:xfrm>
            <a:off x="502920" y="1645920"/>
            <a:ext cx="5852160" cy="5486400"/>
          </a:xfrm>
          <a:prstGeom prst="rect">
            <a:avLst/>
          </a:prstGeom>
          <a:noFill/>
        </p:spPr>
        <p:txBody>
          <a:bodyPr wrap="square" anchor="t" lIns="0" rIns="0" tIns="0" bIns="0">
            <a:spAutoFit/>
          </a:bodyPr>
          <a:lstStyle/>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The idea. </a:t>
            </a:r>
            <a:r>
              <a:rPr sz="1500" b="0" i="0">
                <a:solidFill>
                  <a:srgbClr val="1F1E1D"/>
                </a:solidFill>
                <a:latin typeface="Helvetica Neue"/>
              </a:rPr>
              <a:t>Send every question your code MIGHT need, including ones that only matter for some inputs. Code ignores the irrelevant answers.</a:t>
            </a:r>
          </a:p>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Why it is nearly free. </a:t>
            </a:r>
            <a:r>
              <a:rPr sz="1500" b="0" i="0">
                <a:solidFill>
                  <a:srgbClr val="1F1E1D"/>
                </a:solidFill>
                <a:latin typeface="Helvetica Neue"/>
              </a:rPr>
              <a:t>Questions evaluate in parallel; an extra question adds a few tokens, not a round trip.</a:t>
            </a:r>
          </a:p>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The example. </a:t>
            </a:r>
            <a:r>
              <a:rPr sz="1500" b="0" i="0">
                <a:solidFill>
                  <a:srgbClr val="1F1E1D"/>
                </a:solidFill>
                <a:latin typeface="Helvetica Neue"/>
              </a:rPr>
              <a:t>Triage asks category, bug severity, repro steps, refund requested, frustration, all at once. A feature request simply never reads the severity answer.</a:t>
            </a:r>
          </a:p>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Independence guarantee. </a:t>
            </a:r>
            <a:r>
              <a:rPr sz="1500" b="0" i="0">
                <a:solidFill>
                  <a:srgbClr val="1F1E1D"/>
                </a:solidFill>
                <a:latin typeface="Helvetica Neue"/>
              </a:rPr>
              <a:t>One question's answer is never hidden context for another; adding a question cannot change the others' results.</a:t>
            </a:r>
          </a:p>
        </p:txBody>
      </p:sp>
      <p:sp>
        <p:nvSpPr>
          <p:cNvPr id="8" name="Rounded Rectangle 7"/>
          <p:cNvSpPr/>
          <p:nvPr/>
        </p:nvSpPr>
        <p:spPr>
          <a:xfrm>
            <a:off x="6675120" y="1645920"/>
            <a:ext cx="5029200" cy="3931920"/>
          </a:xfrm>
          <a:prstGeom prst="roundRect">
            <a:avLst>
              <a:gd name="adj" fmla="val 5500"/>
            </a:avLst>
          </a:prstGeom>
          <a:solidFill>
            <a:srgbClr val="2A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1847088"/>
            <a:ext cx="4626864" cy="3529584"/>
          </a:xfrm>
          <a:prstGeom prst="rect">
            <a:avLst/>
          </a:prstGeom>
          <a:noFill/>
        </p:spPr>
        <p:txBody>
          <a:bodyPr wrap="square" anchor="t" lIns="0" rIns="0" tIns="0" bIns="0">
            <a:spAutoFit/>
          </a:bodyPr>
          <a:lstStyle/>
          <a:p>
            <a:pPr algn="l">
              <a:lnSpc>
                <a:spcPct val="112000"/>
              </a:lnSpc>
            </a:pPr>
            <a:r>
              <a:rPr sz="1250" b="0" i="0">
                <a:solidFill>
                  <a:srgbClr val="EDEAE3"/>
                </a:solidFill>
                <a:latin typeface="Menlo"/>
              </a:rPr>
              <a:t>r = client.system_one(state=ticket, questions={</a:t>
            </a:r>
          </a:p>
          <a:p>
            <a:pPr algn="l">
              <a:lnSpc>
                <a:spcPct val="112000"/>
              </a:lnSpc>
            </a:pPr>
            <a:r>
              <a:rPr sz="1250" b="0" i="0">
                <a:solidFill>
                  <a:srgbClr val="EDEAE3"/>
                </a:solidFill>
                <a:latin typeface="Menlo"/>
              </a:rPr>
              <a:t>  "category":     Choice(...),   # always used</a:t>
            </a:r>
          </a:p>
          <a:p>
            <a:pPr algn="l">
              <a:lnSpc>
                <a:spcPct val="112000"/>
              </a:lnSpc>
            </a:pPr>
            <a:r>
              <a:rPr sz="1250" b="0" i="0">
                <a:solidFill>
                  <a:srgbClr val="EDEAE3"/>
                </a:solidFill>
                <a:latin typeface="Menlo"/>
              </a:rPr>
              <a:t>  "bug_severity": Score(...),    # only if bug</a:t>
            </a:r>
          </a:p>
          <a:p>
            <a:pPr algn="l">
              <a:lnSpc>
                <a:spcPct val="112000"/>
              </a:lnSpc>
            </a:pPr>
            <a:r>
              <a:rPr sz="1250" b="0" i="0">
                <a:solidFill>
                  <a:srgbClr val="EDEAE3"/>
                </a:solidFill>
                <a:latin typeface="Menlo"/>
              </a:rPr>
              <a:t>  "has_repro":    Noul(...),     # only if bug</a:t>
            </a:r>
          </a:p>
          <a:p>
            <a:pPr algn="l">
              <a:lnSpc>
                <a:spcPct val="112000"/>
              </a:lnSpc>
            </a:pPr>
            <a:r>
              <a:rPr sz="1250" b="0" i="0">
                <a:solidFill>
                  <a:srgbClr val="EDEAE3"/>
                </a:solidFill>
                <a:latin typeface="Menlo"/>
              </a:rPr>
              <a:t>  "refund_asked": Noul(...),     # only if billing</a:t>
            </a:r>
          </a:p>
          <a:p>
            <a:pPr algn="l">
              <a:lnSpc>
                <a:spcPct val="112000"/>
              </a:lnSpc>
            </a:pPr>
            <a:r>
              <a:rPr sz="1250" b="0" i="0">
                <a:solidFill>
                  <a:srgbClr val="EDEAE3"/>
                </a:solidFill>
                <a:latin typeface="Menlo"/>
              </a:rPr>
              <a:t>  "frustration":  Score(...),    # always used</a:t>
            </a:r>
          </a:p>
          <a:p>
            <a:pPr algn="l">
              <a:lnSpc>
                <a:spcPct val="112000"/>
              </a:lnSpc>
            </a:pPr>
            <a:r>
              <a:rPr sz="1250" b="0" i="0">
                <a:solidFill>
                  <a:srgbClr val="EDEAE3"/>
                </a:solidFill>
                <a:latin typeface="Menlo"/>
              </a:rPr>
              <a:t>})</a:t>
            </a:r>
          </a:p>
          <a:p>
            <a:pPr algn="l">
              <a:lnSpc>
                <a:spcPct val="112000"/>
              </a:lnSpc>
            </a:pPr>
            <a:r>
              <a:rPr sz="1250" b="0" i="0">
                <a:solidFill>
                  <a:srgbClr val="EDEAE3"/>
                </a:solidFill>
                <a:latin typeface="Menlo"/>
              </a:rPr>
              <a:t/>
            </a:r>
          </a:p>
          <a:p>
            <a:pPr algn="l">
              <a:lnSpc>
                <a:spcPct val="112000"/>
              </a:lnSpc>
            </a:pPr>
            <a:r>
              <a:rPr sz="1250" b="0" i="0">
                <a:solidFill>
                  <a:srgbClr val="EDEAE3"/>
                </a:solidFill>
                <a:latin typeface="Menlo"/>
              </a:rPr>
              <a:t>if r.choices["category"].choice == "bug_report":</a:t>
            </a:r>
          </a:p>
          <a:p>
            <a:pPr algn="l">
              <a:lnSpc>
                <a:spcPct val="112000"/>
              </a:lnSpc>
            </a:pPr>
            <a:r>
              <a:rPr sz="1250" b="0" i="0">
                <a:solidFill>
                  <a:srgbClr val="EDEAE3"/>
                </a:solidFill>
                <a:latin typeface="Menlo"/>
              </a:rPr>
              <a:t>    if (r.scores["bug_severity"].score &gt; 1.5</a:t>
            </a:r>
          </a:p>
          <a:p>
            <a:pPr algn="l">
              <a:lnSpc>
                <a:spcPct val="112000"/>
              </a:lnSpc>
            </a:pPr>
            <a:r>
              <a:rPr sz="1250" b="0" i="0">
                <a:solidFill>
                  <a:srgbClr val="EDEAE3"/>
                </a:solidFill>
                <a:latin typeface="Menlo"/>
              </a:rPr>
              <a:t>            and r.nouls["has_repro"].noul &gt; 0.6):</a:t>
            </a:r>
          </a:p>
          <a:p>
            <a:pPr algn="l">
              <a:lnSpc>
                <a:spcPct val="112000"/>
              </a:lnSpc>
            </a:pPr>
            <a:r>
              <a:rPr sz="1250" b="0" i="0">
                <a:solidFill>
                  <a:srgbClr val="EDEAE3"/>
                </a:solidFill>
                <a:latin typeface="Menlo"/>
              </a:rPr>
              <a:t>        escalate_to_engineering()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34</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4  |  PATTERN 2 OF 4</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Composite scoring: the model judges, your weights decide</a:t>
            </a:r>
          </a:p>
        </p:txBody>
      </p:sp>
      <p:sp>
        <p:nvSpPr>
          <p:cNvPr id="7" name="TextBox 6"/>
          <p:cNvSpPr txBox="1"/>
          <p:nvPr/>
        </p:nvSpPr>
        <p:spPr>
          <a:xfrm>
            <a:off x="502920" y="1645920"/>
            <a:ext cx="5852160" cy="5486400"/>
          </a:xfrm>
          <a:prstGeom prst="rect">
            <a:avLst/>
          </a:prstGeom>
          <a:noFill/>
        </p:spPr>
        <p:txBody>
          <a:bodyPr wrap="square" anchor="t" lIns="0" rIns="0" tIns="0" bIns="0">
            <a:spAutoFit/>
          </a:bodyPr>
          <a:lstStyle/>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Resist the one-big-question urge. </a:t>
            </a:r>
            <a:r>
              <a:rPr sz="1500" b="0" i="0">
                <a:solidFill>
                  <a:srgbClr val="1F1E1D"/>
                </a:solidFill>
                <a:latin typeface="Helvetica Neue"/>
              </a:rPr>
              <a:t>“Rate this candidate 1-10” hides several judgments behind one number you cannot tune.</a:t>
            </a:r>
          </a:p>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Instead: </a:t>
            </a:r>
            <a:r>
              <a:rPr sz="1500" b="0" i="0">
                <a:solidFill>
                  <a:srgbClr val="1F1E1D"/>
                </a:solidFill>
                <a:latin typeface="Helvetica Neue"/>
              </a:rPr>
              <a:t>one Score per dimension (Python depth, leadership, system design), normalized by each scale's top level, combined with weights in code.</a:t>
            </a:r>
          </a:p>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The payoff. </a:t>
            </a:r>
            <a:r>
              <a:rPr sz="1500" b="0" i="0">
                <a:solidFill>
                  <a:srgbClr val="1F1E1D"/>
                </a:solidFill>
                <a:latin typeface="Helvetica Neue"/>
              </a:rPr>
              <a:t>Senior-IC weights and manager weights produce different rankings from the SAME model judgments. Priorities change in a constants file, under code review, not in a prompt.</a:t>
            </a:r>
          </a:p>
          <a:p>
            <a:pPr algn="l">
              <a:lnSpc>
                <a:spcPct val="108000"/>
              </a:lnSpc>
              <a:spcAft>
                <a:spcPts val="1200"/>
              </a:spcAft>
            </a:pPr>
            <a:r>
              <a:rPr sz="1500" b="1" i="0">
                <a:solidFill>
                  <a:srgbClr val="D97757"/>
                </a:solidFill>
                <a:latin typeface="Helvetica Neue"/>
              </a:rPr>
              <a:t>–  </a:t>
            </a:r>
            <a:r>
              <a:rPr sz="1500" b="1" i="0">
                <a:solidFill>
                  <a:srgbClr val="1F1E1D"/>
                </a:solidFill>
                <a:latin typeface="Helvetica Neue"/>
              </a:rPr>
              <a:t>Judgment vs policy. </a:t>
            </a:r>
            <a:r>
              <a:rPr sz="1500" b="0" i="0">
                <a:solidFill>
                  <a:srgbClr val="1F1E1D"/>
                </a:solidFill>
                <a:latin typeface="Helvetica Neue"/>
              </a:rPr>
              <a:t>The model owns the former, your code owns the latter. Keep them separable and both become testable.</a:t>
            </a:r>
          </a:p>
        </p:txBody>
      </p:sp>
      <p:sp>
        <p:nvSpPr>
          <p:cNvPr id="8" name="Rounded Rectangle 7"/>
          <p:cNvSpPr/>
          <p:nvPr/>
        </p:nvSpPr>
        <p:spPr>
          <a:xfrm>
            <a:off x="6675120" y="1645920"/>
            <a:ext cx="5029200" cy="3017520"/>
          </a:xfrm>
          <a:prstGeom prst="roundRect">
            <a:avLst>
              <a:gd name="adj" fmla="val 5500"/>
            </a:avLst>
          </a:prstGeom>
          <a:solidFill>
            <a:srgbClr val="2A2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1847088"/>
            <a:ext cx="4626864" cy="2615184"/>
          </a:xfrm>
          <a:prstGeom prst="rect">
            <a:avLst/>
          </a:prstGeom>
          <a:noFill/>
        </p:spPr>
        <p:txBody>
          <a:bodyPr wrap="square" anchor="t" lIns="0" rIns="0" tIns="0" bIns="0">
            <a:spAutoFit/>
          </a:bodyPr>
          <a:lstStyle/>
          <a:p>
            <a:pPr algn="l">
              <a:lnSpc>
                <a:spcPct val="112000"/>
              </a:lnSpc>
            </a:pPr>
            <a:r>
              <a:rPr sz="1250" b="0" i="0">
                <a:solidFill>
                  <a:srgbClr val="EDEAE3"/>
                </a:solidFill>
                <a:latin typeface="Menlo"/>
              </a:rPr>
              <a:t>norm = lambda qid: (r.scores[qid].score</a:t>
            </a:r>
          </a:p>
          <a:p>
            <a:pPr algn="l">
              <a:lnSpc>
                <a:spcPct val="112000"/>
              </a:lnSpc>
            </a:pPr>
            <a:r>
              <a:rPr sz="1250" b="0" i="0">
                <a:solidFill>
                  <a:srgbClr val="EDEAE3"/>
                </a:solidFill>
                <a:latin typeface="Menlo"/>
              </a:rPr>
              <a:t>        / (len(DIMENSIONS[qid].criteria) - 1))</a:t>
            </a:r>
          </a:p>
          <a:p>
            <a:pPr algn="l">
              <a:lnSpc>
                <a:spcPct val="112000"/>
              </a:lnSpc>
            </a:pPr>
            <a:r>
              <a:rPr sz="1250" b="0" i="0">
                <a:solidFill>
                  <a:srgbClr val="EDEAE3"/>
                </a:solidFill>
                <a:latin typeface="Menlo"/>
              </a:rPr>
              <a:t/>
            </a:r>
          </a:p>
          <a:p>
            <a:pPr algn="l">
              <a:lnSpc>
                <a:spcPct val="112000"/>
              </a:lnSpc>
            </a:pPr>
            <a:r>
              <a:rPr sz="1250" b="0" i="0">
                <a:solidFill>
                  <a:srgbClr val="EDEAE3"/>
                </a:solidFill>
                <a:latin typeface="Menlo"/>
              </a:rPr>
              <a:t>ic_fit = (0.45 * norm("python_depth")</a:t>
            </a:r>
          </a:p>
          <a:p>
            <a:pPr algn="l">
              <a:lnSpc>
                <a:spcPct val="112000"/>
              </a:lnSpc>
            </a:pPr>
            <a:r>
              <a:rPr sz="1250" b="0" i="0">
                <a:solidFill>
                  <a:srgbClr val="EDEAE3"/>
                </a:solidFill>
                <a:latin typeface="Menlo"/>
              </a:rPr>
              <a:t>        + 0.10 * norm("team_leadership")</a:t>
            </a:r>
          </a:p>
          <a:p>
            <a:pPr algn="l">
              <a:lnSpc>
                <a:spcPct val="112000"/>
              </a:lnSpc>
            </a:pPr>
            <a:r>
              <a:rPr sz="1250" b="0" i="0">
                <a:solidFill>
                  <a:srgbClr val="EDEAE3"/>
                </a:solidFill>
                <a:latin typeface="Menlo"/>
              </a:rPr>
              <a:t>        + 0.45 * norm("system_design"))</a:t>
            </a:r>
          </a:p>
          <a:p>
            <a:pPr algn="l">
              <a:lnSpc>
                <a:spcPct val="112000"/>
              </a:lnSpc>
            </a:pPr>
            <a:r>
              <a:rPr sz="1250" b="0" i="0">
                <a:solidFill>
                  <a:srgbClr val="EDEAE3"/>
                </a:solidFill>
                <a:latin typeface="Menlo"/>
              </a:rPr>
              <a:t/>
            </a:r>
          </a:p>
          <a:p>
            <a:pPr algn="l">
              <a:lnSpc>
                <a:spcPct val="112000"/>
              </a:lnSpc>
            </a:pPr>
            <a:r>
              <a:rPr sz="1250" b="0" i="0">
                <a:solidFill>
                  <a:srgbClr val="EDEAE3"/>
                </a:solidFill>
                <a:latin typeface="Menlo"/>
              </a:rPr>
              <a:t>em_fit = (0.15 * norm("python_depth")</a:t>
            </a:r>
          </a:p>
          <a:p>
            <a:pPr algn="l">
              <a:lnSpc>
                <a:spcPct val="112000"/>
              </a:lnSpc>
            </a:pPr>
            <a:r>
              <a:rPr sz="1250" b="0" i="0">
                <a:solidFill>
                  <a:srgbClr val="EDEAE3"/>
                </a:solidFill>
                <a:latin typeface="Menlo"/>
              </a:rPr>
              <a:t>        + 0.55 * norm("team_leadership")</a:t>
            </a:r>
          </a:p>
          <a:p>
            <a:pPr algn="l">
              <a:lnSpc>
                <a:spcPct val="112000"/>
              </a:lnSpc>
            </a:pPr>
            <a:r>
              <a:rPr sz="1250" b="0" i="0">
                <a:solidFill>
                  <a:srgbClr val="EDEAE3"/>
                </a:solidFill>
                <a:latin typeface="Menlo"/>
              </a:rPr>
              <a:t>        + 0.30 * norm("system_design"))</a:t>
            </a:r>
          </a:p>
        </p:txBody>
      </p:sp>
      <p:sp>
        <p:nvSpPr>
          <p:cNvPr id="10" name="TextBox 9"/>
          <p:cNvSpPr txBox="1"/>
          <p:nvPr/>
        </p:nvSpPr>
        <p:spPr>
          <a:xfrm>
            <a:off x="6675120" y="4937760"/>
            <a:ext cx="5029200" cy="731520"/>
          </a:xfrm>
          <a:prstGeom prst="rect">
            <a:avLst/>
          </a:prstGeom>
          <a:noFill/>
        </p:spPr>
        <p:txBody>
          <a:bodyPr wrap="square" anchor="t" lIns="0" rIns="0" tIns="0" bIns="0">
            <a:spAutoFit/>
          </a:bodyPr>
          <a:lstStyle/>
          <a:p>
            <a:pPr algn="l">
              <a:lnSpc>
                <a:spcPct val="100000"/>
              </a:lnSpc>
            </a:pPr>
            <a:r>
              <a:rPr sz="1250" b="0" i="1">
                <a:solidFill>
                  <a:srgbClr val="5E6B7A"/>
                </a:solidFill>
                <a:latin typeface="Helvetica Neue"/>
              </a:rPr>
              <a:t>Also feeds classical ML: use the probabilities as features for a downstream model when you have labeled outcomes.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35</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4  |  PATTERNS 3 AND 4 OF 4</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Confidence-gated routing + intent routing</a:t>
            </a:r>
          </a:p>
        </p:txBody>
      </p:sp>
      <p:sp>
        <p:nvSpPr>
          <p:cNvPr id="7" name="Rounded Rectangle 6"/>
          <p:cNvSpPr/>
          <p:nvPr/>
        </p:nvSpPr>
        <p:spPr>
          <a:xfrm>
            <a:off x="502920" y="1600200"/>
            <a:ext cx="5486400" cy="43434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83080"/>
            <a:ext cx="5029200" cy="365760"/>
          </a:xfrm>
          <a:prstGeom prst="rect">
            <a:avLst/>
          </a:prstGeom>
          <a:noFill/>
        </p:spPr>
        <p:txBody>
          <a:bodyPr wrap="square" anchor="t" lIns="0" rIns="0" tIns="0" bIns="0">
            <a:spAutoFit/>
          </a:bodyPr>
          <a:lstStyle/>
          <a:p>
            <a:pPr algn="l">
              <a:lnSpc>
                <a:spcPct val="100000"/>
              </a:lnSpc>
            </a:pPr>
            <a:r>
              <a:rPr sz="1550" b="1" i="0">
                <a:solidFill>
                  <a:srgbClr val="1F1E1D"/>
                </a:solidFill>
                <a:latin typeface="Georgia"/>
              </a:rPr>
              <a:t>Confidence-gated routing</a:t>
            </a:r>
          </a:p>
        </p:txBody>
      </p:sp>
      <p:sp>
        <p:nvSpPr>
          <p:cNvPr id="9" name="TextBox 8"/>
          <p:cNvSpPr txBox="1"/>
          <p:nvPr/>
        </p:nvSpPr>
        <p:spPr>
          <a:xfrm>
            <a:off x="731520" y="2286000"/>
            <a:ext cx="5029200" cy="5486400"/>
          </a:xfrm>
          <a:prstGeom prst="rect">
            <a:avLst/>
          </a:prstGeom>
          <a:noFill/>
        </p:spPr>
        <p:txBody>
          <a:bodyPr wrap="square" anchor="t" lIns="0" rIns="0" tIns="0" bIns="0">
            <a:spAutoFit/>
          </a:bodyPr>
          <a:lstStyle/>
          <a:p>
            <a:pPr algn="l">
              <a:lnSpc>
                <a:spcPct val="108000"/>
              </a:lnSpc>
              <a:spcAft>
                <a:spcPts val="1000"/>
              </a:spcAft>
            </a:pPr>
            <a:r>
              <a:rPr sz="1350" b="1" i="0">
                <a:solidFill>
                  <a:srgbClr val="D97757"/>
                </a:solidFill>
                <a:latin typeface="Helvetica Neue"/>
              </a:rPr>
              <a:t>–  </a:t>
            </a:r>
            <a:r>
              <a:rPr sz="1350" b="0" i="0">
                <a:solidFill>
                  <a:srgbClr val="1F1E1D"/>
                </a:solidFill>
                <a:latin typeface="Helvetica Neue"/>
              </a:rPr>
              <a:t>Confidence is a second decision axis: the answer says what, confidence says whether to act on it.</a:t>
            </a:r>
          </a:p>
          <a:p>
            <a:pPr algn="l">
              <a:lnSpc>
                <a:spcPct val="108000"/>
              </a:lnSpc>
              <a:spcAft>
                <a:spcPts val="1000"/>
              </a:spcAft>
            </a:pPr>
            <a:r>
              <a:rPr sz="1350" b="1" i="0">
                <a:solidFill>
                  <a:srgbClr val="D97757"/>
                </a:solidFill>
                <a:latin typeface="Helvetica Neue"/>
              </a:rPr>
              <a:t>–  </a:t>
            </a:r>
            <a:r>
              <a:rPr sz="1350" b="0" i="0">
                <a:solidFill>
                  <a:srgbClr val="1F1E1D"/>
                </a:solidFill>
                <a:latin typeface="Helvetica Neue"/>
              </a:rPr>
              <a:t>A floor (for example 0.5) catches genuine uncertainty for everything; each action then sets its own bar by stakes.</a:t>
            </a:r>
          </a:p>
          <a:p>
            <a:pPr algn="l">
              <a:lnSpc>
                <a:spcPct val="108000"/>
              </a:lnSpc>
              <a:spcAft>
                <a:spcPts val="1000"/>
              </a:spcAft>
            </a:pPr>
            <a:r>
              <a:rPr sz="1350" b="1" i="0">
                <a:solidFill>
                  <a:srgbClr val="D97757"/>
                </a:solidFill>
                <a:latin typeface="Helvetica Neue"/>
              </a:rPr>
              <a:t>–  </a:t>
            </a:r>
            <a:r>
              <a:rPr sz="1350" b="0" i="0">
                <a:solidFill>
                  <a:srgbClr val="1F1E1D"/>
                </a:solidFill>
                <a:latin typeface="Helvetica Neue"/>
              </a:rPr>
              <a:t>Checking a balance clears at 0.6; approving a transfer wants 0.85 plus a confirmation.</a:t>
            </a:r>
          </a:p>
        </p:txBody>
      </p:sp>
      <p:sp>
        <p:nvSpPr>
          <p:cNvPr id="10" name="Rounded Rectangle 9"/>
          <p:cNvSpPr/>
          <p:nvPr/>
        </p:nvSpPr>
        <p:spPr>
          <a:xfrm>
            <a:off x="6263640" y="1600200"/>
            <a:ext cx="5486400" cy="434340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83080"/>
            <a:ext cx="5029200" cy="365760"/>
          </a:xfrm>
          <a:prstGeom prst="rect">
            <a:avLst/>
          </a:prstGeom>
          <a:noFill/>
        </p:spPr>
        <p:txBody>
          <a:bodyPr wrap="square" anchor="t" lIns="0" rIns="0" tIns="0" bIns="0">
            <a:spAutoFit/>
          </a:bodyPr>
          <a:lstStyle/>
          <a:p>
            <a:pPr algn="l">
              <a:lnSpc>
                <a:spcPct val="100000"/>
              </a:lnSpc>
            </a:pPr>
            <a:r>
              <a:rPr sz="1550" b="1" i="0">
                <a:solidFill>
                  <a:srgbClr val="1F1E1D"/>
                </a:solidFill>
                <a:latin typeface="Georgia"/>
              </a:rPr>
              <a:t>Intent routing</a:t>
            </a:r>
          </a:p>
        </p:txBody>
      </p:sp>
      <p:sp>
        <p:nvSpPr>
          <p:cNvPr id="12" name="TextBox 11"/>
          <p:cNvSpPr txBox="1"/>
          <p:nvPr/>
        </p:nvSpPr>
        <p:spPr>
          <a:xfrm>
            <a:off x="6492240" y="2286000"/>
            <a:ext cx="5029200" cy="5486400"/>
          </a:xfrm>
          <a:prstGeom prst="rect">
            <a:avLst/>
          </a:prstGeom>
          <a:noFill/>
        </p:spPr>
        <p:txBody>
          <a:bodyPr wrap="square" anchor="t" lIns="0" rIns="0" tIns="0" bIns="0">
            <a:spAutoFit/>
          </a:bodyPr>
          <a:lstStyle/>
          <a:p>
            <a:pPr algn="l">
              <a:lnSpc>
                <a:spcPct val="108000"/>
              </a:lnSpc>
              <a:spcAft>
                <a:spcPts val="1000"/>
              </a:spcAft>
            </a:pPr>
            <a:r>
              <a:rPr sz="1350" b="1" i="0">
                <a:solidFill>
                  <a:srgbClr val="D97757"/>
                </a:solidFill>
                <a:latin typeface="Helvetica Neue"/>
              </a:rPr>
              <a:t>–  </a:t>
            </a:r>
            <a:r>
              <a:rPr sz="1350" b="0" i="0">
                <a:solidFill>
                  <a:srgbClr val="1F1E1D"/>
                </a:solidFill>
                <a:latin typeface="Helvetica Neue"/>
              </a:rPr>
              <a:t>Jev sits in front as the fast, cheap classifier; expensive handlers are invoked only when needed.</a:t>
            </a:r>
          </a:p>
          <a:p>
            <a:pPr algn="l">
              <a:lnSpc>
                <a:spcPct val="108000"/>
              </a:lnSpc>
              <a:spcAft>
                <a:spcPts val="1000"/>
              </a:spcAft>
            </a:pPr>
            <a:r>
              <a:rPr sz="1350" b="1" i="0">
                <a:solidFill>
                  <a:srgbClr val="D97757"/>
                </a:solidFill>
                <a:latin typeface="Helvetica Neue"/>
              </a:rPr>
              <a:t>–  </a:t>
            </a:r>
            <a:r>
              <a:rPr sz="1350" b="0" i="0">
                <a:solidFill>
                  <a:srgbClr val="1F1E1D"/>
                </a:solidFill>
                <a:latin typeface="Helvetica Neue"/>
              </a:rPr>
              <a:t>order_status: deterministic code, no LLM at all. product_question: a specialist LLM with the right context loaded.</a:t>
            </a:r>
          </a:p>
          <a:p>
            <a:pPr algn="l">
              <a:lnSpc>
                <a:spcPct val="108000"/>
              </a:lnSpc>
              <a:spcAft>
                <a:spcPts val="1000"/>
              </a:spcAft>
            </a:pPr>
            <a:r>
              <a:rPr sz="1350" b="1" i="0">
                <a:solidFill>
                  <a:srgbClr val="D97757"/>
                </a:solidFill>
                <a:latin typeface="Helvetica Neue"/>
              </a:rPr>
              <a:t>–  </a:t>
            </a:r>
            <a:r>
              <a:rPr sz="1350" b="0" i="0">
                <a:solidFill>
                  <a:srgbClr val="1F1E1D"/>
                </a:solidFill>
                <a:latin typeface="Helvetica Neue"/>
              </a:rPr>
              <a:t>complaint: a complexity Score decides between an LLM and a person.</a:t>
            </a:r>
          </a:p>
          <a:p>
            <a:pPr algn="l">
              <a:lnSpc>
                <a:spcPct val="108000"/>
              </a:lnSpc>
              <a:spcAft>
                <a:spcPts val="1000"/>
              </a:spcAft>
            </a:pPr>
            <a:r>
              <a:rPr sz="1350" b="1" i="0">
                <a:solidFill>
                  <a:srgbClr val="D97757"/>
                </a:solidFill>
                <a:latin typeface="Helvetica Neue"/>
              </a:rPr>
              <a:t>–  </a:t>
            </a:r>
            <a:r>
              <a:rPr sz="1350" b="0" i="0">
                <a:solidFill>
                  <a:srgbClr val="1F1E1D"/>
                </a:solidFill>
                <a:latin typeface="Helvetica Neue"/>
              </a:rPr>
              <a:t>The routing call costs fractions of a cent per thousand messages and saves an LLM invocation on most of them.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36</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4  |  WHERE IT FITS</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Five use-case families (TypeSafe's own map)</a:t>
            </a:r>
          </a:p>
        </p:txBody>
      </p:sp>
      <p:sp>
        <p:nvSpPr>
          <p:cNvPr id="7" name="Rounded Rectangle 6"/>
          <p:cNvSpPr/>
          <p:nvPr/>
        </p:nvSpPr>
        <p:spPr>
          <a:xfrm>
            <a:off x="502920" y="1600200"/>
            <a:ext cx="3611880" cy="2103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46504"/>
            <a:ext cx="3246120" cy="594360"/>
          </a:xfrm>
          <a:prstGeom prst="rect">
            <a:avLst/>
          </a:prstGeom>
          <a:noFill/>
        </p:spPr>
        <p:txBody>
          <a:bodyPr wrap="square" anchor="t" lIns="0" rIns="0" tIns="0" bIns="0">
            <a:spAutoFit/>
          </a:bodyPr>
          <a:lstStyle/>
          <a:p>
            <a:pPr algn="l">
              <a:lnSpc>
                <a:spcPct val="100000"/>
              </a:lnSpc>
            </a:pPr>
            <a:r>
              <a:rPr sz="1450" b="1" i="0">
                <a:solidFill>
                  <a:srgbClr val="1F1E1D"/>
                </a:solidFill>
                <a:latin typeface="Georgia"/>
              </a:rPr>
              <a:t>AI automation software</a:t>
            </a:r>
          </a:p>
        </p:txBody>
      </p:sp>
      <p:sp>
        <p:nvSpPr>
          <p:cNvPr id="9" name="TextBox 8"/>
          <p:cNvSpPr txBox="1"/>
          <p:nvPr/>
        </p:nvSpPr>
        <p:spPr>
          <a:xfrm>
            <a:off x="685800" y="2350008"/>
            <a:ext cx="3246120" cy="1280160"/>
          </a:xfrm>
          <a:prstGeom prst="rect">
            <a:avLst/>
          </a:prstGeom>
          <a:noFill/>
        </p:spPr>
        <p:txBody>
          <a:bodyPr wrap="square" anchor="t" lIns="0" rIns="0" tIns="0" bIns="0">
            <a:spAutoFit/>
          </a:bodyPr>
          <a:lstStyle/>
          <a:p>
            <a:pPr algn="l">
              <a:lnSpc>
                <a:spcPct val="115000"/>
              </a:lnSpc>
            </a:pPr>
            <a:r>
              <a:rPr sz="1150" b="0" i="0">
                <a:solidFill>
                  <a:srgbClr val="5E6B7A"/>
                </a:solidFill>
                <a:latin typeface="Helvetica Neue"/>
              </a:rPr>
              <a:t>Code owns control flow; Jev handles semantic decisions. Run it a million times in the background, no human co-pilot.</a:t>
            </a:r>
          </a:p>
        </p:txBody>
      </p:sp>
      <p:sp>
        <p:nvSpPr>
          <p:cNvPr id="10" name="Rounded Rectangle 9"/>
          <p:cNvSpPr/>
          <p:nvPr/>
        </p:nvSpPr>
        <p:spPr>
          <a:xfrm>
            <a:off x="4297680" y="1600200"/>
            <a:ext cx="3611880" cy="2103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746504"/>
            <a:ext cx="3246120" cy="594360"/>
          </a:xfrm>
          <a:prstGeom prst="rect">
            <a:avLst/>
          </a:prstGeom>
          <a:noFill/>
        </p:spPr>
        <p:txBody>
          <a:bodyPr wrap="square" anchor="t" lIns="0" rIns="0" tIns="0" bIns="0">
            <a:spAutoFit/>
          </a:bodyPr>
          <a:lstStyle/>
          <a:p>
            <a:pPr algn="l">
              <a:lnSpc>
                <a:spcPct val="100000"/>
              </a:lnSpc>
            </a:pPr>
            <a:r>
              <a:rPr sz="1450" b="1" i="0">
                <a:solidFill>
                  <a:srgbClr val="1F1E1D"/>
                </a:solidFill>
                <a:latin typeface="Georgia"/>
              </a:rPr>
              <a:t>Real-time applications</a:t>
            </a:r>
          </a:p>
        </p:txBody>
      </p:sp>
      <p:sp>
        <p:nvSpPr>
          <p:cNvPr id="12" name="TextBox 11"/>
          <p:cNvSpPr txBox="1"/>
          <p:nvPr/>
        </p:nvSpPr>
        <p:spPr>
          <a:xfrm>
            <a:off x="4480560" y="2350008"/>
            <a:ext cx="3246120" cy="1280160"/>
          </a:xfrm>
          <a:prstGeom prst="rect">
            <a:avLst/>
          </a:prstGeom>
          <a:noFill/>
        </p:spPr>
        <p:txBody>
          <a:bodyPr wrap="square" anchor="t" lIns="0" rIns="0" tIns="0" bIns="0">
            <a:spAutoFit/>
          </a:bodyPr>
          <a:lstStyle/>
          <a:p>
            <a:pPr algn="l">
              <a:lnSpc>
                <a:spcPct val="115000"/>
              </a:lnSpc>
            </a:pPr>
            <a:r>
              <a:rPr sz="1150" b="0" i="0">
                <a:solidFill>
                  <a:srgbClr val="5E6B7A"/>
                </a:solidFill>
                <a:latin typeface="Helvetica Neue"/>
              </a:rPr>
              <a:t>Frontier intelligence at ~150 ms: decisions faster than human perception, inside UIs and game loops.</a:t>
            </a:r>
          </a:p>
        </p:txBody>
      </p:sp>
      <p:sp>
        <p:nvSpPr>
          <p:cNvPr id="13" name="Rounded Rectangle 12"/>
          <p:cNvSpPr/>
          <p:nvPr/>
        </p:nvSpPr>
        <p:spPr>
          <a:xfrm>
            <a:off x="8092440" y="1600200"/>
            <a:ext cx="3611880" cy="2103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1746504"/>
            <a:ext cx="3246120" cy="594360"/>
          </a:xfrm>
          <a:prstGeom prst="rect">
            <a:avLst/>
          </a:prstGeom>
          <a:noFill/>
        </p:spPr>
        <p:txBody>
          <a:bodyPr wrap="square" anchor="t" lIns="0" rIns="0" tIns="0" bIns="0">
            <a:spAutoFit/>
          </a:bodyPr>
          <a:lstStyle/>
          <a:p>
            <a:pPr algn="l">
              <a:lnSpc>
                <a:spcPct val="100000"/>
              </a:lnSpc>
            </a:pPr>
            <a:r>
              <a:rPr sz="1450" b="1" i="0">
                <a:solidFill>
                  <a:srgbClr val="1F1E1D"/>
                </a:solidFill>
                <a:latin typeface="Georgia"/>
              </a:rPr>
              <a:t>AI map-reduce over big data</a:t>
            </a:r>
          </a:p>
        </p:txBody>
      </p:sp>
      <p:sp>
        <p:nvSpPr>
          <p:cNvPr id="15" name="TextBox 14"/>
          <p:cNvSpPr txBox="1"/>
          <p:nvPr/>
        </p:nvSpPr>
        <p:spPr>
          <a:xfrm>
            <a:off x="8275319" y="2350008"/>
            <a:ext cx="3246120" cy="1280160"/>
          </a:xfrm>
          <a:prstGeom prst="rect">
            <a:avLst/>
          </a:prstGeom>
          <a:noFill/>
        </p:spPr>
        <p:txBody>
          <a:bodyPr wrap="square" anchor="t" lIns="0" rIns="0" tIns="0" bIns="0">
            <a:spAutoFit/>
          </a:bodyPr>
          <a:lstStyle/>
          <a:p>
            <a:pPr algn="l">
              <a:lnSpc>
                <a:spcPct val="115000"/>
              </a:lnSpc>
            </a:pPr>
            <a:r>
              <a:rPr sz="1150" b="0" i="0">
                <a:solidFill>
                  <a:srgbClr val="5E6B7A"/>
                </a:solidFill>
                <a:latin typeface="Helvetica Neue"/>
              </a:rPr>
              <a:t>100x cheaper means you can afford giant corpora: search, classify traces, extract features at dataset scale.</a:t>
            </a:r>
          </a:p>
        </p:txBody>
      </p:sp>
      <p:sp>
        <p:nvSpPr>
          <p:cNvPr id="16" name="Rounded Rectangle 15"/>
          <p:cNvSpPr/>
          <p:nvPr/>
        </p:nvSpPr>
        <p:spPr>
          <a:xfrm>
            <a:off x="502920" y="3886200"/>
            <a:ext cx="3611880" cy="2103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032504"/>
            <a:ext cx="3246120" cy="594360"/>
          </a:xfrm>
          <a:prstGeom prst="rect">
            <a:avLst/>
          </a:prstGeom>
          <a:noFill/>
        </p:spPr>
        <p:txBody>
          <a:bodyPr wrap="square" anchor="t" lIns="0" rIns="0" tIns="0" bIns="0">
            <a:spAutoFit/>
          </a:bodyPr>
          <a:lstStyle/>
          <a:p>
            <a:pPr algn="l">
              <a:lnSpc>
                <a:spcPct val="100000"/>
              </a:lnSpc>
            </a:pPr>
            <a:r>
              <a:rPr sz="1450" b="1" i="0">
                <a:solidFill>
                  <a:srgbClr val="1F1E1D"/>
                </a:solidFill>
                <a:latin typeface="Georgia"/>
              </a:rPr>
              <a:t>Universal verification</a:t>
            </a:r>
          </a:p>
        </p:txBody>
      </p:sp>
      <p:sp>
        <p:nvSpPr>
          <p:cNvPr id="18" name="TextBox 17"/>
          <p:cNvSpPr txBox="1"/>
          <p:nvPr/>
        </p:nvSpPr>
        <p:spPr>
          <a:xfrm>
            <a:off x="685800" y="4636008"/>
            <a:ext cx="3246120" cy="1280160"/>
          </a:xfrm>
          <a:prstGeom prst="rect">
            <a:avLst/>
          </a:prstGeom>
          <a:noFill/>
        </p:spPr>
        <p:txBody>
          <a:bodyPr wrap="square" anchor="t" lIns="0" rIns="0" tIns="0" bIns="0">
            <a:spAutoFit/>
          </a:bodyPr>
          <a:lstStyle/>
          <a:p>
            <a:pPr algn="l">
              <a:lnSpc>
                <a:spcPct val="115000"/>
              </a:lnSpc>
            </a:pPr>
            <a:r>
              <a:rPr sz="1150" b="0" i="0">
                <a:solidFill>
                  <a:srgbClr val="5E6B7A"/>
                </a:solidFill>
                <a:latin typeface="Helvetica Neue"/>
              </a:rPr>
              <a:t>Check prompts, extractions, citations, reasoning traces, and tool calls of OTHER AIs at a fraction of the LLM's cost.</a:t>
            </a:r>
          </a:p>
        </p:txBody>
      </p:sp>
      <p:sp>
        <p:nvSpPr>
          <p:cNvPr id="19" name="Rounded Rectangle 18"/>
          <p:cNvSpPr/>
          <p:nvPr/>
        </p:nvSpPr>
        <p:spPr>
          <a:xfrm>
            <a:off x="4297680" y="3886200"/>
            <a:ext cx="3611880" cy="210312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032504"/>
            <a:ext cx="3246120" cy="594360"/>
          </a:xfrm>
          <a:prstGeom prst="rect">
            <a:avLst/>
          </a:prstGeom>
          <a:noFill/>
        </p:spPr>
        <p:txBody>
          <a:bodyPr wrap="square" anchor="t" lIns="0" rIns="0" tIns="0" bIns="0">
            <a:spAutoFit/>
          </a:bodyPr>
          <a:lstStyle/>
          <a:p>
            <a:pPr algn="l">
              <a:lnSpc>
                <a:spcPct val="100000"/>
              </a:lnSpc>
            </a:pPr>
            <a:r>
              <a:rPr sz="1450" b="1" i="0">
                <a:solidFill>
                  <a:srgbClr val="1F1E1D"/>
                </a:solidFill>
                <a:latin typeface="Georgia"/>
              </a:rPr>
              <a:t>Harness engineering</a:t>
            </a:r>
          </a:p>
        </p:txBody>
      </p:sp>
      <p:sp>
        <p:nvSpPr>
          <p:cNvPr id="21" name="TextBox 20"/>
          <p:cNvSpPr txBox="1"/>
          <p:nvPr/>
        </p:nvSpPr>
        <p:spPr>
          <a:xfrm>
            <a:off x="4480560" y="4636008"/>
            <a:ext cx="3246120" cy="1280160"/>
          </a:xfrm>
          <a:prstGeom prst="rect">
            <a:avLst/>
          </a:prstGeom>
          <a:noFill/>
        </p:spPr>
        <p:txBody>
          <a:bodyPr wrap="square" anchor="t" lIns="0" rIns="0" tIns="0" bIns="0">
            <a:spAutoFit/>
          </a:bodyPr>
          <a:lstStyle/>
          <a:p>
            <a:pPr algn="l">
              <a:lnSpc>
                <a:spcPct val="115000"/>
              </a:lnSpc>
            </a:pPr>
            <a:r>
              <a:rPr sz="1150" b="0" i="0">
                <a:solidFill>
                  <a:srgbClr val="5E6B7A"/>
                </a:solidFill>
                <a:latin typeface="Helvetica Neue"/>
              </a:rPr>
              <a:t>Make your agent harness smarter: model routing, semantic retrieval, error detection, guardrails.</a:t>
            </a:r>
          </a:p>
        </p:txBody>
      </p:sp>
      <p:sp>
        <p:nvSpPr>
          <p:cNvPr id="22" name="Rounded Rectangle 21"/>
          <p:cNvSpPr/>
          <p:nvPr/>
        </p:nvSpPr>
        <p:spPr>
          <a:xfrm>
            <a:off x="8092440" y="3886200"/>
            <a:ext cx="3611880" cy="2103120"/>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4032504"/>
            <a:ext cx="3246120" cy="365760"/>
          </a:xfrm>
          <a:prstGeom prst="rect">
            <a:avLst/>
          </a:prstGeom>
          <a:noFill/>
        </p:spPr>
        <p:txBody>
          <a:bodyPr wrap="square" anchor="t" lIns="0" rIns="0" tIns="0" bIns="0">
            <a:spAutoFit/>
          </a:bodyPr>
          <a:lstStyle/>
          <a:p>
            <a:pPr algn="l">
              <a:lnSpc>
                <a:spcPct val="100000"/>
              </a:lnSpc>
            </a:pPr>
            <a:r>
              <a:rPr sz="1450" b="1" i="0">
                <a:solidFill>
                  <a:srgbClr val="F0EEE6"/>
                </a:solidFill>
                <a:latin typeface="Georgia"/>
              </a:rPr>
              <a:t>Industry examples</a:t>
            </a:r>
          </a:p>
        </p:txBody>
      </p:sp>
      <p:sp>
        <p:nvSpPr>
          <p:cNvPr id="24" name="TextBox 23"/>
          <p:cNvSpPr txBox="1"/>
          <p:nvPr/>
        </p:nvSpPr>
        <p:spPr>
          <a:xfrm>
            <a:off x="8275320" y="4453128"/>
            <a:ext cx="3246120" cy="1371600"/>
          </a:xfrm>
          <a:prstGeom prst="rect">
            <a:avLst/>
          </a:prstGeom>
          <a:noFill/>
        </p:spPr>
        <p:txBody>
          <a:bodyPr wrap="square" anchor="t" lIns="0" rIns="0" tIns="0" bIns="0">
            <a:spAutoFit/>
          </a:bodyPr>
          <a:lstStyle/>
          <a:p>
            <a:pPr algn="l">
              <a:lnSpc>
                <a:spcPct val="115000"/>
              </a:lnSpc>
            </a:pPr>
            <a:r>
              <a:rPr sz="1150" b="0" i="0">
                <a:solidFill>
                  <a:srgbClr val="CFCBC2"/>
                </a:solidFill>
                <a:latin typeface="Helvetica Neue"/>
              </a:rPr>
              <a:t>support triage, insurance claims, financial crime, legal and compliance, e-commerce catalogs, trust and safety, recruiting, demand forecasting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37</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4  |  RECEIPTS</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The cookbooks publish measured results</a:t>
            </a:r>
          </a:p>
        </p:txBody>
      </p:sp>
      <p:graphicFrame>
        <p:nvGraphicFramePr>
          <p:cNvPr id="7" name="Table 6"/>
          <p:cNvGraphicFramePr>
            <a:graphicFrameLocks noGrp="1"/>
          </p:cNvGraphicFramePr>
          <p:nvPr/>
        </p:nvGraphicFramePr>
        <p:xfrm>
          <a:off x="502920" y="1554480"/>
          <a:ext cx="11155680" cy="4535424"/>
        </p:xfrm>
        <a:graphic>
          <a:graphicData uri="http://schemas.openxmlformats.org/drawingml/2006/table">
            <a:tbl>
              <a:tblPr>
                <a:tableStyleId>{5C22544A-7EE6-4342-B048-85BDC9FD1C3A}</a:tableStyleId>
              </a:tblPr>
              <a:tblGrid>
                <a:gridCol w="2377440"/>
                <a:gridCol w="4754880"/>
                <a:gridCol w="4023360"/>
              </a:tblGrid>
              <a:tr h="566928">
                <a:tc>
                  <a:txBody>
                    <a:bodyPr wrap="square"/>
                    <a:lstStyle/>
                    <a:p>
                      <a:r>
                        <a:rPr sz="1200" b="1">
                          <a:solidFill>
                            <a:srgbClr val="F0EEE6"/>
                          </a:solidFill>
                          <a:latin typeface="Helvetica Neue"/>
                        </a:rPr>
                        <a:t>Cookbook</a:t>
                      </a:r>
                    </a:p>
                  </a:txBody>
                  <a:tcPr marL="73152" marR="73152" marT="27432" marB="27432" anchor="ctr">
                    <a:solidFill>
                      <a:srgbClr val="1F1E1D"/>
                    </a:solidFill>
                  </a:tcPr>
                </a:tc>
                <a:tc>
                  <a:txBody>
                    <a:bodyPr wrap="square"/>
                    <a:lstStyle/>
                    <a:p>
                      <a:r>
                        <a:rPr sz="1200" b="1">
                          <a:solidFill>
                            <a:srgbClr val="F0EEE6"/>
                          </a:solidFill>
                          <a:latin typeface="Helvetica Neue"/>
                        </a:rPr>
                        <a:t>What it builds</a:t>
                      </a:r>
                    </a:p>
                  </a:txBody>
                  <a:tcPr marL="73152" marR="73152" marT="27432" marB="27432" anchor="ctr">
                    <a:solidFill>
                      <a:srgbClr val="1F1E1D"/>
                    </a:solidFill>
                  </a:tcPr>
                </a:tc>
                <a:tc>
                  <a:txBody>
                    <a:bodyPr wrap="square"/>
                    <a:lstStyle/>
                    <a:p>
                      <a:r>
                        <a:rPr sz="1200" b="1">
                          <a:solidFill>
                            <a:srgbClr val="F0EEE6"/>
                          </a:solidFill>
                          <a:latin typeface="Helvetica Neue"/>
                        </a:rPr>
                        <a:t>Published result</a:t>
                      </a:r>
                    </a:p>
                  </a:txBody>
                  <a:tcPr marL="73152" marR="73152" marT="27432" marB="27432" anchor="ctr">
                    <a:solidFill>
                      <a:srgbClr val="1F1E1D"/>
                    </a:solidFill>
                  </a:tcPr>
                </a:tc>
              </a:tr>
              <a:tr h="566928">
                <a:tc>
                  <a:txBody>
                    <a:bodyPr wrap="square"/>
                    <a:lstStyle/>
                    <a:p>
                      <a:r>
                        <a:rPr sz="1200" b="0">
                          <a:solidFill>
                            <a:srgbClr val="1F1E1D"/>
                          </a:solidFill>
                          <a:latin typeface="Helvetica Neue"/>
                        </a:rPr>
                        <a:t>Parallel questions</a:t>
                      </a:r>
                    </a:p>
                  </a:txBody>
                  <a:tcPr marL="73152" marR="73152" marT="27432" marB="27432" anchor="ctr">
                    <a:solidFill>
                      <a:srgbClr val="FAF9F5"/>
                    </a:solidFill>
                  </a:tcPr>
                </a:tc>
                <a:tc>
                  <a:txBody>
                    <a:bodyPr wrap="square"/>
                    <a:lstStyle/>
                    <a:p>
                      <a:r>
                        <a:rPr sz="1200" b="0">
                          <a:solidFill>
                            <a:srgbClr val="1F1E1D"/>
                          </a:solidFill>
                          <a:latin typeface="Helvetica Neue"/>
                        </a:rPr>
                        <a:t>13-question regulatory briefing, batched</a:t>
                      </a:r>
                    </a:p>
                  </a:txBody>
                  <a:tcPr marL="73152" marR="73152" marT="27432" marB="27432" anchor="ctr">
                    <a:solidFill>
                      <a:srgbClr val="FAF9F5"/>
                    </a:solidFill>
                  </a:tcPr>
                </a:tc>
                <a:tc>
                  <a:txBody>
                    <a:bodyPr wrap="square"/>
                    <a:lstStyle/>
                    <a:p>
                      <a:r>
                        <a:rPr sz="1200" b="0">
                          <a:solidFill>
                            <a:srgbClr val="1F1E1D"/>
                          </a:solidFill>
                          <a:latin typeface="Helvetica Neue"/>
                        </a:rPr>
                        <a:t>12.2x cheaper, 10.0x faster, same answers</a:t>
                      </a:r>
                    </a:p>
                  </a:txBody>
                  <a:tcPr marL="73152" marR="73152" marT="27432" marB="27432" anchor="ctr">
                    <a:solidFill>
                      <a:srgbClr val="FAF9F5"/>
                    </a:solidFill>
                  </a:tcPr>
                </a:tc>
              </a:tr>
              <a:tr h="566928">
                <a:tc>
                  <a:txBody>
                    <a:bodyPr wrap="square"/>
                    <a:lstStyle/>
                    <a:p>
                      <a:r>
                        <a:rPr sz="1200" b="0">
                          <a:solidFill>
                            <a:srgbClr val="1F1E1D"/>
                          </a:solidFill>
                          <a:latin typeface="Helvetica Neue"/>
                        </a:rPr>
                        <a:t>Re-ranking (CLERC legal)</a:t>
                      </a:r>
                    </a:p>
                  </a:txBody>
                  <a:tcPr marL="73152" marR="73152" marT="27432" marB="27432" anchor="ctr">
                    <a:solidFill>
                      <a:srgbClr val="E9E6DC"/>
                    </a:solidFill>
                  </a:tcPr>
                </a:tc>
                <a:tc>
                  <a:txBody>
                    <a:bodyPr wrap="square"/>
                    <a:lstStyle/>
                    <a:p>
                      <a:r>
                        <a:rPr sz="1200" b="0">
                          <a:solidFill>
                            <a:srgbClr val="1F1E1D"/>
                          </a:solidFill>
                          <a:latin typeface="Helvetica Neue"/>
                        </a:rPr>
                        <a:t>BM25 shortlist, then one Noul per query-candidate pair</a:t>
                      </a:r>
                    </a:p>
                  </a:txBody>
                  <a:tcPr marL="73152" marR="73152" marT="27432" marB="27432" anchor="ctr">
                    <a:solidFill>
                      <a:srgbClr val="E9E6DC"/>
                    </a:solidFill>
                  </a:tcPr>
                </a:tc>
                <a:tc>
                  <a:txBody>
                    <a:bodyPr wrap="square"/>
                    <a:lstStyle/>
                    <a:p>
                      <a:r>
                        <a:rPr sz="1200" b="0">
                          <a:solidFill>
                            <a:srgbClr val="1F1E1D"/>
                          </a:solidFill>
                          <a:latin typeface="Helvetica Neue"/>
                        </a:rPr>
                        <a:t>top-1 accuracy 5% to 18%; top-10 38% to 62%</a:t>
                      </a:r>
                    </a:p>
                  </a:txBody>
                  <a:tcPr marL="73152" marR="73152" marT="27432" marB="27432" anchor="ctr">
                    <a:solidFill>
                      <a:srgbClr val="E9E6DC"/>
                    </a:solidFill>
                  </a:tcPr>
                </a:tc>
              </a:tr>
              <a:tr h="566928">
                <a:tc>
                  <a:txBody>
                    <a:bodyPr wrap="square"/>
                    <a:lstStyle/>
                    <a:p>
                      <a:r>
                        <a:rPr sz="1200" b="0">
                          <a:solidFill>
                            <a:srgbClr val="1F1E1D"/>
                          </a:solidFill>
                          <a:latin typeface="Helvetica Neue"/>
                        </a:rPr>
                        <a:t>Skill suggestion</a:t>
                      </a:r>
                    </a:p>
                  </a:txBody>
                  <a:tcPr marL="73152" marR="73152" marT="27432" marB="27432" anchor="ctr">
                    <a:solidFill>
                      <a:srgbClr val="FAF9F5"/>
                    </a:solidFill>
                  </a:tcPr>
                </a:tc>
                <a:tc>
                  <a:txBody>
                    <a:bodyPr wrap="square"/>
                    <a:lstStyle/>
                    <a:p>
                      <a:r>
                        <a:rPr sz="1200" b="0">
                          <a:solidFill>
                            <a:srgbClr val="1F1E1D"/>
                          </a:solidFill>
                          <a:latin typeface="Helvetica Neue"/>
                        </a:rPr>
                        <a:t>pick at most 1 of 182 agent skills, two-stage</a:t>
                      </a:r>
                    </a:p>
                  </a:txBody>
                  <a:tcPr marL="73152" marR="73152" marT="27432" marB="27432" anchor="ctr">
                    <a:solidFill>
                      <a:srgbClr val="FAF9F5"/>
                    </a:solidFill>
                  </a:tcPr>
                </a:tc>
                <a:tc>
                  <a:txBody>
                    <a:bodyPr wrap="square"/>
                    <a:lstStyle/>
                    <a:p>
                      <a:r>
                        <a:rPr sz="1200" b="0">
                          <a:solidFill>
                            <a:srgbClr val="1F1E1D"/>
                          </a:solidFill>
                          <a:latin typeface="Helvetica Neue"/>
                        </a:rPr>
                        <a:t>rank 182 in one request, re-check top 3</a:t>
                      </a:r>
                    </a:p>
                  </a:txBody>
                  <a:tcPr marL="73152" marR="73152" marT="27432" marB="27432" anchor="ctr">
                    <a:solidFill>
                      <a:srgbClr val="FAF9F5"/>
                    </a:solidFill>
                  </a:tcPr>
                </a:tc>
              </a:tr>
              <a:tr h="566928">
                <a:tc>
                  <a:txBody>
                    <a:bodyPr wrap="square"/>
                    <a:lstStyle/>
                    <a:p>
                      <a:r>
                        <a:rPr sz="1200" b="0">
                          <a:solidFill>
                            <a:srgbClr val="1F1E1D"/>
                          </a:solidFill>
                          <a:latin typeface="Helvetica Neue"/>
                        </a:rPr>
                        <a:t>SDE cascade</a:t>
                      </a:r>
                    </a:p>
                  </a:txBody>
                  <a:tcPr marL="73152" marR="73152" marT="27432" marB="27432" anchor="ctr">
                    <a:solidFill>
                      <a:srgbClr val="E9E6DC"/>
                    </a:solidFill>
                  </a:tcPr>
                </a:tc>
                <a:tc>
                  <a:txBody>
                    <a:bodyPr wrap="square"/>
                    <a:lstStyle/>
                    <a:p>
                      <a:r>
                        <a:rPr sz="1200" b="0">
                          <a:solidFill>
                            <a:srgbClr val="1F1E1D"/>
                          </a:solidFill>
                          <a:latin typeface="Helvetica Neue"/>
                        </a:rPr>
                        <a:t>extract with mini model, verify with Jev, escalate the rest</a:t>
                      </a:r>
                    </a:p>
                  </a:txBody>
                  <a:tcPr marL="73152" marR="73152" marT="27432" marB="27432" anchor="ctr">
                    <a:solidFill>
                      <a:srgbClr val="E9E6DC"/>
                    </a:solidFill>
                  </a:tcPr>
                </a:tc>
                <a:tc>
                  <a:txBody>
                    <a:bodyPr wrap="square"/>
                    <a:lstStyle/>
                    <a:p>
                      <a:r>
                        <a:rPr sz="1200" b="0">
                          <a:solidFill>
                            <a:srgbClr val="1F1E1D"/>
                          </a:solidFill>
                          <a:latin typeface="Helvetica Neue"/>
                        </a:rPr>
                        <a:t>most of a reasoning model's quality at a fraction of cost</a:t>
                      </a:r>
                    </a:p>
                  </a:txBody>
                  <a:tcPr marL="73152" marR="73152" marT="27432" marB="27432" anchor="ctr">
                    <a:solidFill>
                      <a:srgbClr val="E9E6DC"/>
                    </a:solidFill>
                  </a:tcPr>
                </a:tc>
              </a:tr>
              <a:tr h="566928">
                <a:tc>
                  <a:txBody>
                    <a:bodyPr wrap="square"/>
                    <a:lstStyle/>
                    <a:p>
                      <a:r>
                        <a:rPr sz="1200" b="0">
                          <a:solidFill>
                            <a:srgbClr val="1F1E1D"/>
                          </a:solidFill>
                          <a:latin typeface="Helvetica Neue"/>
                        </a:rPr>
                        <a:t>Hierarchical classification</a:t>
                      </a:r>
                    </a:p>
                  </a:txBody>
                  <a:tcPr marL="73152" marR="73152" marT="27432" marB="27432" anchor="ctr">
                    <a:solidFill>
                      <a:srgbClr val="FAF9F5"/>
                    </a:solidFill>
                  </a:tcPr>
                </a:tc>
                <a:tc>
                  <a:txBody>
                    <a:bodyPr wrap="square"/>
                    <a:lstStyle/>
                    <a:p>
                      <a:r>
                        <a:rPr sz="1200" b="0">
                          <a:solidFill>
                            <a:srgbClr val="1F1E1D"/>
                          </a:solidFill>
                          <a:latin typeface="Helvetica Neue"/>
                        </a:rPr>
                        <a:t>beam search over Choice probabilities</a:t>
                      </a:r>
                    </a:p>
                  </a:txBody>
                  <a:tcPr marL="73152" marR="73152" marT="27432" marB="27432" anchor="ctr">
                    <a:solidFill>
                      <a:srgbClr val="FAF9F5"/>
                    </a:solidFill>
                  </a:tcPr>
                </a:tc>
                <a:tc>
                  <a:txBody>
                    <a:bodyPr wrap="square"/>
                    <a:lstStyle/>
                    <a:p>
                      <a:r>
                        <a:rPr sz="1200" b="0">
                          <a:solidFill>
                            <a:srgbClr val="1F1E1D"/>
                          </a:solidFill>
                          <a:latin typeface="Helvetica Neue"/>
                        </a:rPr>
                        <a:t>deep patent/retail/biomedical trees, parallel beams</a:t>
                      </a:r>
                    </a:p>
                  </a:txBody>
                  <a:tcPr marL="73152" marR="73152" marT="27432" marB="27432" anchor="ctr">
                    <a:solidFill>
                      <a:srgbClr val="FAF9F5"/>
                    </a:solidFill>
                  </a:tcPr>
                </a:tc>
              </a:tr>
              <a:tr h="566928">
                <a:tc>
                  <a:txBody>
                    <a:bodyPr wrap="square"/>
                    <a:lstStyle/>
                    <a:p>
                      <a:r>
                        <a:rPr sz="1200" b="0">
                          <a:solidFill>
                            <a:srgbClr val="1F1E1D"/>
                          </a:solidFill>
                          <a:latin typeface="Helvetica Neue"/>
                        </a:rPr>
                        <a:t>Guardrails for LLMs</a:t>
                      </a:r>
                    </a:p>
                  </a:txBody>
                  <a:tcPr marL="73152" marR="73152" marT="27432" marB="27432" anchor="ctr">
                    <a:solidFill>
                      <a:srgbClr val="E9E6DC"/>
                    </a:solidFill>
                  </a:tcPr>
                </a:tc>
                <a:tc>
                  <a:txBody>
                    <a:bodyPr wrap="square"/>
                    <a:lstStyle/>
                    <a:p>
                      <a:r>
                        <a:rPr sz="1200" b="0">
                          <a:solidFill>
                            <a:srgbClr val="1F1E1D"/>
                          </a:solidFill>
                          <a:latin typeface="Helvetica Neue"/>
                        </a:rPr>
                        <a:t>screen every message, hazard Nouls + severity</a:t>
                      </a:r>
                    </a:p>
                  </a:txBody>
                  <a:tcPr marL="73152" marR="73152" marT="27432" marB="27432" anchor="ctr">
                    <a:solidFill>
                      <a:srgbClr val="E9E6DC"/>
                    </a:solidFill>
                  </a:tcPr>
                </a:tc>
                <a:tc>
                  <a:txBody>
                    <a:bodyPr wrap="square"/>
                    <a:lstStyle/>
                    <a:p>
                      <a:r>
                        <a:rPr sz="1200" b="0">
                          <a:solidFill>
                            <a:srgbClr val="1F1E1D"/>
                          </a:solidFill>
                          <a:latin typeface="Helvetica Neue"/>
                        </a:rPr>
                        <a:t>pass / review / block from one request per message</a:t>
                      </a:r>
                    </a:p>
                  </a:txBody>
                  <a:tcPr marL="73152" marR="73152" marT="27432" marB="27432" anchor="ctr">
                    <a:solidFill>
                      <a:srgbClr val="E9E6DC"/>
                    </a:solidFill>
                  </a:tcPr>
                </a:tc>
              </a:tr>
              <a:tr h="566928">
                <a:tc>
                  <a:txBody>
                    <a:bodyPr wrap="square"/>
                    <a:lstStyle/>
                    <a:p>
                      <a:r>
                        <a:rPr sz="1200" b="0">
                          <a:solidFill>
                            <a:srgbClr val="1F1E1D"/>
                          </a:solidFill>
                          <a:latin typeface="Helvetica Neue"/>
                        </a:rPr>
                        <a:t>Entity alignment</a:t>
                      </a:r>
                    </a:p>
                  </a:txBody>
                  <a:tcPr marL="73152" marR="73152" marT="27432" marB="27432" anchor="ctr">
                    <a:solidFill>
                      <a:srgbClr val="FAF9F5"/>
                    </a:solidFill>
                  </a:tcPr>
                </a:tc>
                <a:tc>
                  <a:txBody>
                    <a:bodyPr wrap="square"/>
                    <a:lstStyle/>
                    <a:p>
                      <a:r>
                        <a:rPr sz="1200" b="0">
                          <a:solidFill>
                            <a:srgbClr val="1F1E1D"/>
                          </a:solidFill>
                          <a:latin typeface="Helvetica Neue"/>
                        </a:rPr>
                        <a:t>450 candidate pairs, one Score + 3 companion Nouls</a:t>
                      </a:r>
                    </a:p>
                  </a:txBody>
                  <a:tcPr marL="73152" marR="73152" marT="27432" marB="27432" anchor="ctr">
                    <a:solidFill>
                      <a:srgbClr val="FAF9F5"/>
                    </a:solidFill>
                  </a:tcPr>
                </a:tc>
                <a:tc>
                  <a:txBody>
                    <a:bodyPr wrap="square"/>
                    <a:lstStyle/>
                    <a:p>
                      <a:r>
                        <a:rPr sz="1200" b="0">
                          <a:solidFill>
                            <a:srgbClr val="1F1E1D"/>
                          </a:solidFill>
                          <a:latin typeface="Helvetica Neue"/>
                        </a:rPr>
                        <a:t>duplicate detection across two product catalogs</a:t>
                      </a:r>
                    </a:p>
                  </a:txBody>
                  <a:tcPr marL="73152" marR="73152" marT="27432" marB="27432" anchor="ctr">
                    <a:solidFill>
                      <a:srgbClr val="FAF9F5"/>
                    </a:solidFill>
                  </a:tcPr>
                </a:tc>
              </a:tr>
            </a:tbl>
          </a:graphicData>
        </a:graphic>
      </p:graphicFrame>
      <p:sp>
        <p:nvSpPr>
          <p:cNvPr id="8" name="TextBox 7"/>
          <p:cNvSpPr txBox="1"/>
          <p:nvPr/>
        </p:nvSpPr>
        <p:spPr>
          <a:xfrm>
            <a:off x="502920" y="5943600"/>
            <a:ext cx="10972800" cy="320040"/>
          </a:xfrm>
          <a:prstGeom prst="rect">
            <a:avLst/>
          </a:prstGeom>
          <a:noFill/>
        </p:spPr>
        <p:txBody>
          <a:bodyPr wrap="square" anchor="t" lIns="0" rIns="0" tIns="0" bIns="0">
            <a:spAutoFit/>
          </a:bodyPr>
          <a:lstStyle/>
          <a:p>
            <a:pPr algn="l">
              <a:lnSpc>
                <a:spcPct val="100000"/>
              </a:lnSpc>
            </a:pPr>
            <a:r>
              <a:rPr sz="1200" b="0" i="1">
                <a:solidFill>
                  <a:srgbClr val="8A8780"/>
                </a:solidFill>
                <a:latin typeface="Helvetica Neue"/>
              </a:rPr>
              <a:t>All 20+ at docs.typesafe.ai/cookbooks, each with runnable code. Notebook 05 builds two of them in miniature.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38</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5  |  THE HONEST SLIDE</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Nine documented failure modes (Jev 1.13 jaggedness)</a:t>
            </a:r>
          </a:p>
        </p:txBody>
      </p:sp>
      <p:graphicFrame>
        <p:nvGraphicFramePr>
          <p:cNvPr id="7" name="Table 6"/>
          <p:cNvGraphicFramePr>
            <a:graphicFrameLocks noGrp="1"/>
          </p:cNvGraphicFramePr>
          <p:nvPr/>
        </p:nvGraphicFramePr>
        <p:xfrm>
          <a:off x="502920" y="1554480"/>
          <a:ext cx="11155680" cy="4480560"/>
        </p:xfrm>
        <a:graphic>
          <a:graphicData uri="http://schemas.openxmlformats.org/drawingml/2006/table">
            <a:tbl>
              <a:tblPr>
                <a:tableStyleId>{5C22544A-7EE6-4342-B048-85BDC9FD1C3A}</a:tableStyleId>
              </a:tblPr>
              <a:tblGrid>
                <a:gridCol w="5577840"/>
                <a:gridCol w="5577840"/>
              </a:tblGrid>
              <a:tr h="448056">
                <a:tc>
                  <a:txBody>
                    <a:bodyPr wrap="square"/>
                    <a:lstStyle/>
                    <a:p>
                      <a:r>
                        <a:rPr sz="1150" b="1">
                          <a:solidFill>
                            <a:srgbClr val="F0EEE6"/>
                          </a:solidFill>
                          <a:latin typeface="Helvetica Neue"/>
                        </a:rPr>
                        <a:t>Failure mode</a:t>
                      </a:r>
                    </a:p>
                  </a:txBody>
                  <a:tcPr marL="73152" marR="73152" marT="27432" marB="27432" anchor="ctr">
                    <a:solidFill>
                      <a:srgbClr val="1F1E1D"/>
                    </a:solidFill>
                  </a:tcPr>
                </a:tc>
                <a:tc>
                  <a:txBody>
                    <a:bodyPr wrap="square"/>
                    <a:lstStyle/>
                    <a:p>
                      <a:r>
                        <a:rPr sz="1150" b="1">
                          <a:solidFill>
                            <a:srgbClr val="F0EEE6"/>
                          </a:solidFill>
                          <a:latin typeface="Helvetica Neue"/>
                        </a:rPr>
                        <a:t>Do this instead</a:t>
                      </a:r>
                    </a:p>
                  </a:txBody>
                  <a:tcPr marL="73152" marR="73152" marT="27432" marB="27432" anchor="ctr">
                    <a:solidFill>
                      <a:srgbClr val="1F1E1D"/>
                    </a:solidFill>
                  </a:tcPr>
                </a:tc>
              </a:tr>
              <a:tr h="448056">
                <a:tc>
                  <a:txBody>
                    <a:bodyPr wrap="square"/>
                    <a:lstStyle/>
                    <a:p>
                      <a:r>
                        <a:rPr sz="1150" b="0">
                          <a:solidFill>
                            <a:srgbClr val="1F1E1D"/>
                          </a:solidFill>
                          <a:latin typeface="Helvetica Neue"/>
                        </a:rPr>
                        <a:t>Literal reading: answers what you wrote, not what you meant</a:t>
                      </a:r>
                    </a:p>
                  </a:txBody>
                  <a:tcPr marL="73152" marR="73152" marT="27432" marB="27432" anchor="ctr">
                    <a:solidFill>
                      <a:srgbClr val="FAF9F5"/>
                    </a:solidFill>
                  </a:tcPr>
                </a:tc>
                <a:tc>
                  <a:txBody>
                    <a:bodyPr wrap="square"/>
                    <a:lstStyle/>
                    <a:p>
                      <a:r>
                        <a:rPr sz="1150" b="0">
                          <a:solidFill>
                            <a:srgbClr val="1F1E1D"/>
                          </a:solidFill>
                          <a:latin typeface="Helvetica Neue"/>
                        </a:rPr>
                        <a:t>write the exact condition; boundary cases into criteria</a:t>
                      </a:r>
                    </a:p>
                  </a:txBody>
                  <a:tcPr marL="73152" marR="73152" marT="27432" marB="27432" anchor="ctr">
                    <a:solidFill>
                      <a:srgbClr val="FAF9F5"/>
                    </a:solidFill>
                  </a:tcPr>
                </a:tc>
              </a:tr>
              <a:tr h="448056">
                <a:tc>
                  <a:txBody>
                    <a:bodyPr wrap="square"/>
                    <a:lstStyle/>
                    <a:p>
                      <a:r>
                        <a:rPr sz="1150" b="0">
                          <a:solidFill>
                            <a:srgbClr val="1F1E1D"/>
                          </a:solidFill>
                          <a:latin typeface="Helvetica Neue"/>
                        </a:rPr>
                        <a:t>Math, numbers, counting</a:t>
                      </a:r>
                    </a:p>
                  </a:txBody>
                  <a:tcPr marL="73152" marR="73152" marT="27432" marB="27432" anchor="ctr">
                    <a:solidFill>
                      <a:srgbClr val="E9E6DC"/>
                    </a:solidFill>
                  </a:tcPr>
                </a:tc>
                <a:tc>
                  <a:txBody>
                    <a:bodyPr wrap="square"/>
                    <a:lstStyle/>
                    <a:p>
                      <a:r>
                        <a:rPr sz="1150" b="0">
                          <a:solidFill>
                            <a:srgbClr val="1F1E1D"/>
                          </a:solidFill>
                          <a:latin typeface="Helvetica Neue"/>
                        </a:rPr>
                        <a:t>keep arithmetic in code; one Noul per item, sum yourself</a:t>
                      </a:r>
                    </a:p>
                  </a:txBody>
                  <a:tcPr marL="73152" marR="73152" marT="27432" marB="27432" anchor="ctr">
                    <a:solidFill>
                      <a:srgbClr val="E9E6DC"/>
                    </a:solidFill>
                  </a:tcPr>
                </a:tc>
              </a:tr>
              <a:tr h="448056">
                <a:tc>
                  <a:txBody>
                    <a:bodyPr wrap="square"/>
                    <a:lstStyle/>
                    <a:p>
                      <a:r>
                        <a:rPr sz="1150" b="0">
                          <a:solidFill>
                            <a:srgbClr val="1F1E1D"/>
                          </a:solidFill>
                          <a:latin typeface="Helvetica Neue"/>
                        </a:rPr>
                        <a:t>Date and time comparison</a:t>
                      </a:r>
                    </a:p>
                  </a:txBody>
                  <a:tcPr marL="73152" marR="73152" marT="27432" marB="27432" anchor="ctr">
                    <a:solidFill>
                      <a:srgbClr val="FAF9F5"/>
                    </a:solidFill>
                  </a:tcPr>
                </a:tc>
                <a:tc>
                  <a:txBody>
                    <a:bodyPr wrap="square"/>
                    <a:lstStyle/>
                    <a:p>
                      <a:r>
                        <a:rPr sz="1150" b="0">
                          <a:solidFill>
                            <a:srgbClr val="1F1E1D"/>
                          </a:solidFill>
                          <a:latin typeface="Helvetica Neue"/>
                        </a:rPr>
                        <a:t>extract parts as Choices; compare in code (notebook 05, live)</a:t>
                      </a:r>
                    </a:p>
                  </a:txBody>
                  <a:tcPr marL="73152" marR="73152" marT="27432" marB="27432" anchor="ctr">
                    <a:solidFill>
                      <a:srgbClr val="FAF9F5"/>
                    </a:solidFill>
                  </a:tcPr>
                </a:tc>
              </a:tr>
              <a:tr h="448056">
                <a:tc>
                  <a:txBody>
                    <a:bodyPr wrap="square"/>
                    <a:lstStyle/>
                    <a:p>
                      <a:r>
                        <a:rPr sz="1150" b="0">
                          <a:solidFill>
                            <a:srgbClr val="1F1E1D"/>
                          </a:solidFill>
                          <a:latin typeface="Helvetica Neue"/>
                        </a:rPr>
                        <a:t>Indirection, double negatives</a:t>
                      </a:r>
                    </a:p>
                  </a:txBody>
                  <a:tcPr marL="73152" marR="73152" marT="27432" marB="27432" anchor="ctr">
                    <a:solidFill>
                      <a:srgbClr val="E9E6DC"/>
                    </a:solidFill>
                  </a:tcPr>
                </a:tc>
                <a:tc>
                  <a:txBody>
                    <a:bodyPr wrap="square"/>
                    <a:lstStyle/>
                    <a:p>
                      <a:r>
                        <a:rPr sz="1150" b="0">
                          <a:solidFill>
                            <a:srgbClr val="1F1E1D"/>
                          </a:solidFill>
                          <a:latin typeface="Helvetica Neue"/>
                        </a:rPr>
                        <a:t>reduce hops; point at state by backticked path</a:t>
                      </a:r>
                    </a:p>
                  </a:txBody>
                  <a:tcPr marL="73152" marR="73152" marT="27432" marB="27432" anchor="ctr">
                    <a:solidFill>
                      <a:srgbClr val="E9E6DC"/>
                    </a:solidFill>
                  </a:tcPr>
                </a:tc>
              </a:tr>
              <a:tr h="448056">
                <a:tc>
                  <a:txBody>
                    <a:bodyPr wrap="square"/>
                    <a:lstStyle/>
                    <a:p>
                      <a:r>
                        <a:rPr sz="1150" b="0">
                          <a:solidFill>
                            <a:srgbClr val="1F1E1D"/>
                          </a:solidFill>
                          <a:latin typeface="Helvetica Neue"/>
                        </a:rPr>
                        <a:t>Large state full of irrelevant detail (context rot)</a:t>
                      </a:r>
                    </a:p>
                  </a:txBody>
                  <a:tcPr marL="73152" marR="73152" marT="27432" marB="27432" anchor="ctr">
                    <a:solidFill>
                      <a:srgbClr val="FAF9F5"/>
                    </a:solidFill>
                  </a:tcPr>
                </a:tc>
                <a:tc>
                  <a:txBody>
                    <a:bodyPr wrap="square"/>
                    <a:lstStyle/>
                    <a:p>
                      <a:r>
                        <a:rPr sz="1150" b="0">
                          <a:solidFill>
                            <a:srgbClr val="1F1E1D"/>
                          </a:solidFill>
                          <a:latin typeface="Helvetica Neue"/>
                        </a:rPr>
                        <a:t>filter in code first; send only what the question needs</a:t>
                      </a:r>
                    </a:p>
                  </a:txBody>
                  <a:tcPr marL="73152" marR="73152" marT="27432" marB="27432" anchor="ctr">
                    <a:solidFill>
                      <a:srgbClr val="FAF9F5"/>
                    </a:solidFill>
                  </a:tcPr>
                </a:tc>
              </a:tr>
              <a:tr h="448056">
                <a:tc>
                  <a:txBody>
                    <a:bodyPr wrap="square"/>
                    <a:lstStyle/>
                    <a:p>
                      <a:r>
                        <a:rPr sz="1150" b="0">
                          <a:solidFill>
                            <a:srgbClr val="1F1E1D"/>
                          </a:solidFill>
                          <a:latin typeface="Helvetica Neue"/>
                        </a:rPr>
                        <a:t>Adversarial content can steer answers</a:t>
                      </a:r>
                    </a:p>
                  </a:txBody>
                  <a:tcPr marL="73152" marR="73152" marT="27432" marB="27432" anchor="ctr">
                    <a:solidFill>
                      <a:srgbClr val="E9E6DC"/>
                    </a:solidFill>
                  </a:tcPr>
                </a:tc>
                <a:tc>
                  <a:txBody>
                    <a:bodyPr wrap="square"/>
                    <a:lstStyle/>
                    <a:p>
                      <a:r>
                        <a:rPr sz="1150" b="0">
                          <a:solidFill>
                            <a:srgbClr val="1F1E1D"/>
                          </a:solidFill>
                          <a:latin typeface="Helvetica Neue"/>
                        </a:rPr>
                        <a:t>precise criteria; test on real attacks; never Jev alone as the gate</a:t>
                      </a:r>
                    </a:p>
                  </a:txBody>
                  <a:tcPr marL="73152" marR="73152" marT="27432" marB="27432" anchor="ctr">
                    <a:solidFill>
                      <a:srgbClr val="E9E6DC"/>
                    </a:solidFill>
                  </a:tcPr>
                </a:tc>
              </a:tr>
              <a:tr h="448056">
                <a:tc>
                  <a:txBody>
                    <a:bodyPr wrap="square"/>
                    <a:lstStyle/>
                    <a:p>
                      <a:r>
                        <a:rPr sz="1150" b="0">
                          <a:solidFill>
                            <a:srgbClr val="1F1E1D"/>
                          </a:solidFill>
                          <a:latin typeface="Helvetica Neue"/>
                        </a:rPr>
                        <a:t>Contradictory instructions vs criteria</a:t>
                      </a:r>
                    </a:p>
                  </a:txBody>
                  <a:tcPr marL="73152" marR="73152" marT="27432" marB="27432" anchor="ctr">
                    <a:solidFill>
                      <a:srgbClr val="FAF9F5"/>
                    </a:solidFill>
                  </a:tcPr>
                </a:tc>
                <a:tc>
                  <a:txBody>
                    <a:bodyPr wrap="square"/>
                    <a:lstStyle/>
                    <a:p>
                      <a:r>
                        <a:rPr sz="1150" b="0">
                          <a:solidFill>
                            <a:srgbClr val="1F1E1D"/>
                          </a:solidFill>
                          <a:latin typeface="Helvetica Neue"/>
                        </a:rPr>
                        <a:t>align them; never map true to no</a:t>
                      </a:r>
                    </a:p>
                  </a:txBody>
                  <a:tcPr marL="73152" marR="73152" marT="27432" marB="27432" anchor="ctr">
                    <a:solidFill>
                      <a:srgbClr val="FAF9F5"/>
                    </a:solidFill>
                  </a:tcPr>
                </a:tc>
              </a:tr>
              <a:tr h="448056">
                <a:tc>
                  <a:txBody>
                    <a:bodyPr wrap="square"/>
                    <a:lstStyle/>
                    <a:p>
                      <a:r>
                        <a:rPr sz="1150" b="0">
                          <a:solidFill>
                            <a:srgbClr val="1F1E1D"/>
                          </a:solidFill>
                          <a:latin typeface="Helvetica Neue"/>
                        </a:rPr>
                        <a:t>Choice option order can bias the answer</a:t>
                      </a:r>
                    </a:p>
                  </a:txBody>
                  <a:tcPr marL="73152" marR="73152" marT="27432" marB="27432" anchor="ctr">
                    <a:solidFill>
                      <a:srgbClr val="E9E6DC"/>
                    </a:solidFill>
                  </a:tcPr>
                </a:tc>
                <a:tc>
                  <a:txBody>
                    <a:bodyPr wrap="square"/>
                    <a:lstStyle/>
                    <a:p>
                      <a:r>
                        <a:rPr sz="1150" b="0">
                          <a:solidFill>
                            <a:srgbClr val="1F1E1D"/>
                          </a:solidFill>
                          <a:latin typeface="Helvetica Neue"/>
                        </a:rPr>
                        <a:t>reorder options; check consistency</a:t>
                      </a:r>
                    </a:p>
                  </a:txBody>
                  <a:tcPr marL="73152" marR="73152" marT="27432" marB="27432" anchor="ctr">
                    <a:solidFill>
                      <a:srgbClr val="E9E6DC"/>
                    </a:solidFill>
                  </a:tcPr>
                </a:tc>
              </a:tr>
              <a:tr h="448056">
                <a:tc>
                  <a:txBody>
                    <a:bodyPr wrap="square"/>
                    <a:lstStyle/>
                    <a:p>
                      <a:r>
                        <a:rPr sz="1150" b="0">
                          <a:solidFill>
                            <a:srgbClr val="1F1E1D"/>
                          </a:solidFill>
                          <a:latin typeface="Helvetica Neue"/>
                        </a:rPr>
                        <a:t>Generation: it cannot produce text</a:t>
                      </a:r>
                    </a:p>
                  </a:txBody>
                  <a:tcPr marL="73152" marR="73152" marT="27432" marB="27432" anchor="ctr">
                    <a:solidFill>
                      <a:srgbClr val="FAF9F5"/>
                    </a:solidFill>
                  </a:tcPr>
                </a:tc>
                <a:tc>
                  <a:txBody>
                    <a:bodyPr wrap="square"/>
                    <a:lstStyle/>
                    <a:p>
                      <a:r>
                        <a:rPr sz="1150" b="0">
                          <a:solidFill>
                            <a:srgbClr val="1F1E1D"/>
                          </a:solidFill>
                          <a:latin typeface="Helvetica Neue"/>
                        </a:rPr>
                        <a:t>a generative model, or a Choice over pre-parsed candidates</a:t>
                      </a:r>
                    </a:p>
                  </a:txBody>
                  <a:tcPr marL="73152" marR="73152" marT="27432" marB="27432" anchor="ctr">
                    <a:solidFill>
                      <a:srgbClr val="FAF9F5"/>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39</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5  |  SCOPE</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What Jev is not</a:t>
            </a:r>
          </a:p>
        </p:txBody>
      </p:sp>
      <p:sp>
        <p:nvSpPr>
          <p:cNvPr id="7" name="TextBox 6"/>
          <p:cNvSpPr txBox="1"/>
          <p:nvPr/>
        </p:nvSpPr>
        <p:spPr>
          <a:xfrm>
            <a:off x="502920" y="1691640"/>
            <a:ext cx="6949440" cy="5486400"/>
          </a:xfrm>
          <a:prstGeom prst="rect">
            <a:avLst/>
          </a:prstGeom>
          <a:noFill/>
        </p:spPr>
        <p:txBody>
          <a:bodyPr wrap="square" anchor="t" lIns="0" rIns="0" tIns="0" bIns="0">
            <a:spAutoFit/>
          </a:bodyPr>
          <a:lstStyle/>
          <a:p>
            <a:pPr algn="l">
              <a:lnSpc>
                <a:spcPct val="108000"/>
              </a:lnSpc>
              <a:spcAft>
                <a:spcPts val="1400"/>
              </a:spcAft>
            </a:pPr>
            <a:r>
              <a:rPr sz="1600" b="1" i="0">
                <a:solidFill>
                  <a:srgbClr val="D97757"/>
                </a:solidFill>
                <a:latin typeface="Helvetica Neue"/>
              </a:rPr>
              <a:t>–  </a:t>
            </a:r>
            <a:r>
              <a:rPr sz="1600" b="1" i="0">
                <a:solidFill>
                  <a:srgbClr val="1F1E1D"/>
                </a:solidFill>
                <a:latin typeface="Helvetica Neue"/>
              </a:rPr>
              <a:t>Not a chat model. </a:t>
            </a:r>
            <a:r>
              <a:rPr sz="1600" b="0" i="0">
                <a:solidFill>
                  <a:srgbClr val="1F1E1D"/>
                </a:solidFill>
                <a:latin typeface="Helvetica Neue"/>
              </a:rPr>
              <a:t>It cannot write replies, summaries, or explanations. Pair it with an LLM when you need words.</a:t>
            </a:r>
          </a:p>
          <a:p>
            <a:pPr algn="l">
              <a:lnSpc>
                <a:spcPct val="108000"/>
              </a:lnSpc>
              <a:spcAft>
                <a:spcPts val="1400"/>
              </a:spcAft>
            </a:pPr>
            <a:r>
              <a:rPr sz="1600" b="1" i="0">
                <a:solidFill>
                  <a:srgbClr val="D97757"/>
                </a:solidFill>
                <a:latin typeface="Helvetica Neue"/>
              </a:rPr>
              <a:t>–  </a:t>
            </a:r>
            <a:r>
              <a:rPr sz="1600" b="1" i="0">
                <a:solidFill>
                  <a:srgbClr val="1F1E1D"/>
                </a:solidFill>
                <a:latin typeface="Helvetica Neue"/>
              </a:rPr>
              <a:t>Not a coding-agent brain. </a:t>
            </a:r>
            <a:r>
              <a:rPr sz="1600" b="0" i="0">
                <a:solidFill>
                  <a:srgbClr val="1F1E1D"/>
                </a:solidFill>
                <a:latin typeface="Helvetica Neue"/>
              </a:rPr>
              <a:t>There is no model=“jev-latest” setting that powers Claude Code or Cursor. Jev goes inside the software your agent writes.</a:t>
            </a:r>
          </a:p>
          <a:p>
            <a:pPr algn="l">
              <a:lnSpc>
                <a:spcPct val="108000"/>
              </a:lnSpc>
              <a:spcAft>
                <a:spcPts val="1400"/>
              </a:spcAft>
            </a:pPr>
            <a:r>
              <a:rPr sz="1600" b="1" i="0">
                <a:solidFill>
                  <a:srgbClr val="D97757"/>
                </a:solidFill>
                <a:latin typeface="Helvetica Neue"/>
              </a:rPr>
              <a:t>–  </a:t>
            </a:r>
            <a:r>
              <a:rPr sz="1600" b="1" i="0">
                <a:solidFill>
                  <a:srgbClr val="1F1E1D"/>
                </a:solidFill>
                <a:latin typeface="Helvetica Neue"/>
              </a:rPr>
              <a:t>Not a calculator or a clock. </a:t>
            </a:r>
            <a:r>
              <a:rPr sz="1600" b="0" i="0">
                <a:solidFill>
                  <a:srgbClr val="1F1E1D"/>
                </a:solidFill>
                <a:latin typeface="Helvetica Neue"/>
              </a:rPr>
              <a:t>Arithmetic, counting, date math: code's job, always.</a:t>
            </a:r>
          </a:p>
          <a:p>
            <a:pPr algn="l">
              <a:lnSpc>
                <a:spcPct val="108000"/>
              </a:lnSpc>
              <a:spcAft>
                <a:spcPts val="1400"/>
              </a:spcAft>
            </a:pPr>
            <a:r>
              <a:rPr sz="1600" b="1" i="0">
                <a:solidFill>
                  <a:srgbClr val="D97757"/>
                </a:solidFill>
                <a:latin typeface="Helvetica Neue"/>
              </a:rPr>
              <a:t>–  </a:t>
            </a:r>
            <a:r>
              <a:rPr sz="1600" b="1" i="0">
                <a:solidFill>
                  <a:srgbClr val="1F1E1D"/>
                </a:solidFill>
                <a:latin typeface="Helvetica Neue"/>
              </a:rPr>
              <a:t>Not a reasoning engine. </a:t>
            </a:r>
            <a:r>
              <a:rPr sz="1600" b="0" i="0">
                <a:solidFill>
                  <a:srgbClr val="1F1E1D"/>
                </a:solidFill>
                <a:latin typeface="Helvetica Neue"/>
              </a:rPr>
              <a:t>Multi-hop System 2 tasks get decomposed into atomic questions composed in code, or handed to a reasoning model.</a:t>
            </a:r>
          </a:p>
          <a:p>
            <a:pPr algn="l">
              <a:lnSpc>
                <a:spcPct val="108000"/>
              </a:lnSpc>
              <a:spcAft>
                <a:spcPts val="1400"/>
              </a:spcAft>
            </a:pPr>
            <a:r>
              <a:rPr sz="1600" b="1" i="0">
                <a:solidFill>
                  <a:srgbClr val="D97757"/>
                </a:solidFill>
                <a:latin typeface="Helvetica Neue"/>
              </a:rPr>
              <a:t>–  </a:t>
            </a:r>
            <a:r>
              <a:rPr sz="1600" b="1" i="0">
                <a:solidFill>
                  <a:srgbClr val="1F1E1D"/>
                </a:solidFill>
                <a:latin typeface="Helvetica Neue"/>
              </a:rPr>
              <a:t>Not fine-tunable. </a:t>
            </a:r>
            <a:r>
              <a:rPr sz="1600" b="0" i="0">
                <a:solidFill>
                  <a:srgbClr val="1F1E1D"/>
                </a:solidFill>
                <a:latin typeface="Helvetica Neue"/>
              </a:rPr>
              <a:t>Same weights for everyone; your domain lives in state, instructions, criteria.</a:t>
            </a:r>
          </a:p>
        </p:txBody>
      </p:sp>
      <p:sp>
        <p:nvSpPr>
          <p:cNvPr id="8" name="Rounded Rectangle 7"/>
          <p:cNvSpPr/>
          <p:nvPr/>
        </p:nvSpPr>
        <p:spPr>
          <a:xfrm>
            <a:off x="7818120" y="1783080"/>
            <a:ext cx="3886200" cy="3840480"/>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2011680"/>
            <a:ext cx="3429000" cy="365760"/>
          </a:xfrm>
          <a:prstGeom prst="rect">
            <a:avLst/>
          </a:prstGeom>
          <a:noFill/>
        </p:spPr>
        <p:txBody>
          <a:bodyPr wrap="square" anchor="t" lIns="0" rIns="0" tIns="0" bIns="0">
            <a:spAutoFit/>
          </a:bodyPr>
          <a:lstStyle/>
          <a:p>
            <a:pPr algn="l">
              <a:lnSpc>
                <a:spcPct val="100000"/>
              </a:lnSpc>
            </a:pPr>
            <a:r>
              <a:rPr sz="1500" b="1" i="0">
                <a:solidFill>
                  <a:srgbClr val="1F1E1D"/>
                </a:solidFill>
                <a:latin typeface="Georgia"/>
              </a:rPr>
              <a:t>The mental model</a:t>
            </a:r>
          </a:p>
        </p:txBody>
      </p:sp>
      <p:sp>
        <p:nvSpPr>
          <p:cNvPr id="10" name="TextBox 9"/>
          <p:cNvSpPr txBox="1"/>
          <p:nvPr/>
        </p:nvSpPr>
        <p:spPr>
          <a:xfrm>
            <a:off x="8046720" y="2514600"/>
            <a:ext cx="3429000" cy="2743200"/>
          </a:xfrm>
          <a:prstGeom prst="rect">
            <a:avLst/>
          </a:prstGeom>
          <a:noFill/>
        </p:spPr>
        <p:txBody>
          <a:bodyPr wrap="square" anchor="t" lIns="0" rIns="0" tIns="0" bIns="0">
            <a:spAutoFit/>
          </a:bodyPr>
          <a:lstStyle/>
          <a:p>
            <a:pPr algn="l">
              <a:lnSpc>
                <a:spcPct val="120000"/>
              </a:lnSpc>
            </a:pPr>
            <a:r>
              <a:rPr sz="1550" b="0" i="1">
                <a:solidFill>
                  <a:srgbClr val="1F1E1D"/>
                </a:solidFill>
                <a:latin typeface="Georgia"/>
              </a:rPr>
              <a:t>Code owns the workflow.</a:t>
            </a:r>
          </a:p>
          <a:p>
            <a:pPr algn="l">
              <a:lnSpc>
                <a:spcPct val="120000"/>
              </a:lnSpc>
            </a:pPr>
            <a:r>
              <a:rPr sz="1550" b="0" i="1">
                <a:solidFill>
                  <a:srgbClr val="1F1E1D"/>
                </a:solidFill>
                <a:latin typeface="Georgia"/>
              </a:rPr>
              <a:t/>
            </a:r>
          </a:p>
          <a:p>
            <a:pPr algn="l">
              <a:lnSpc>
                <a:spcPct val="120000"/>
              </a:lnSpc>
            </a:pPr>
            <a:r>
              <a:rPr sz="1550" b="0" i="1">
                <a:solidFill>
                  <a:srgbClr val="1F1E1D"/>
                </a:solidFill>
                <a:latin typeface="Georgia"/>
              </a:rPr>
              <a:t>Jev answers the judgment calls.</a:t>
            </a:r>
          </a:p>
          <a:p>
            <a:pPr algn="l">
              <a:lnSpc>
                <a:spcPct val="120000"/>
              </a:lnSpc>
            </a:pPr>
            <a:r>
              <a:rPr sz="1550" b="0" i="1">
                <a:solidFill>
                  <a:srgbClr val="1F1E1D"/>
                </a:solidFill>
                <a:latin typeface="Georgia"/>
              </a:rPr>
              <a:t/>
            </a:r>
          </a:p>
          <a:p>
            <a:pPr algn="l">
              <a:lnSpc>
                <a:spcPct val="120000"/>
              </a:lnSpc>
            </a:pPr>
            <a:r>
              <a:rPr sz="1550" b="0" i="1">
                <a:solidFill>
                  <a:srgbClr val="1F1E1D"/>
                </a:solidFill>
                <a:latin typeface="Georgia"/>
              </a:rPr>
              <a:t>LLMs write the words,</a:t>
            </a:r>
          </a:p>
          <a:p>
            <a:pPr algn="l">
              <a:lnSpc>
                <a:spcPct val="120000"/>
              </a:lnSpc>
            </a:pPr>
            <a:r>
              <a:rPr sz="1550" b="0" i="1">
                <a:solidFill>
                  <a:srgbClr val="1F1E1D"/>
                </a:solidFill>
                <a:latin typeface="Georgia"/>
              </a:rPr>
              <a:t>when words are needed.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40</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5  |  REFERENCE CARD</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Properties your team will ask about</a:t>
            </a:r>
          </a:p>
        </p:txBody>
      </p:sp>
      <p:graphicFrame>
        <p:nvGraphicFramePr>
          <p:cNvPr id="7" name="Table 6"/>
          <p:cNvGraphicFramePr>
            <a:graphicFrameLocks noGrp="1"/>
          </p:cNvGraphicFramePr>
          <p:nvPr/>
        </p:nvGraphicFramePr>
        <p:xfrm>
          <a:off x="502920" y="1554480"/>
          <a:ext cx="6949440" cy="3072384"/>
        </p:xfrm>
        <a:graphic>
          <a:graphicData uri="http://schemas.openxmlformats.org/drawingml/2006/table">
            <a:tbl>
              <a:tblPr>
                <a:tableStyleId>{5C22544A-7EE6-4342-B048-85BDC9FD1C3A}</a:tableStyleId>
              </a:tblPr>
              <a:tblGrid>
                <a:gridCol w="1554480"/>
                <a:gridCol w="2743200"/>
                <a:gridCol w="2651760"/>
              </a:tblGrid>
              <a:tr h="512064">
                <a:tc>
                  <a:txBody>
                    <a:bodyPr wrap="square"/>
                    <a:lstStyle/>
                    <a:p>
                      <a:r>
                        <a:rPr sz="1250" b="1">
                          <a:solidFill>
                            <a:srgbClr val="F0EEE6"/>
                          </a:solidFill>
                          <a:latin typeface="Helvetica Neue"/>
                        </a:rPr>
                        <a:t/>
                      </a:r>
                    </a:p>
                  </a:txBody>
                  <a:tcPr marL="73152" marR="73152" marT="27432" marB="27432" anchor="ctr">
                    <a:solidFill>
                      <a:srgbClr val="1F1E1D"/>
                    </a:solidFill>
                  </a:tcPr>
                </a:tc>
                <a:tc>
                  <a:txBody>
                    <a:bodyPr wrap="square"/>
                    <a:lstStyle/>
                    <a:p>
                      <a:r>
                        <a:rPr sz="1250" b="1">
                          <a:solidFill>
                            <a:srgbClr val="F0EEE6"/>
                          </a:solidFill>
                          <a:latin typeface="Helvetica Neue"/>
                        </a:rPr>
                        <a:t>Jev 1.13 (jev-latest)</a:t>
                      </a:r>
                    </a:p>
                  </a:txBody>
                  <a:tcPr marL="73152" marR="73152" marT="27432" marB="27432" anchor="ctr">
                    <a:solidFill>
                      <a:srgbClr val="1F1E1D"/>
                    </a:solidFill>
                  </a:tcPr>
                </a:tc>
                <a:tc>
                  <a:txBody>
                    <a:bodyPr wrap="square"/>
                    <a:lstStyle/>
                    <a:p>
                      <a:r>
                        <a:rPr sz="1250" b="1">
                          <a:solidFill>
                            <a:srgbClr val="F0EEE6"/>
                          </a:solidFill>
                          <a:latin typeface="Helvetica Neue"/>
                        </a:rPr>
                        <a:t>Jev 1.14 (jev-preview)</a:t>
                      </a:r>
                    </a:p>
                  </a:txBody>
                  <a:tcPr marL="73152" marR="73152" marT="27432" marB="27432" anchor="ctr">
                    <a:solidFill>
                      <a:srgbClr val="1F1E1D"/>
                    </a:solidFill>
                  </a:tcPr>
                </a:tc>
              </a:tr>
              <a:tr h="512064">
                <a:tc>
                  <a:txBody>
                    <a:bodyPr wrap="square"/>
                    <a:lstStyle/>
                    <a:p>
                      <a:r>
                        <a:rPr sz="1250" b="0">
                          <a:solidFill>
                            <a:srgbClr val="1F1E1D"/>
                          </a:solidFill>
                          <a:latin typeface="Helvetica Neue"/>
                        </a:rPr>
                        <a:t>Released</a:t>
                      </a:r>
                    </a:p>
                  </a:txBody>
                  <a:tcPr marL="73152" marR="73152" marT="27432" marB="27432" anchor="ctr">
                    <a:solidFill>
                      <a:srgbClr val="FAF9F5"/>
                    </a:solidFill>
                  </a:tcPr>
                </a:tc>
                <a:tc>
                  <a:txBody>
                    <a:bodyPr wrap="square"/>
                    <a:lstStyle/>
                    <a:p>
                      <a:r>
                        <a:rPr sz="1250" b="0">
                          <a:solidFill>
                            <a:srgbClr val="1F1E1D"/>
                          </a:solidFill>
                          <a:latin typeface="Helvetica Neue"/>
                        </a:rPr>
                        <a:t>Sep 15, 2026</a:t>
                      </a:r>
                    </a:p>
                  </a:txBody>
                  <a:tcPr marL="73152" marR="73152" marT="27432" marB="27432" anchor="ctr">
                    <a:solidFill>
                      <a:srgbClr val="FAF9F5"/>
                    </a:solidFill>
                  </a:tcPr>
                </a:tc>
                <a:tc>
                  <a:txBody>
                    <a:bodyPr wrap="square"/>
                    <a:lstStyle/>
                    <a:p>
                      <a:r>
                        <a:rPr sz="1250" b="0">
                          <a:solidFill>
                            <a:srgbClr val="1F1E1D"/>
                          </a:solidFill>
                          <a:latin typeface="Helvetica Neue"/>
                        </a:rPr>
                        <a:t>Oct 14, 2026</a:t>
                      </a:r>
                    </a:p>
                  </a:txBody>
                  <a:tcPr marL="73152" marR="73152" marT="27432" marB="27432" anchor="ctr">
                    <a:solidFill>
                      <a:srgbClr val="FAF9F5"/>
                    </a:solidFill>
                  </a:tcPr>
                </a:tc>
              </a:tr>
              <a:tr h="512064">
                <a:tc>
                  <a:txBody>
                    <a:bodyPr wrap="square"/>
                    <a:lstStyle/>
                    <a:p>
                      <a:r>
                        <a:rPr sz="1250" b="0">
                          <a:solidFill>
                            <a:srgbClr val="1F1E1D"/>
                          </a:solidFill>
                          <a:latin typeface="Helvetica Neue"/>
                        </a:rPr>
                        <a:t>Price</a:t>
                      </a:r>
                    </a:p>
                  </a:txBody>
                  <a:tcPr marL="73152" marR="73152" marT="27432" marB="27432" anchor="ctr">
                    <a:solidFill>
                      <a:srgbClr val="E9E6DC"/>
                    </a:solidFill>
                  </a:tcPr>
                </a:tc>
                <a:tc>
                  <a:txBody>
                    <a:bodyPr wrap="square"/>
                    <a:lstStyle/>
                    <a:p>
                      <a:r>
                        <a:rPr sz="1250" b="0">
                          <a:solidFill>
                            <a:srgbClr val="1F1E1D"/>
                          </a:solidFill>
                          <a:latin typeface="Helvetica Neue"/>
                        </a:rPr>
                        <a:t>$0.042 / Mtok input, output free</a:t>
                      </a:r>
                    </a:p>
                  </a:txBody>
                  <a:tcPr marL="73152" marR="73152" marT="27432" marB="27432" anchor="ctr">
                    <a:solidFill>
                      <a:srgbClr val="E9E6DC"/>
                    </a:solidFill>
                  </a:tcPr>
                </a:tc>
                <a:tc>
                  <a:txBody>
                    <a:bodyPr wrap="square"/>
                    <a:lstStyle/>
                    <a:p>
                      <a:r>
                        <a:rPr sz="1250" b="0">
                          <a:solidFill>
                            <a:srgbClr val="1F1E1D"/>
                          </a:solidFill>
                          <a:latin typeface="Helvetica Neue"/>
                        </a:rPr>
                        <a:t>same</a:t>
                      </a:r>
                    </a:p>
                  </a:txBody>
                  <a:tcPr marL="73152" marR="73152" marT="27432" marB="27432" anchor="ctr">
                    <a:solidFill>
                      <a:srgbClr val="E9E6DC"/>
                    </a:solidFill>
                  </a:tcPr>
                </a:tc>
              </a:tr>
              <a:tr h="512064">
                <a:tc>
                  <a:txBody>
                    <a:bodyPr wrap="square"/>
                    <a:lstStyle/>
                    <a:p>
                      <a:r>
                        <a:rPr sz="1250" b="0">
                          <a:solidFill>
                            <a:srgbClr val="1F1E1D"/>
                          </a:solidFill>
                          <a:latin typeface="Helvetica Neue"/>
                        </a:rPr>
                        <a:t>Context</a:t>
                      </a:r>
                    </a:p>
                  </a:txBody>
                  <a:tcPr marL="73152" marR="73152" marT="27432" marB="27432" anchor="ctr">
                    <a:solidFill>
                      <a:srgbClr val="FAF9F5"/>
                    </a:solidFill>
                  </a:tcPr>
                </a:tc>
                <a:tc>
                  <a:txBody>
                    <a:bodyPr wrap="square"/>
                    <a:lstStyle/>
                    <a:p>
                      <a:r>
                        <a:rPr sz="1250" b="0">
                          <a:solidFill>
                            <a:srgbClr val="1F1E1D"/>
                          </a:solidFill>
                          <a:latin typeface="Helvetica Neue"/>
                        </a:rPr>
                        <a:t>64k per request / 32k per question</a:t>
                      </a:r>
                    </a:p>
                  </a:txBody>
                  <a:tcPr marL="73152" marR="73152" marT="27432" marB="27432" anchor="ctr">
                    <a:solidFill>
                      <a:srgbClr val="FAF9F5"/>
                    </a:solidFill>
                  </a:tcPr>
                </a:tc>
                <a:tc>
                  <a:txBody>
                    <a:bodyPr wrap="square"/>
                    <a:lstStyle/>
                    <a:p>
                      <a:r>
                        <a:rPr sz="1250" b="0">
                          <a:solidFill>
                            <a:srgbClr val="1F1E1D"/>
                          </a:solidFill>
                          <a:latin typeface="Helvetica Neue"/>
                        </a:rPr>
                        <a:t>same; 262k with long-context header</a:t>
                      </a:r>
                    </a:p>
                  </a:txBody>
                  <a:tcPr marL="73152" marR="73152" marT="27432" marB="27432" anchor="ctr">
                    <a:solidFill>
                      <a:srgbClr val="FAF9F5"/>
                    </a:solidFill>
                  </a:tcPr>
                </a:tc>
              </a:tr>
              <a:tr h="512064">
                <a:tc>
                  <a:txBody>
                    <a:bodyPr wrap="square"/>
                    <a:lstStyle/>
                    <a:p>
                      <a:r>
                        <a:rPr sz="1250" b="0">
                          <a:solidFill>
                            <a:srgbClr val="1F1E1D"/>
                          </a:solidFill>
                          <a:latin typeface="Helvetica Neue"/>
                        </a:rPr>
                        <a:t>Input</a:t>
                      </a:r>
                    </a:p>
                  </a:txBody>
                  <a:tcPr marL="73152" marR="73152" marT="27432" marB="27432" anchor="ctr">
                    <a:solidFill>
                      <a:srgbClr val="E9E6DC"/>
                    </a:solidFill>
                  </a:tcPr>
                </a:tc>
                <a:tc>
                  <a:txBody>
                    <a:bodyPr wrap="square"/>
                    <a:lstStyle/>
                    <a:p>
                      <a:r>
                        <a:rPr sz="1250" b="0">
                          <a:solidFill>
                            <a:srgbClr val="1F1E1D"/>
                          </a:solidFill>
                          <a:latin typeface="Helvetica Neue"/>
                        </a:rPr>
                        <a:t>text (string, object, array)</a:t>
                      </a:r>
                    </a:p>
                  </a:txBody>
                  <a:tcPr marL="73152" marR="73152" marT="27432" marB="27432" anchor="ctr">
                    <a:solidFill>
                      <a:srgbClr val="E9E6DC"/>
                    </a:solidFill>
                  </a:tcPr>
                </a:tc>
                <a:tc>
                  <a:txBody>
                    <a:bodyPr wrap="square"/>
                    <a:lstStyle/>
                    <a:p>
                      <a:r>
                        <a:rPr sz="1250" b="0">
                          <a:solidFill>
                            <a:srgbClr val="1F1E1D"/>
                          </a:solidFill>
                          <a:latin typeface="Helvetica Neue"/>
                        </a:rPr>
                        <a:t>text + images (preview header)</a:t>
                      </a:r>
                    </a:p>
                  </a:txBody>
                  <a:tcPr marL="73152" marR="73152" marT="27432" marB="27432" anchor="ctr">
                    <a:solidFill>
                      <a:srgbClr val="E9E6DC"/>
                    </a:solidFill>
                  </a:tcPr>
                </a:tc>
              </a:tr>
              <a:tr h="512064">
                <a:tc>
                  <a:txBody>
                    <a:bodyPr wrap="square"/>
                    <a:lstStyle/>
                    <a:p>
                      <a:r>
                        <a:rPr sz="1250" b="0">
                          <a:solidFill>
                            <a:srgbClr val="1F1E1D"/>
                          </a:solidFill>
                          <a:latin typeface="Helvetica Neue"/>
                        </a:rPr>
                        <a:t>Box questions</a:t>
                      </a:r>
                    </a:p>
                  </a:txBody>
                  <a:tcPr marL="73152" marR="73152" marT="27432" marB="27432" anchor="ctr">
                    <a:solidFill>
                      <a:srgbClr val="FAF9F5"/>
                    </a:solidFill>
                  </a:tcPr>
                </a:tc>
                <a:tc>
                  <a:txBody>
                    <a:bodyPr wrap="square"/>
                    <a:lstStyle/>
                    <a:p>
                      <a:r>
                        <a:rPr sz="1250" b="0">
                          <a:solidFill>
                            <a:srgbClr val="1F1E1D"/>
                          </a:solidFill>
                          <a:latin typeface="Helvetica Neue"/>
                        </a:rPr>
                        <a:t>no</a:t>
                      </a:r>
                    </a:p>
                  </a:txBody>
                  <a:tcPr marL="73152" marR="73152" marT="27432" marB="27432" anchor="ctr">
                    <a:solidFill>
                      <a:srgbClr val="FAF9F5"/>
                    </a:solidFill>
                  </a:tcPr>
                </a:tc>
                <a:tc>
                  <a:txBody>
                    <a:bodyPr wrap="square"/>
                    <a:lstStyle/>
                    <a:p>
                      <a:r>
                        <a:rPr sz="1250" b="0">
                          <a:solidFill>
                            <a:srgbClr val="1F1E1D"/>
                          </a:solidFill>
                          <a:latin typeface="Helvetica Neue"/>
                        </a:rPr>
                        <a:t>yes</a:t>
                      </a:r>
                    </a:p>
                  </a:txBody>
                  <a:tcPr marL="73152" marR="73152" marT="27432" marB="27432" anchor="ctr">
                    <a:solidFill>
                      <a:srgbClr val="FAF9F5"/>
                    </a:solidFill>
                  </a:tcPr>
                </a:tc>
              </a:tr>
            </a:tbl>
          </a:graphicData>
        </a:graphic>
      </p:graphicFrame>
      <p:sp>
        <p:nvSpPr>
          <p:cNvPr id="8" name="TextBox 7"/>
          <p:cNvSpPr txBox="1"/>
          <p:nvPr/>
        </p:nvSpPr>
        <p:spPr>
          <a:xfrm>
            <a:off x="7680960" y="1645920"/>
            <a:ext cx="4069080" cy="5486400"/>
          </a:xfrm>
          <a:prstGeom prst="rect">
            <a:avLst/>
          </a:prstGeom>
          <a:noFill/>
        </p:spPr>
        <p:txBody>
          <a:bodyPr wrap="square" anchor="t" lIns="0" rIns="0" tIns="0" bIns="0">
            <a:spAutoFit/>
          </a:bodyPr>
          <a:lstStyle/>
          <a:p>
            <a:pPr algn="l">
              <a:lnSpc>
                <a:spcPct val="108000"/>
              </a:lnSpc>
              <a:spcAft>
                <a:spcPts val="900"/>
              </a:spcAft>
            </a:pPr>
            <a:r>
              <a:rPr sz="1200" b="1" i="0">
                <a:solidFill>
                  <a:srgbClr val="D97757"/>
                </a:solidFill>
                <a:latin typeface="Helvetica Neue"/>
              </a:rPr>
              <a:t>–  </a:t>
            </a:r>
            <a:r>
              <a:rPr sz="1200" b="1" i="0">
                <a:solidFill>
                  <a:srgbClr val="1F1E1D"/>
                </a:solidFill>
                <a:latin typeface="Helvetica Neue"/>
              </a:rPr>
              <a:t>Rate limits: </a:t>
            </a:r>
            <a:r>
              <a:rPr sz="1200" b="0" i="0">
                <a:solidFill>
                  <a:srgbClr val="1F1E1D"/>
                </a:solidFill>
                <a:latin typeface="Helvetica Neue"/>
              </a:rPr>
              <a:t>tokens/sec and requests/sec per organization; SDKs retry 429/529 with backoff and honor retry-after.</a:t>
            </a:r>
          </a:p>
          <a:p>
            <a:pPr algn="l">
              <a:lnSpc>
                <a:spcPct val="108000"/>
              </a:lnSpc>
              <a:spcAft>
                <a:spcPts val="900"/>
              </a:spcAft>
            </a:pPr>
            <a:r>
              <a:rPr sz="1200" b="1" i="0">
                <a:solidFill>
                  <a:srgbClr val="D97757"/>
                </a:solidFill>
                <a:latin typeface="Helvetica Neue"/>
              </a:rPr>
              <a:t>–  </a:t>
            </a:r>
            <a:r>
              <a:rPr sz="1200" b="1" i="0">
                <a:solidFill>
                  <a:srgbClr val="1F1E1D"/>
                </a:solidFill>
                <a:latin typeface="Helvetica Neue"/>
              </a:rPr>
              <a:t>Errors: </a:t>
            </a:r>
            <a:r>
              <a:rPr sz="1200" b="0" i="0">
                <a:solidFill>
                  <a:srgbClr val="1F1E1D"/>
                </a:solidFill>
                <a:latin typeface="Helvetica Neue"/>
              </a:rPr>
              <a:t>400 bad request, 401 auth, 413 too large, 422 validation (names the field), 429 rate limit, 529 overloaded.</a:t>
            </a:r>
          </a:p>
          <a:p>
            <a:pPr algn="l">
              <a:lnSpc>
                <a:spcPct val="108000"/>
              </a:lnSpc>
              <a:spcAft>
                <a:spcPts val="900"/>
              </a:spcAft>
            </a:pPr>
            <a:r>
              <a:rPr sz="1200" b="1" i="0">
                <a:solidFill>
                  <a:srgbClr val="D97757"/>
                </a:solidFill>
                <a:latin typeface="Helvetica Neue"/>
              </a:rPr>
              <a:t>–  </a:t>
            </a:r>
            <a:r>
              <a:rPr sz="1200" b="1" i="0">
                <a:solidFill>
                  <a:srgbClr val="1F1E1D"/>
                </a:solidFill>
                <a:latin typeface="Helvetica Neue"/>
              </a:rPr>
              <a:t>Versioning: </a:t>
            </a:r>
            <a:r>
              <a:rPr sz="1200" b="0" i="0">
                <a:solidFill>
                  <a:srgbClr val="1F1E1D"/>
                </a:solidFill>
                <a:latin typeface="Helvetica Neue"/>
              </a:rPr>
              <a:t>aliases move on release (latest moves to 1.14 ~Oct 21); responses report the versioned model. Pin versions once thresholds are tuned.</a:t>
            </a:r>
          </a:p>
          <a:p>
            <a:pPr algn="l">
              <a:lnSpc>
                <a:spcPct val="108000"/>
              </a:lnSpc>
              <a:spcAft>
                <a:spcPts val="900"/>
              </a:spcAft>
            </a:pPr>
            <a:r>
              <a:rPr sz="1200" b="1" i="0">
                <a:solidFill>
                  <a:srgbClr val="D97757"/>
                </a:solidFill>
                <a:latin typeface="Helvetica Neue"/>
              </a:rPr>
              <a:t>–  </a:t>
            </a:r>
            <a:r>
              <a:rPr sz="1200" b="1" i="0">
                <a:solidFill>
                  <a:srgbClr val="1F1E1D"/>
                </a:solidFill>
                <a:latin typeface="Helvetica Neue"/>
              </a:rPr>
              <a:t>Data: </a:t>
            </a:r>
            <a:r>
              <a:rPr sz="1200" b="0" i="0">
                <a:solidFill>
                  <a:srgbClr val="1F1E1D"/>
                </a:solidFill>
                <a:latin typeface="Helvetica Neue"/>
              </a:rPr>
              <a:t>not trained on customer requests; ZDR available for enterprise.</a:t>
            </a:r>
          </a:p>
          <a:p>
            <a:pPr algn="l">
              <a:lnSpc>
                <a:spcPct val="108000"/>
              </a:lnSpc>
              <a:spcAft>
                <a:spcPts val="900"/>
              </a:spcAft>
            </a:pPr>
            <a:r>
              <a:rPr sz="1200" b="1" i="0">
                <a:solidFill>
                  <a:srgbClr val="D97757"/>
                </a:solidFill>
                <a:latin typeface="Helvetica Neue"/>
              </a:rPr>
              <a:t>–  </a:t>
            </a:r>
            <a:r>
              <a:rPr sz="1200" b="1" i="0">
                <a:solidFill>
                  <a:srgbClr val="1F1E1D"/>
                </a:solidFill>
                <a:latin typeface="Helvetica Neue"/>
              </a:rPr>
              <a:t>Language: </a:t>
            </a:r>
            <a:r>
              <a:rPr sz="1200" b="0" i="0">
                <a:solidFill>
                  <a:srgbClr val="1F1E1D"/>
                </a:solidFill>
                <a:latin typeface="Helvetica Neue"/>
              </a:rPr>
              <a:t>English primary; others accepted with lower accuracy, so watch confidence.</a:t>
            </a:r>
          </a:p>
        </p:txBody>
      </p:sp>
      <p:sp>
        <p:nvSpPr>
          <p:cNvPr id="9" name="TextBox 8"/>
          <p:cNvSpPr txBox="1"/>
          <p:nvPr/>
        </p:nvSpPr>
        <p:spPr>
          <a:xfrm>
            <a:off x="502920" y="5852160"/>
            <a:ext cx="9144000" cy="320040"/>
          </a:xfrm>
          <a:prstGeom prst="rect">
            <a:avLst/>
          </a:prstGeom>
          <a:noFill/>
        </p:spPr>
        <p:txBody>
          <a:bodyPr wrap="square" anchor="t" lIns="0" rIns="0" tIns="0" bIns="0">
            <a:spAutoFit/>
          </a:bodyPr>
          <a:lstStyle/>
          <a:p>
            <a:pPr algn="l">
              <a:lnSpc>
                <a:spcPct val="100000"/>
              </a:lnSpc>
            </a:pPr>
            <a:r>
              <a:rPr sz="1200" b="0" i="1">
                <a:solidFill>
                  <a:srgbClr val="8A8780"/>
                </a:solidFill>
                <a:latin typeface="Helvetica Neue"/>
              </a:rPr>
              <a:t>Full distilled documentation: reference/JEV-REFERENCE.md in the workshop folder.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73952"/>
            <a:ext cx="8229600" cy="274320"/>
          </a:xfrm>
          <a:prstGeom prst="rect">
            <a:avLst/>
          </a:prstGeom>
          <a:noFill/>
        </p:spPr>
        <p:txBody>
          <a:bodyPr wrap="square" anchor="t" lIns="0" rIns="0" tIns="0" bIns="0">
            <a:spAutoFit/>
          </a:bodyPr>
          <a:lstStyle/>
          <a:p>
            <a:pPr algn="l">
              <a:lnSpc>
                <a:spcPct val="100000"/>
              </a:lnSpc>
            </a:pPr>
            <a:r>
              <a:rPr sz="1000" b="0" i="0">
                <a:solidFill>
                  <a:srgbClr val="8A8780"/>
                </a:solidFill>
                <a:latin typeface="Helvetica Neue"/>
              </a:rPr>
              <a:t>Jev workshop  |  TypeSafe AI's System One model  |  October 2026</a:t>
            </a:r>
          </a:p>
        </p:txBody>
      </p:sp>
      <p:sp>
        <p:nvSpPr>
          <p:cNvPr id="4" name="TextBox 3"/>
          <p:cNvSpPr txBox="1"/>
          <p:nvPr/>
        </p:nvSpPr>
        <p:spPr>
          <a:xfrm>
            <a:off x="11430000" y="6473952"/>
            <a:ext cx="365760" cy="274320"/>
          </a:xfrm>
          <a:prstGeom prst="rect">
            <a:avLst/>
          </a:prstGeom>
          <a:noFill/>
        </p:spPr>
        <p:txBody>
          <a:bodyPr wrap="square" anchor="t" lIns="0" rIns="0" tIns="0" bIns="0">
            <a:spAutoFit/>
          </a:bodyPr>
          <a:lstStyle/>
          <a:p>
            <a:pPr algn="r">
              <a:lnSpc>
                <a:spcPct val="100000"/>
              </a:lnSpc>
            </a:pPr>
            <a:r>
              <a:rPr sz="1000" b="0" i="0">
                <a:solidFill>
                  <a:srgbClr val="8A8780"/>
                </a:solidFill>
                <a:latin typeface="Helvetica Neue"/>
              </a:rPr>
              <a:t>41</a:t>
            </a:r>
          </a:p>
        </p:txBody>
      </p:sp>
      <p:sp>
        <p:nvSpPr>
          <p:cNvPr id="5" name="TextBox 4"/>
          <p:cNvSpPr txBox="1"/>
          <p:nvPr/>
        </p:nvSpPr>
        <p:spPr>
          <a:xfrm>
            <a:off x="521207" y="201168"/>
            <a:ext cx="9144000" cy="274320"/>
          </a:xfrm>
          <a:prstGeom prst="rect">
            <a:avLst/>
          </a:prstGeom>
          <a:noFill/>
        </p:spPr>
        <p:txBody>
          <a:bodyPr wrap="square" anchor="t" lIns="0" rIns="0" tIns="0" bIns="0">
            <a:spAutoFit/>
          </a:bodyPr>
          <a:lstStyle/>
          <a:p>
            <a:pPr algn="l">
              <a:lnSpc>
                <a:spcPct val="100000"/>
              </a:lnSpc>
            </a:pPr>
            <a:r>
              <a:rPr sz="1200" b="1" i="0">
                <a:solidFill>
                  <a:srgbClr val="BD5D3A"/>
                </a:solidFill>
                <a:latin typeface="Helvetica Neue"/>
              </a:rPr>
              <a:t>PART 5  |  GO BUILD</a:t>
            </a:r>
          </a:p>
        </p:txBody>
      </p:sp>
      <p:sp>
        <p:nvSpPr>
          <p:cNvPr id="6" name="TextBox 5"/>
          <p:cNvSpPr txBox="1"/>
          <p:nvPr/>
        </p:nvSpPr>
        <p:spPr>
          <a:xfrm>
            <a:off x="502920" y="475488"/>
            <a:ext cx="11155680" cy="868680"/>
          </a:xfrm>
          <a:prstGeom prst="rect">
            <a:avLst/>
          </a:prstGeom>
          <a:noFill/>
        </p:spPr>
        <p:txBody>
          <a:bodyPr wrap="square" anchor="t" lIns="0" rIns="0" tIns="0" bIns="0">
            <a:spAutoFit/>
          </a:bodyPr>
          <a:lstStyle/>
          <a:p>
            <a:pPr algn="l">
              <a:lnSpc>
                <a:spcPct val="100000"/>
              </a:lnSpc>
            </a:pPr>
            <a:r>
              <a:rPr sz="3300" b="0" i="0">
                <a:solidFill>
                  <a:srgbClr val="1F1E1D"/>
                </a:solidFill>
                <a:latin typeface="Georgia"/>
              </a:rPr>
              <a:t>Getting started, four ways</a:t>
            </a:r>
          </a:p>
        </p:txBody>
      </p:sp>
      <p:sp>
        <p:nvSpPr>
          <p:cNvPr id="7" name="Rounded Rectangle 6"/>
          <p:cNvSpPr/>
          <p:nvPr/>
        </p:nvSpPr>
        <p:spPr>
          <a:xfrm>
            <a:off x="502920" y="1645920"/>
            <a:ext cx="6675120" cy="987552"/>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55648"/>
            <a:ext cx="1737360" cy="365760"/>
          </a:xfrm>
          <a:prstGeom prst="rect">
            <a:avLst/>
          </a:prstGeom>
          <a:noFill/>
        </p:spPr>
        <p:txBody>
          <a:bodyPr wrap="square" anchor="t" lIns="0" rIns="0" tIns="0" bIns="0">
            <a:spAutoFit/>
          </a:bodyPr>
          <a:lstStyle/>
          <a:p>
            <a:pPr algn="l">
              <a:lnSpc>
                <a:spcPct val="100000"/>
              </a:lnSpc>
            </a:pPr>
            <a:r>
              <a:rPr sz="1400" b="1" i="0">
                <a:solidFill>
                  <a:srgbClr val="1F1E1D"/>
                </a:solidFill>
                <a:latin typeface="Georgia"/>
              </a:rPr>
              <a:t>1. Playground</a:t>
            </a:r>
          </a:p>
        </p:txBody>
      </p:sp>
      <p:sp>
        <p:nvSpPr>
          <p:cNvPr id="9" name="TextBox 8"/>
          <p:cNvSpPr txBox="1"/>
          <p:nvPr/>
        </p:nvSpPr>
        <p:spPr>
          <a:xfrm>
            <a:off x="2560320" y="1755648"/>
            <a:ext cx="4480560" cy="822960"/>
          </a:xfrm>
          <a:prstGeom prst="rect">
            <a:avLst/>
          </a:prstGeom>
          <a:noFill/>
        </p:spPr>
        <p:txBody>
          <a:bodyPr wrap="square" anchor="t" lIns="0" rIns="0" tIns="0" bIns="0">
            <a:spAutoFit/>
          </a:bodyPr>
          <a:lstStyle/>
          <a:p>
            <a:pPr algn="l">
              <a:lnSpc>
                <a:spcPct val="110000"/>
              </a:lnSpc>
            </a:pPr>
            <a:r>
              <a:rPr sz="1150" b="0" i="0">
                <a:solidFill>
                  <a:srgbClr val="5E6B7A"/>
                </a:solidFill>
                <a:latin typeface="Helvetica Neue"/>
              </a:rPr>
              <a:t>console.typesafe.ai/playground: paste a state, add questions, read answers. No code. Best first five minutes.</a:t>
            </a:r>
          </a:p>
        </p:txBody>
      </p:sp>
      <p:sp>
        <p:nvSpPr>
          <p:cNvPr id="10" name="Rounded Rectangle 9"/>
          <p:cNvSpPr/>
          <p:nvPr/>
        </p:nvSpPr>
        <p:spPr>
          <a:xfrm>
            <a:off x="502920" y="2761488"/>
            <a:ext cx="6675120" cy="987552"/>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71216"/>
            <a:ext cx="1737360" cy="365760"/>
          </a:xfrm>
          <a:prstGeom prst="rect">
            <a:avLst/>
          </a:prstGeom>
          <a:noFill/>
        </p:spPr>
        <p:txBody>
          <a:bodyPr wrap="square" anchor="t" lIns="0" rIns="0" tIns="0" bIns="0">
            <a:spAutoFit/>
          </a:bodyPr>
          <a:lstStyle/>
          <a:p>
            <a:pPr algn="l">
              <a:lnSpc>
                <a:spcPct val="100000"/>
              </a:lnSpc>
            </a:pPr>
            <a:r>
              <a:rPr sz="1400" b="1" i="0">
                <a:solidFill>
                  <a:srgbClr val="1F1E1D"/>
                </a:solidFill>
                <a:latin typeface="Georgia"/>
              </a:rPr>
              <a:t>2. Python SDK</a:t>
            </a:r>
          </a:p>
        </p:txBody>
      </p:sp>
      <p:sp>
        <p:nvSpPr>
          <p:cNvPr id="12" name="TextBox 11"/>
          <p:cNvSpPr txBox="1"/>
          <p:nvPr/>
        </p:nvSpPr>
        <p:spPr>
          <a:xfrm>
            <a:off x="2560320" y="2871216"/>
            <a:ext cx="4480560" cy="822960"/>
          </a:xfrm>
          <a:prstGeom prst="rect">
            <a:avLst/>
          </a:prstGeom>
          <a:noFill/>
        </p:spPr>
        <p:txBody>
          <a:bodyPr wrap="square" anchor="t" lIns="0" rIns="0" tIns="0" bIns="0">
            <a:spAutoFit/>
          </a:bodyPr>
          <a:lstStyle/>
          <a:p>
            <a:pPr algn="l">
              <a:lnSpc>
                <a:spcPct val="110000"/>
              </a:lnSpc>
            </a:pPr>
            <a:r>
              <a:rPr sz="1150" b="0" i="0">
                <a:solidFill>
                  <a:srgbClr val="5E6B7A"/>
                </a:solidFill>
                <a:latin typeface="Helvetica Neue"/>
              </a:rPr>
              <a:t>pip install typesafe-sdk</a:t>
            </a:r>
          </a:p>
          <a:p>
            <a:pPr algn="l">
              <a:lnSpc>
                <a:spcPct val="110000"/>
              </a:lnSpc>
            </a:pPr>
            <a:r>
              <a:rPr sz="1150" b="0" i="0">
                <a:solidFill>
                  <a:srgbClr val="5E6B7A"/>
                </a:solidFill>
                <a:latin typeface="Helvetica Neue"/>
              </a:rPr>
              <a:t>export TYPESAFE_API_KEY=...</a:t>
            </a:r>
          </a:p>
          <a:p>
            <a:pPr algn="l">
              <a:lnSpc>
                <a:spcPct val="110000"/>
              </a:lnSpc>
            </a:pPr>
            <a:r>
              <a:rPr sz="1150" b="0" i="0">
                <a:solidFill>
                  <a:srgbClr val="5E6B7A"/>
                </a:solidFill>
                <a:latin typeface="Helvetica Neue"/>
              </a:rPr>
              <a:t>client.system_one(state=..., questions=...)</a:t>
            </a:r>
          </a:p>
        </p:txBody>
      </p:sp>
      <p:sp>
        <p:nvSpPr>
          <p:cNvPr id="13" name="Rounded Rectangle 12"/>
          <p:cNvSpPr/>
          <p:nvPr/>
        </p:nvSpPr>
        <p:spPr>
          <a:xfrm>
            <a:off x="502920" y="3877056"/>
            <a:ext cx="6675120" cy="987552"/>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986784"/>
            <a:ext cx="1737360" cy="365760"/>
          </a:xfrm>
          <a:prstGeom prst="rect">
            <a:avLst/>
          </a:prstGeom>
          <a:noFill/>
        </p:spPr>
        <p:txBody>
          <a:bodyPr wrap="square" anchor="t" lIns="0" rIns="0" tIns="0" bIns="0">
            <a:spAutoFit/>
          </a:bodyPr>
          <a:lstStyle/>
          <a:p>
            <a:pPr algn="l">
              <a:lnSpc>
                <a:spcPct val="100000"/>
              </a:lnSpc>
            </a:pPr>
            <a:r>
              <a:rPr sz="1400" b="1" i="0">
                <a:solidFill>
                  <a:srgbClr val="1F1E1D"/>
                </a:solidFill>
                <a:latin typeface="Georgia"/>
              </a:rPr>
              <a:t>3. HTTP</a:t>
            </a:r>
          </a:p>
        </p:txBody>
      </p:sp>
      <p:sp>
        <p:nvSpPr>
          <p:cNvPr id="15" name="TextBox 14"/>
          <p:cNvSpPr txBox="1"/>
          <p:nvPr/>
        </p:nvSpPr>
        <p:spPr>
          <a:xfrm>
            <a:off x="2560320" y="3986784"/>
            <a:ext cx="4480560" cy="822960"/>
          </a:xfrm>
          <a:prstGeom prst="rect">
            <a:avLst/>
          </a:prstGeom>
          <a:noFill/>
        </p:spPr>
        <p:txBody>
          <a:bodyPr wrap="square" anchor="t" lIns="0" rIns="0" tIns="0" bIns="0">
            <a:spAutoFit/>
          </a:bodyPr>
          <a:lstStyle/>
          <a:p>
            <a:pPr algn="l">
              <a:lnSpc>
                <a:spcPct val="110000"/>
              </a:lnSpc>
            </a:pPr>
            <a:r>
              <a:rPr sz="1150" b="0" i="0">
                <a:solidFill>
                  <a:srgbClr val="5E6B7A"/>
                </a:solidFill>
                <a:latin typeface="Helvetica Neue"/>
              </a:rPr>
              <a:t>POST api.typesafe.ai/v1/systemone with Bearer auth. Any language, no SDK required.</a:t>
            </a:r>
          </a:p>
        </p:txBody>
      </p:sp>
      <p:sp>
        <p:nvSpPr>
          <p:cNvPr id="16" name="Rounded Rectangle 15"/>
          <p:cNvSpPr/>
          <p:nvPr/>
        </p:nvSpPr>
        <p:spPr>
          <a:xfrm>
            <a:off x="502920" y="4992624"/>
            <a:ext cx="6675120" cy="987552"/>
          </a:xfrm>
          <a:prstGeom prst="roundRect">
            <a:avLst>
              <a:gd name="adj" fmla="val 5500"/>
            </a:avLst>
          </a:prstGeom>
          <a:solidFill>
            <a:srgbClr val="FAF9F5"/>
          </a:solidFill>
          <a:ln w="12700">
            <a:solidFill>
              <a:srgbClr val="DE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102352"/>
            <a:ext cx="1737360" cy="365760"/>
          </a:xfrm>
          <a:prstGeom prst="rect">
            <a:avLst/>
          </a:prstGeom>
          <a:noFill/>
        </p:spPr>
        <p:txBody>
          <a:bodyPr wrap="square" anchor="t" lIns="0" rIns="0" tIns="0" bIns="0">
            <a:spAutoFit/>
          </a:bodyPr>
          <a:lstStyle/>
          <a:p>
            <a:pPr algn="l">
              <a:lnSpc>
                <a:spcPct val="100000"/>
              </a:lnSpc>
            </a:pPr>
            <a:r>
              <a:rPr sz="1400" b="1" i="0">
                <a:solidFill>
                  <a:srgbClr val="1F1E1D"/>
                </a:solidFill>
                <a:latin typeface="Georgia"/>
              </a:rPr>
              <a:t>4. Agent skill</a:t>
            </a:r>
          </a:p>
        </p:txBody>
      </p:sp>
      <p:sp>
        <p:nvSpPr>
          <p:cNvPr id="18" name="TextBox 17"/>
          <p:cNvSpPr txBox="1"/>
          <p:nvPr/>
        </p:nvSpPr>
        <p:spPr>
          <a:xfrm>
            <a:off x="2560320" y="5102352"/>
            <a:ext cx="4480560" cy="822960"/>
          </a:xfrm>
          <a:prstGeom prst="rect">
            <a:avLst/>
          </a:prstGeom>
          <a:noFill/>
        </p:spPr>
        <p:txBody>
          <a:bodyPr wrap="square" anchor="t" lIns="0" rIns="0" tIns="0" bIns="0">
            <a:spAutoFit/>
          </a:bodyPr>
          <a:lstStyle/>
          <a:p>
            <a:pPr algn="l">
              <a:lnSpc>
                <a:spcPct val="110000"/>
              </a:lnSpc>
            </a:pPr>
            <a:r>
              <a:rPr sz="1150" b="0" i="0">
                <a:solidFill>
                  <a:srgbClr val="5E6B7A"/>
                </a:solidFill>
                <a:latin typeface="Helvetica Neue"/>
              </a:rPr>
              <a:t>claude plugin marketplace add typesafe-ai/skills, then claude plugin install typesafe@typesafe-ai: your coding agent learns the API, the primitives, and to batch questions.</a:t>
            </a:r>
          </a:p>
        </p:txBody>
      </p:sp>
      <p:sp>
        <p:nvSpPr>
          <p:cNvPr id="19" name="Rounded Rectangle 18"/>
          <p:cNvSpPr/>
          <p:nvPr/>
        </p:nvSpPr>
        <p:spPr>
          <a:xfrm>
            <a:off x="7589520" y="1645920"/>
            <a:ext cx="4114800" cy="4297680"/>
          </a:xfrm>
          <a:prstGeom prst="roundRect">
            <a:avLst>
              <a:gd name="adj" fmla="val 5500"/>
            </a:avLst>
          </a:prstGeom>
          <a:solidFill>
            <a:srgbClr val="1F1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18120" y="1874519"/>
            <a:ext cx="3657600" cy="365760"/>
          </a:xfrm>
          <a:prstGeom prst="rect">
            <a:avLst/>
          </a:prstGeom>
          <a:noFill/>
        </p:spPr>
        <p:txBody>
          <a:bodyPr wrap="square" anchor="t" lIns="0" rIns="0" tIns="0" bIns="0">
            <a:spAutoFit/>
          </a:bodyPr>
          <a:lstStyle/>
          <a:p>
            <a:pPr algn="l">
              <a:lnSpc>
                <a:spcPct val="100000"/>
              </a:lnSpc>
            </a:pPr>
            <a:r>
              <a:rPr sz="1500" b="1" i="0">
                <a:solidFill>
                  <a:srgbClr val="F0EEE6"/>
                </a:solidFill>
                <a:latin typeface="Georgia"/>
              </a:rPr>
              <a:t>Your lab, after this deck</a:t>
            </a:r>
          </a:p>
        </p:txBody>
      </p:sp>
      <p:sp>
        <p:nvSpPr>
          <p:cNvPr id="21" name="TextBox 20"/>
          <p:cNvSpPr txBox="1"/>
          <p:nvPr/>
        </p:nvSpPr>
        <p:spPr>
          <a:xfrm>
            <a:off x="7818120" y="2377440"/>
            <a:ext cx="3657600" cy="2743200"/>
          </a:xfrm>
          <a:prstGeom prst="rect">
            <a:avLst/>
          </a:prstGeom>
          <a:noFill/>
        </p:spPr>
        <p:txBody>
          <a:bodyPr wrap="square" anchor="t" lIns="0" rIns="0" tIns="0" bIns="0">
            <a:spAutoFit/>
          </a:bodyPr>
          <a:lstStyle/>
          <a:p>
            <a:pPr algn="l">
              <a:lnSpc>
                <a:spcPct val="130000"/>
              </a:lnSpc>
            </a:pPr>
            <a:r>
              <a:rPr sz="1250" b="0" i="0">
                <a:solidFill>
                  <a:srgbClr val="EDEAE3"/>
                </a:solidFill>
                <a:latin typeface="Helvetica Neue"/>
              </a:rPr>
              <a:t>01  hello jev: first calls, cost math</a:t>
            </a:r>
          </a:p>
          <a:p>
            <a:pPr algn="l">
              <a:lnSpc>
                <a:spcPct val="130000"/>
              </a:lnSpc>
            </a:pPr>
            <a:r>
              <a:rPr sz="1250" b="0" i="0">
                <a:solidFill>
                  <a:srgbClr val="EDEAE3"/>
                </a:solidFill>
                <a:latin typeface="Helvetica Neue"/>
              </a:rPr>
              <a:t>02  primitives: all four, with anti-examples</a:t>
            </a:r>
          </a:p>
          <a:p>
            <a:pPr algn="l">
              <a:lnSpc>
                <a:spcPct val="130000"/>
              </a:lnSpc>
            </a:pPr>
            <a:r>
              <a:rPr sz="1250" b="0" i="0">
                <a:solidFill>
                  <a:srgbClr val="EDEAE3"/>
                </a:solidFill>
                <a:latin typeface="Helvetica Neue"/>
              </a:rPr>
              <a:t>03  confidence: formulas verified live</a:t>
            </a:r>
          </a:p>
          <a:p>
            <a:pPr algn="l">
              <a:lnSpc>
                <a:spcPct val="130000"/>
              </a:lnSpc>
            </a:pPr>
            <a:r>
              <a:rPr sz="1250" b="0" i="0">
                <a:solidFill>
                  <a:srgbClr val="EDEAE3"/>
                </a:solidFill>
                <a:latin typeface="Helvetica Neue"/>
              </a:rPr>
              <a:t>04  patterns: the 6.8x batching experiment</a:t>
            </a:r>
          </a:p>
          <a:p>
            <a:pPr algn="l">
              <a:lnSpc>
                <a:spcPct val="130000"/>
              </a:lnSpc>
            </a:pPr>
            <a:r>
              <a:rPr sz="1250" b="0" i="0">
                <a:solidFill>
                  <a:srgbClr val="EDEAE3"/>
                </a:solidFill>
                <a:latin typeface="Helvetica Neue"/>
              </a:rPr>
              <a:t>05  real world: guardrails, search,</a:t>
            </a:r>
          </a:p>
          <a:p>
            <a:pPr algn="l">
              <a:lnSpc>
                <a:spcPct val="130000"/>
              </a:lnSpc>
            </a:pPr>
            <a:r>
              <a:rPr sz="1250" b="0" i="0">
                <a:solidFill>
                  <a:srgbClr val="EDEAE3"/>
                </a:solidFill>
                <a:latin typeface="Helvetica Neue"/>
              </a:rPr>
              <a:t>      the sharp edges, reference</a:t>
            </a:r>
          </a:p>
        </p:txBody>
      </p:sp>
      <p:sp>
        <p:nvSpPr>
          <p:cNvPr id="22" name="TextBox 21"/>
          <p:cNvSpPr txBox="1"/>
          <p:nvPr/>
        </p:nvSpPr>
        <p:spPr>
          <a:xfrm>
            <a:off x="7818120" y="5394960"/>
            <a:ext cx="3657600" cy="365760"/>
          </a:xfrm>
          <a:prstGeom prst="rect">
            <a:avLst/>
          </a:prstGeom>
          <a:noFill/>
        </p:spPr>
        <p:txBody>
          <a:bodyPr wrap="square" anchor="t" lIns="0" rIns="0" tIns="0" bIns="0">
            <a:spAutoFit/>
          </a:bodyPr>
          <a:lstStyle/>
          <a:p>
            <a:pPr algn="l">
              <a:lnSpc>
                <a:spcPct val="100000"/>
              </a:lnSpc>
            </a:pPr>
            <a:r>
              <a:rPr sz="1100" b="0" i="1">
                <a:solidFill>
                  <a:srgbClr val="8A8780"/>
                </a:solidFill>
                <a:latin typeface="Helvetica Neue"/>
              </a:rPr>
              <a:t>A full run of all five notebooks costs under one cent.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7315200" cy="365760"/>
          </a:xfrm>
          <a:prstGeom prst="rect">
            <a:avLst/>
          </a:prstGeom>
          <a:noFill/>
        </p:spPr>
        <p:txBody>
          <a:bodyPr wrap="square" anchor="t" lIns="0" rIns="0" tIns="0" bIns="0">
            <a:spAutoFit/>
          </a:bodyPr>
          <a:lstStyle/>
          <a:p>
            <a:pPr algn="l">
              <a:lnSpc>
                <a:spcPct val="100000"/>
              </a:lnSpc>
            </a:pPr>
            <a:r>
              <a:rPr sz="1300" b="1" i="0">
                <a:solidFill>
                  <a:srgbClr val="BD5D3A"/>
                </a:solidFill>
                <a:latin typeface="Helvetica Neue"/>
              </a:rPr>
              <a:t>The one-sentence takeaway</a:t>
            </a:r>
          </a:p>
        </p:txBody>
      </p:sp>
      <p:sp>
        <p:nvSpPr>
          <p:cNvPr id="4" name="TextBox 3"/>
          <p:cNvSpPr txBox="1"/>
          <p:nvPr/>
        </p:nvSpPr>
        <p:spPr>
          <a:xfrm>
            <a:off x="786384" y="1920240"/>
            <a:ext cx="10607040" cy="2011680"/>
          </a:xfrm>
          <a:prstGeom prst="rect">
            <a:avLst/>
          </a:prstGeom>
          <a:noFill/>
        </p:spPr>
        <p:txBody>
          <a:bodyPr wrap="square" anchor="t" lIns="0" rIns="0" tIns="0" bIns="0">
            <a:spAutoFit/>
          </a:bodyPr>
          <a:lstStyle/>
          <a:p>
            <a:pPr algn="l">
              <a:lnSpc>
                <a:spcPct val="110000"/>
              </a:lnSpc>
            </a:pPr>
            <a:r>
              <a:rPr sz="4400" b="0" i="0">
                <a:solidFill>
                  <a:srgbClr val="1F1E1D"/>
                </a:solidFill>
                <a:latin typeface="Georgia"/>
              </a:rPr>
              <a:t>Code owns the workflow.</a:t>
            </a:r>
          </a:p>
          <a:p>
            <a:pPr algn="l">
              <a:lnSpc>
                <a:spcPct val="110000"/>
              </a:lnSpc>
            </a:pPr>
            <a:r>
              <a:rPr sz="4400" b="0" i="0">
                <a:solidFill>
                  <a:srgbClr val="1F1E1D"/>
                </a:solidFill>
                <a:latin typeface="Georgia"/>
              </a:rPr>
              <a:t>Jev answers the judgment calls.</a:t>
            </a:r>
          </a:p>
        </p:txBody>
      </p:sp>
      <p:cxnSp>
        <p:nvCxnSpPr>
          <p:cNvPr id="5" name="Connector 4"/>
          <p:cNvCxnSpPr/>
          <p:nvPr/>
        </p:nvCxnSpPr>
        <p:spPr>
          <a:xfrm>
            <a:off x="841248" y="4206240"/>
            <a:ext cx="4937760" cy="0"/>
          </a:xfrm>
          <a:prstGeom prst="line">
            <a:avLst/>
          </a:prstGeom>
          <a:ln w="31750">
            <a:solidFill>
              <a:srgbClr val="D97757"/>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4480560"/>
            <a:ext cx="10515600" cy="365760"/>
          </a:xfrm>
          <a:prstGeom prst="rect">
            <a:avLst/>
          </a:prstGeom>
          <a:noFill/>
        </p:spPr>
        <p:txBody>
          <a:bodyPr wrap="square" anchor="t" lIns="0" rIns="0" tIns="0" bIns="0">
            <a:spAutoFit/>
          </a:bodyPr>
          <a:lstStyle/>
          <a:p>
            <a:pPr algn="l">
              <a:lnSpc>
                <a:spcPct val="100000"/>
              </a:lnSpc>
            </a:pPr>
            <a:r>
              <a:rPr sz="1400" b="0" i="0">
                <a:solidFill>
                  <a:srgbClr val="5E6B7A"/>
                </a:solidFill>
                <a:latin typeface="Helvetica Neue"/>
              </a:rPr>
              <a:t>docs.typesafe.ai          console.typesafe.ai/playground          docs.typesafe.ai/cookbooks</a:t>
            </a:r>
          </a:p>
        </p:txBody>
      </p:sp>
      <p:sp>
        <p:nvSpPr>
          <p:cNvPr id="7" name="TextBox 6"/>
          <p:cNvSpPr txBox="1"/>
          <p:nvPr/>
        </p:nvSpPr>
        <p:spPr>
          <a:xfrm>
            <a:off x="822960" y="4983480"/>
            <a:ext cx="10515600" cy="365760"/>
          </a:xfrm>
          <a:prstGeom prst="rect">
            <a:avLst/>
          </a:prstGeom>
          <a:noFill/>
        </p:spPr>
        <p:txBody>
          <a:bodyPr wrap="square" anchor="t" lIns="0" rIns="0" tIns="0" bIns="0">
            <a:spAutoFit/>
          </a:bodyPr>
          <a:lstStyle/>
          <a:p>
            <a:pPr algn="l">
              <a:lnSpc>
                <a:spcPct val="100000"/>
              </a:lnSpc>
            </a:pPr>
            <a:r>
              <a:rPr sz="1250" b="0" i="0">
                <a:solidFill>
                  <a:srgbClr val="8A8780"/>
                </a:solidFill>
                <a:latin typeface="Helvetica Neue"/>
              </a:rPr>
              <a:t>Workshop materials: jev-workshop/ (five executed notebooks, this deck, and JEV-REFERENCE.md)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